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notesMasterIdLst>
    <p:notesMasterId r:id="rId20"/>
  </p:notesMasterIdLst>
  <p:sldIdLst>
    <p:sldId id="2561" r:id="rId5"/>
    <p:sldId id="2562" r:id="rId6"/>
    <p:sldId id="2563" r:id="rId7"/>
    <p:sldId id="2564" r:id="rId8"/>
    <p:sldId id="2565" r:id="rId9"/>
    <p:sldId id="2575" r:id="rId10"/>
    <p:sldId id="2566" r:id="rId11"/>
    <p:sldId id="2567" r:id="rId12"/>
    <p:sldId id="2568" r:id="rId13"/>
    <p:sldId id="2569" r:id="rId14"/>
    <p:sldId id="2570" r:id="rId15"/>
    <p:sldId id="2571" r:id="rId16"/>
    <p:sldId id="2572" r:id="rId17"/>
    <p:sldId id="2573" r:id="rId18"/>
    <p:sldId id="25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agatiDhara App Pitch Deck" id="{2E70C052-DD07-491C-9290-CB822C00658D}">
          <p14:sldIdLst>
            <p14:sldId id="2561"/>
          </p14:sldIdLst>
        </p14:section>
        <p14:section name="Vision &amp; Mission" id="{DA6FC828-8AB5-4F1E-BF53-B67D83BB1649}">
          <p14:sldIdLst>
            <p14:sldId id="2562"/>
            <p14:sldId id="2563"/>
          </p14:sldIdLst>
        </p14:section>
        <p14:section name="Solution Architecture and Design" id="{C052A579-56D3-4535-830C-03D37A1CE032}">
          <p14:sldIdLst>
            <p14:sldId id="2564"/>
            <p14:sldId id="2565"/>
            <p14:sldId id="2575"/>
          </p14:sldIdLst>
        </p14:section>
        <p14:section name="Sustainable AI Implementation" id="{8D6EC7CF-1D3B-4CE7-A768-EFDA1487E8BF}">
          <p14:sldIdLst>
            <p14:sldId id="2566"/>
            <p14:sldId id="2567"/>
          </p14:sldIdLst>
        </p14:section>
        <p14:section name="Innovation and Differentiation" id="{59368A34-FF12-45A2-B348-A34D981ED778}">
          <p14:sldIdLst>
            <p14:sldId id="2568"/>
            <p14:sldId id="2569"/>
          </p14:sldIdLst>
        </p14:section>
        <p14:section name="Implementation and Roadmap" id="{37E98D42-8C5D-427A-88B9-02B1FFC952FE}">
          <p14:sldIdLst>
            <p14:sldId id="2570"/>
            <p14:sldId id="2571"/>
          </p14:sldIdLst>
        </p14:section>
        <p14:section name="Market Validation and Impact Potential" id="{228B8BD2-4211-4C52-8A9E-3C918BF9D5B0}">
          <p14:sldIdLst>
            <p14:sldId id="2572"/>
            <p14:sldId id="2573"/>
            <p14:sldId id="2574"/>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788BE3-B623-4E1E-A692-87B7A6CDDFE6}" v="16" dt="2025-11-05T13:28:45.672"/>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83" d="100"/>
          <a:sy n="83" d="100"/>
        </p:scale>
        <p:origin x="-658"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2D51F-4246-4CFA-9CD7-1AE829ED7A4D}" type="datetimeFigureOut">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14EAC2-167D-4F30-8707-850131E2B384}" type="slidenum">
              <a:t>‹#›</a:t>
            </a:fld>
            <a:endParaRPr lang="en-US"/>
          </a:p>
        </p:txBody>
      </p:sp>
    </p:spTree>
    <p:extLst>
      <p:ext uri="{BB962C8B-B14F-4D97-AF65-F5344CB8AC3E}">
        <p14:creationId xmlns:p14="http://schemas.microsoft.com/office/powerpoint/2010/main" val="130281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CE053CC-5B21-4864-ABCC-AE6A8B57EED9}" type="slidenum">
              <a:t>1</a:t>
            </a:fld>
            <a:endParaRPr lang="en-US"/>
          </a:p>
        </p:txBody>
      </p:sp>
    </p:spTree>
    <p:extLst>
      <p:ext uri="{BB962C8B-B14F-4D97-AF65-F5344CB8AC3E}">
        <p14:creationId xmlns:p14="http://schemas.microsoft.com/office/powerpoint/2010/main" val="182915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Transforming Urban Mobility in India
</a:t>
            </a:r>
          </a:p>
        </p:txBody>
      </p:sp>
      <p:sp>
        <p:nvSpPr>
          <p:cNvPr id="4" name="Slide Number Placeholder 3"/>
          <p:cNvSpPr>
            <a:spLocks noGrp="1"/>
          </p:cNvSpPr>
          <p:nvPr>
            <p:ph type="sldNum" sz="quarter" idx="5"/>
          </p:nvPr>
        </p:nvSpPr>
        <p:spPr/>
        <p:txBody>
          <a:bodyPr/>
          <a:lstStyle/>
          <a:p>
            <a:fld id="{CCE053CC-5B21-4864-ABCC-AE6A8B57EED9}" type="slidenum">
              <a:t>2</a:t>
            </a:fld>
            <a:endParaRPr lang="en-US"/>
          </a:p>
        </p:txBody>
      </p:sp>
    </p:spTree>
    <p:extLst>
      <p:ext uri="{BB962C8B-B14F-4D97-AF65-F5344CB8AC3E}">
        <p14:creationId xmlns:p14="http://schemas.microsoft.com/office/powerpoint/2010/main" val="1518186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The PragatiDhara app envisions a future where Indian cities are cleaner, smarter, and more sustainable through citizen-driven traffic management. Its mission is to build an intelligent mobility ecosystem that empowers every commuter to contribute to reducing congestion and emissions. By leveraging real-time data from users and integrating green AI models, PragatiDhara aims to revolutionize urban transportation. The platform encourages active participation from citizens, turning them into contributors rather than passive users. This vision aligns with national sustainability goals and supports initiatives like the Smart City Mission and Green Credit Program. The mission is not only technological but also behavioral—fostering a culture of responsible commuting and environmental stewardship.
</a:t>
            </a:r>
          </a:p>
        </p:txBody>
      </p:sp>
      <p:sp>
        <p:nvSpPr>
          <p:cNvPr id="4" name="Slide Number Placeholder 3"/>
          <p:cNvSpPr>
            <a:spLocks noGrp="1"/>
          </p:cNvSpPr>
          <p:nvPr>
            <p:ph type="sldNum" sz="quarter" idx="5"/>
          </p:nvPr>
        </p:nvSpPr>
        <p:spPr/>
        <p:txBody>
          <a:bodyPr/>
          <a:lstStyle/>
          <a:p>
            <a:fld id="{CCE053CC-5B21-4864-ABCC-AE6A8B57EED9}" type="slidenum">
              <a:t>3</a:t>
            </a:fld>
            <a:endParaRPr lang="en-US"/>
          </a:p>
        </p:txBody>
      </p:sp>
    </p:spTree>
    <p:extLst>
      <p:ext uri="{BB962C8B-B14F-4D97-AF65-F5344CB8AC3E}">
        <p14:creationId xmlns:p14="http://schemas.microsoft.com/office/powerpoint/2010/main" val="3002562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Crowdsourced AI-Powered Traffic Optimization
</a:t>
            </a:r>
          </a:p>
        </p:txBody>
      </p:sp>
      <p:sp>
        <p:nvSpPr>
          <p:cNvPr id="4" name="Slide Number Placeholder 3"/>
          <p:cNvSpPr>
            <a:spLocks noGrp="1"/>
          </p:cNvSpPr>
          <p:nvPr>
            <p:ph type="sldNum" sz="quarter" idx="5"/>
          </p:nvPr>
        </p:nvSpPr>
        <p:spPr/>
        <p:txBody>
          <a:bodyPr/>
          <a:lstStyle/>
          <a:p>
            <a:fld id="{CCE053CC-5B21-4864-ABCC-AE6A8B57EED9}" type="slidenum">
              <a:t>4</a:t>
            </a:fld>
            <a:endParaRPr lang="en-US"/>
          </a:p>
        </p:txBody>
      </p:sp>
    </p:spTree>
    <p:extLst>
      <p:ext uri="{BB962C8B-B14F-4D97-AF65-F5344CB8AC3E}">
        <p14:creationId xmlns:p14="http://schemas.microsoft.com/office/powerpoint/2010/main" val="269514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PragatiDhara’s architecture is built on a cloud-native, modular framework that enables scalable and secure traffic optimization. The solution collects real-time traffic data directly from commuters, using mobile telemetry to predict congestion and suggest eco-friendly routes. It employs federated learning to ensure user privacy while analyzing patterns for dynamic rerouting. The system integrates REST and WebSocket APIs for seamless connectivity with smart city infrastructure, ride-hailing platforms, and navigation services. This design allows for interoperability and rapid deployment across urban centers. The architecture also supports vernacular AI voice interfaces, making it accessible to a diverse user base. By combining citizen-sourced data with advanced AI, PragatiDhara creates a responsive and adaptive traffic management system.
</a:t>
            </a:r>
          </a:p>
        </p:txBody>
      </p:sp>
      <p:sp>
        <p:nvSpPr>
          <p:cNvPr id="4" name="Slide Number Placeholder 3"/>
          <p:cNvSpPr>
            <a:spLocks noGrp="1"/>
          </p:cNvSpPr>
          <p:nvPr>
            <p:ph type="sldNum" sz="quarter" idx="5"/>
          </p:nvPr>
        </p:nvSpPr>
        <p:spPr/>
        <p:txBody>
          <a:bodyPr/>
          <a:lstStyle/>
          <a:p>
            <a:fld id="{CCE053CC-5B21-4864-ABCC-AE6A8B57EED9}" type="slidenum">
              <a:t>5</a:t>
            </a:fld>
            <a:endParaRPr lang="en-US"/>
          </a:p>
        </p:txBody>
      </p:sp>
    </p:spTree>
    <p:extLst>
      <p:ext uri="{BB962C8B-B14F-4D97-AF65-F5344CB8AC3E}">
        <p14:creationId xmlns:p14="http://schemas.microsoft.com/office/powerpoint/2010/main" val="2326564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PragatiDhara’s architecture is built on a cloud-native, modular framework that enables scalable and secure traffic optimization. The solution collects real-time traffic data directly from commuters, using mobile telemetry to predict congestion and suggest eco-friendly routes. It employs federated learning to ensure user privacy while analyzing patterns for dynamic rerouting. The system integrates REST and WebSocket APIs for seamless connectivity with smart city infrastructure, ride-hailing platforms, and navigation services. This design allows for interoperability and rapid deployment across urban centers. The architecture also supports vernacular AI voice interfaces, making it accessible to a diverse user base. By combining citizen-sourced data with advanced AI, PragatiDhara creates a responsive and adaptive traffic management system.
</a:t>
            </a:r>
          </a:p>
        </p:txBody>
      </p:sp>
      <p:sp>
        <p:nvSpPr>
          <p:cNvPr id="4" name="Slide Number Placeholder 3"/>
          <p:cNvSpPr>
            <a:spLocks noGrp="1"/>
          </p:cNvSpPr>
          <p:nvPr>
            <p:ph type="sldNum" sz="quarter" idx="5"/>
          </p:nvPr>
        </p:nvSpPr>
        <p:spPr/>
        <p:txBody>
          <a:bodyPr/>
          <a:lstStyle/>
          <a:p>
            <a:fld id="{CCE053CC-5B21-4864-ABCC-AE6A8B57EED9}" type="slidenum">
              <a:t>6</a:t>
            </a:fld>
            <a:endParaRPr lang="en-US"/>
          </a:p>
        </p:txBody>
      </p:sp>
    </p:spTree>
    <p:extLst>
      <p:ext uri="{BB962C8B-B14F-4D97-AF65-F5344CB8AC3E}">
        <p14:creationId xmlns:p14="http://schemas.microsoft.com/office/powerpoint/2010/main" val="2326564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Eco-Friendly Routing and Emission Reduction
</a:t>
            </a:r>
          </a:p>
        </p:txBody>
      </p:sp>
      <p:sp>
        <p:nvSpPr>
          <p:cNvPr id="4" name="Slide Number Placeholder 3"/>
          <p:cNvSpPr>
            <a:spLocks noGrp="1"/>
          </p:cNvSpPr>
          <p:nvPr>
            <p:ph type="sldNum" sz="quarter" idx="5"/>
          </p:nvPr>
        </p:nvSpPr>
        <p:spPr/>
        <p:txBody>
          <a:bodyPr/>
          <a:lstStyle/>
          <a:p>
            <a:fld id="{CCE053CC-5B21-4864-ABCC-AE6A8B57EED9}" type="slidenum">
              <a:t>7</a:t>
            </a:fld>
            <a:endParaRPr lang="en-US"/>
          </a:p>
        </p:txBody>
      </p:sp>
    </p:spTree>
    <p:extLst>
      <p:ext uri="{BB962C8B-B14F-4D97-AF65-F5344CB8AC3E}">
        <p14:creationId xmlns:p14="http://schemas.microsoft.com/office/powerpoint/2010/main" val="3841381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PragatiDhara integrates sustainable AI practices to minimize environmental impact. It uses federated learning to process data locally on user devices, reducing cloud dependency and preserving privacy. The app calculates CO₂ savings for each route and visualizes the environmental benefits of eco-routing. Users are incentivized through GreenPoints, which can be redeemed for fuel discounts, EV charging credits, or retail coupons. This gamified approach encourages sustainable behavior and aligns with India’s Green Credit Program. The AI models also support predictive traffic analysis, helping users avoid congestion and reduce fuel consumption. PragatiDhara’s commitment to sustainability extends to its support for SDG 11—Sustainable Cities and Communities—by promoting green mobility and citizen engagement.
</a:t>
            </a:r>
          </a:p>
        </p:txBody>
      </p:sp>
      <p:sp>
        <p:nvSpPr>
          <p:cNvPr id="4" name="Slide Number Placeholder 3"/>
          <p:cNvSpPr>
            <a:spLocks noGrp="1"/>
          </p:cNvSpPr>
          <p:nvPr>
            <p:ph type="sldNum" sz="quarter" idx="5"/>
          </p:nvPr>
        </p:nvSpPr>
        <p:spPr/>
        <p:txBody>
          <a:bodyPr/>
          <a:lstStyle/>
          <a:p>
            <a:fld id="{CCE053CC-5B21-4864-ABCC-AE6A8B57EED9}" type="slidenum">
              <a:t>8</a:t>
            </a:fld>
            <a:endParaRPr lang="en-US"/>
          </a:p>
        </p:txBody>
      </p:sp>
    </p:spTree>
    <p:extLst>
      <p:ext uri="{BB962C8B-B14F-4D97-AF65-F5344CB8AC3E}">
        <p14:creationId xmlns:p14="http://schemas.microsoft.com/office/powerpoint/2010/main" val="1791424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https://infosystechnologies-my.sharepoint.com/personal/ritika_mathur01_ad_infosys_com/_layouts/15/Doc.aspx?sourcedoc=%7B6016006D-88A3-4714-9424-A4CBD25946EA%7D&amp;file=Our%20USP.docx&amp;action=default&amp;mobileredirect=true
Unique Features and Competitive Edge
</a:t>
            </a:r>
          </a:p>
        </p:txBody>
      </p:sp>
      <p:sp>
        <p:nvSpPr>
          <p:cNvPr id="4" name="Slide Number Placeholder 3"/>
          <p:cNvSpPr>
            <a:spLocks noGrp="1"/>
          </p:cNvSpPr>
          <p:nvPr>
            <p:ph type="sldNum" sz="quarter" idx="5"/>
          </p:nvPr>
        </p:nvSpPr>
        <p:spPr/>
        <p:txBody>
          <a:bodyPr/>
          <a:lstStyle/>
          <a:p>
            <a:fld id="{CCE053CC-5B21-4864-ABCC-AE6A8B57EED9}" type="slidenum">
              <a:t>9</a:t>
            </a:fld>
            <a:endParaRPr lang="en-US"/>
          </a:p>
        </p:txBody>
      </p:sp>
    </p:spTree>
    <p:extLst>
      <p:ext uri="{BB962C8B-B14F-4D97-AF65-F5344CB8AC3E}">
        <p14:creationId xmlns:p14="http://schemas.microsoft.com/office/powerpoint/2010/main" val="3879296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https://infosystechnologies-my.sharepoint.com/personal/ritika_mathur01_ad_infosys_com/_layouts/15/Doc.aspx?sourcedoc=%7B6016006D-88A3-4714-9424-A4CBD25946EA%7D&amp;file=Our%20USP.docx&amp;action=default&amp;mobileredirect=true
PragatiDhara stands out through its innovative features and user-centric design. Unlike traditional navigation apps, it offers real-time crowd-sourced traffic insights and green route recommendations. The app includes vernacular AI for regional language support, enhancing accessibility and engagement. Users earn GreenPoints for eco-friendly actions, creating a gamified ecosystem that rewards sustainable behavior. PragatiDhara integrates seamlessly with Google Maps, ride-hailing apps like Ola and Uber, and smart city ATCS systems. Its API-ready architecture allows for easy integration with ESG dashboards and corporate mobility solutions. These differentiators position PragatiDhara as a complementary platform that enhances existing systems while promoting sustainability and civic participation.
</a:t>
            </a:r>
          </a:p>
        </p:txBody>
      </p:sp>
      <p:sp>
        <p:nvSpPr>
          <p:cNvPr id="4" name="Slide Number Placeholder 3"/>
          <p:cNvSpPr>
            <a:spLocks noGrp="1"/>
          </p:cNvSpPr>
          <p:nvPr>
            <p:ph type="sldNum" sz="quarter" idx="5"/>
          </p:nvPr>
        </p:nvSpPr>
        <p:spPr/>
        <p:txBody>
          <a:bodyPr/>
          <a:lstStyle/>
          <a:p>
            <a:fld id="{CCE053CC-5B21-4864-ABCC-AE6A8B57EED9}" type="slidenum">
              <a:t>10</a:t>
            </a:fld>
            <a:endParaRPr lang="en-US"/>
          </a:p>
        </p:txBody>
      </p:sp>
    </p:spTree>
    <p:extLst>
      <p:ext uri="{BB962C8B-B14F-4D97-AF65-F5344CB8AC3E}">
        <p14:creationId xmlns:p14="http://schemas.microsoft.com/office/powerpoint/2010/main" val="3294254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Phased Rollout Strategy
</a:t>
            </a:r>
          </a:p>
        </p:txBody>
      </p:sp>
      <p:sp>
        <p:nvSpPr>
          <p:cNvPr id="4" name="Slide Number Placeholder 3"/>
          <p:cNvSpPr>
            <a:spLocks noGrp="1"/>
          </p:cNvSpPr>
          <p:nvPr>
            <p:ph type="sldNum" sz="quarter" idx="5"/>
          </p:nvPr>
        </p:nvSpPr>
        <p:spPr/>
        <p:txBody>
          <a:bodyPr/>
          <a:lstStyle/>
          <a:p>
            <a:fld id="{CCE053CC-5B21-4864-ABCC-AE6A8B57EED9}" type="slidenum">
              <a:t>11</a:t>
            </a:fld>
            <a:endParaRPr lang="en-US"/>
          </a:p>
        </p:txBody>
      </p:sp>
    </p:spTree>
    <p:extLst>
      <p:ext uri="{BB962C8B-B14F-4D97-AF65-F5344CB8AC3E}">
        <p14:creationId xmlns:p14="http://schemas.microsoft.com/office/powerpoint/2010/main" val="3011142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a:t>
            </a:r>
            <a:r>
              <a:rPr lang="en-US" dirty="0" err="1"/>
              <a:t>PragatiDhara’s</a:t>
            </a:r>
            <a:r>
              <a:rPr lang="en-US" dirty="0"/>
              <a:t> implementation plan is structured into three phases to ensure effective deployment and scalability. Phase 1 focuses on launching a prototype and pilot in Pune and Hyderabad, targeting 50,000 users and forming partnerships with fuel companies and traffic departments. Phase 2 expands the app to five major metros and introduces the </a:t>
            </a:r>
            <a:r>
              <a:rPr lang="en-US" dirty="0" err="1"/>
              <a:t>GreenPoints</a:t>
            </a:r>
            <a:r>
              <a:rPr lang="en-US" dirty="0"/>
              <a:t> rewards marketplace. Phase 3 scales the platform to ten cities, integrating with Smart City ATCS systems and enhancing ESG analytics capabilities. This roadmap is designed to build momentum, validate the solution in diverse urban contexts, and establish a robust ecosystem of partners and users. The phased approach ensures that each stage delivers measurable impact and prepares the platform for national adoption.
</a:t>
            </a:r>
          </a:p>
        </p:txBody>
      </p:sp>
      <p:sp>
        <p:nvSpPr>
          <p:cNvPr id="4" name="Slide Number Placeholder 3"/>
          <p:cNvSpPr>
            <a:spLocks noGrp="1"/>
          </p:cNvSpPr>
          <p:nvPr>
            <p:ph type="sldNum" sz="quarter" idx="5"/>
          </p:nvPr>
        </p:nvSpPr>
        <p:spPr/>
        <p:txBody>
          <a:bodyPr/>
          <a:lstStyle/>
          <a:p>
            <a:fld id="{CCE053CC-5B21-4864-ABCC-AE6A8B57EED9}" type="slidenum">
              <a:t>12</a:t>
            </a:fld>
            <a:endParaRPr lang="en-US"/>
          </a:p>
        </p:txBody>
      </p:sp>
    </p:spTree>
    <p:extLst>
      <p:ext uri="{BB962C8B-B14F-4D97-AF65-F5344CB8AC3E}">
        <p14:creationId xmlns:p14="http://schemas.microsoft.com/office/powerpoint/2010/main" val="3483284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Addressable Market and Growth Forecast
</a:t>
            </a:r>
          </a:p>
        </p:txBody>
      </p:sp>
      <p:sp>
        <p:nvSpPr>
          <p:cNvPr id="4" name="Slide Number Placeholder 3"/>
          <p:cNvSpPr>
            <a:spLocks noGrp="1"/>
          </p:cNvSpPr>
          <p:nvPr>
            <p:ph type="sldNum" sz="quarter" idx="5"/>
          </p:nvPr>
        </p:nvSpPr>
        <p:spPr/>
        <p:txBody>
          <a:bodyPr/>
          <a:lstStyle/>
          <a:p>
            <a:fld id="{CCE053CC-5B21-4864-ABCC-AE6A8B57EED9}" type="slidenum">
              <a:t>13</a:t>
            </a:fld>
            <a:endParaRPr lang="en-US"/>
          </a:p>
        </p:txBody>
      </p:sp>
    </p:spTree>
    <p:extLst>
      <p:ext uri="{BB962C8B-B14F-4D97-AF65-F5344CB8AC3E}">
        <p14:creationId xmlns:p14="http://schemas.microsoft.com/office/powerpoint/2010/main" val="2354849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PragatiDhara targets a substantial market opportunity in India’s urban mobility sector. The Total Addressable Market (TAM) is estimated at ₹55,000 Crore (~$6.6B), encompassing all urban commuters and corporate mobility solutions. The Serviceable Available Market (SAM) focuses on smartphone users in Tier-1 and Tier-2 cities, valued at ₹15,000 Crore (~$1.8B). The Serviceable Obtainable Market (SOM) aims to capture ₹500 Crore (~$60M) by acquiring 2 million active users across ten cities within three years. This market validation is supported by India’s increasing smartphone penetration, urbanization, and policy support for sustainable mobility. PragatiDhara’s impact potential includes reduced fuel consumption, lower CO₂ emissions, and improved traffic flow, contributing to economic and environmental benefits.
</a:t>
            </a:r>
          </a:p>
        </p:txBody>
      </p:sp>
      <p:sp>
        <p:nvSpPr>
          <p:cNvPr id="4" name="Slide Number Placeholder 3"/>
          <p:cNvSpPr>
            <a:spLocks noGrp="1"/>
          </p:cNvSpPr>
          <p:nvPr>
            <p:ph type="sldNum" sz="quarter" idx="5"/>
          </p:nvPr>
        </p:nvSpPr>
        <p:spPr/>
        <p:txBody>
          <a:bodyPr/>
          <a:lstStyle/>
          <a:p>
            <a:fld id="{CCE053CC-5B21-4864-ABCC-AE6A8B57EED9}" type="slidenum">
              <a:t>14</a:t>
            </a:fld>
            <a:endParaRPr lang="en-US"/>
          </a:p>
        </p:txBody>
      </p:sp>
    </p:spTree>
    <p:extLst>
      <p:ext uri="{BB962C8B-B14F-4D97-AF65-F5344CB8AC3E}">
        <p14:creationId xmlns:p14="http://schemas.microsoft.com/office/powerpoint/2010/main" val="3379330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PragatiDhara targets a substantial market opportunity in India’s urban mobility sector. The Total Addressable Market (TAM) is estimated at ₹55,000 Crore (~$6.6B), encompassing all urban commuters and corporate mobility solutions. The Serviceable Available Market (SAM) focuses on smartphone users in Tier-1 and Tier-2 cities, valued at ₹15,000 Crore (~$1.8B). The Serviceable Obtainable Market (SOM) aims to capture ₹500 Crore (~$60M) by acquiring 2 million active users across ten cities within three years. This market validation is supported by India’s increasing smartphone penetration, urbanization, and policy support for sustainable mobility. PragatiDhara’s impact potential includes reduced fuel consumption, lower CO₂ emissions, and improved traffic flow, contributing to economic and environmental benefits.
</a:t>
            </a:r>
          </a:p>
        </p:txBody>
      </p:sp>
      <p:sp>
        <p:nvSpPr>
          <p:cNvPr id="4" name="Slide Number Placeholder 3"/>
          <p:cNvSpPr>
            <a:spLocks noGrp="1"/>
          </p:cNvSpPr>
          <p:nvPr>
            <p:ph type="sldNum" sz="quarter" idx="5"/>
          </p:nvPr>
        </p:nvSpPr>
        <p:spPr/>
        <p:txBody>
          <a:bodyPr/>
          <a:lstStyle/>
          <a:p>
            <a:fld id="{CCE053CC-5B21-4864-ABCC-AE6A8B57EED9}" type="slidenum">
              <a:t>15</a:t>
            </a:fld>
            <a:endParaRPr lang="en-US"/>
          </a:p>
        </p:txBody>
      </p:sp>
    </p:spTree>
    <p:extLst>
      <p:ext uri="{BB962C8B-B14F-4D97-AF65-F5344CB8AC3E}">
        <p14:creationId xmlns:p14="http://schemas.microsoft.com/office/powerpoint/2010/main" val="3379330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205562466"/>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563056262"/>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C6904D-FBDC-4E1E-863E-C45FAD9DD85B}"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94500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D64244-A3D4-4B68-87F0-779EEA0C37FE}" type="datetime1">
              <a:rPr lang="en-US" smtClean="0"/>
              <a:t>11/6/2025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869251943"/>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D64244-A3D4-4B68-87F0-779EEA0C37FE}" type="datetime1">
              <a:rPr lang="en-US" smtClean="0"/>
              <a:t>11/6/2025</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837760259"/>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1E57D35-FD3E-408B-A06E-7ED09E94C083}" type="datetime1">
              <a:rPr lang="en-US" smtClean="0"/>
              <a:t>11/6/2025</a:t>
            </a:fld>
            <a:endParaRPr lang="en-US" dirty="0"/>
          </a:p>
        </p:txBody>
      </p:sp>
      <p:sp>
        <p:nvSpPr>
          <p:cNvPr id="5" name="Footer Placeholder 3"/>
          <p:cNvSpPr>
            <a:spLocks noGrp="1"/>
          </p:cNvSpPr>
          <p:nvPr>
            <p:ph type="ftr" sz="quarter" idx="11"/>
          </p:nvPr>
        </p:nvSpPr>
        <p:spPr/>
        <p:txBody>
          <a:bodyPr/>
          <a:lstStyle/>
          <a:p>
            <a:r>
              <a:rPr lang="en-US"/>
              <a:t>Sample Footer Text</a:t>
            </a:r>
            <a:endParaRPr lang="en-US" dirty="0"/>
          </a:p>
        </p:txBody>
      </p:sp>
      <p:sp>
        <p:nvSpPr>
          <p:cNvPr id="6" name="Slide Number Placeholder 4"/>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574337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2"/>
          <p:cNvSpPr>
            <a:spLocks noGrp="1"/>
          </p:cNvSpPr>
          <p:nvPr>
            <p:ph type="ftr" sz="quarter" idx="11"/>
          </p:nvPr>
        </p:nvSpPr>
        <p:spPr/>
        <p:txBody>
          <a:bodyPr/>
          <a:lstStyle/>
          <a:p>
            <a:r>
              <a:rPr lang="en-US"/>
              <a:t>Sample Footer Text</a:t>
            </a:r>
          </a:p>
        </p:txBody>
      </p:sp>
      <p:sp>
        <p:nvSpPr>
          <p:cNvPr id="6" name="Slide Number Placeholder 3"/>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9854698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3E7E953-C3C8-4A4B-8817-BB1E8DE8DAD2}" type="datetime1">
              <a:rPr lang="en-US" smtClean="0"/>
              <a:t>11/6/2025</a:t>
            </a:fld>
            <a:endParaRPr lang="en-US" dirty="0"/>
          </a:p>
        </p:txBody>
      </p:sp>
      <p:sp>
        <p:nvSpPr>
          <p:cNvPr id="5" name="Footer Placeholder 5"/>
          <p:cNvSpPr>
            <a:spLocks noGrp="1"/>
          </p:cNvSpPr>
          <p:nvPr>
            <p:ph type="ftr" sz="quarter" idx="11"/>
          </p:nvPr>
        </p:nvSpPr>
        <p:spPr/>
        <p:txBody>
          <a:bodyPr/>
          <a:lstStyle/>
          <a:p>
            <a:r>
              <a:rPr lang="en-US"/>
              <a:t>Sample Footer Text</a:t>
            </a:r>
            <a:endParaRPr lang="en-US" dirty="0"/>
          </a:p>
        </p:txBody>
      </p:sp>
      <p:sp>
        <p:nvSpPr>
          <p:cNvPr id="6" name="Slide Number Placeholder 6"/>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387076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4969BF-940B-4FBC-8397-235C5A271474}" type="datetime1">
              <a:rPr lang="en-US" smtClean="0"/>
              <a:t>11/6/2025</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894263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D64244-A3D4-4B68-87F0-779EEA0C37FE}" type="datetime1">
              <a:rPr lang="en-US" smtClean="0"/>
              <a:t>11/6/2025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879654983"/>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11517613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7659429"/>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69553772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666594579"/>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07790849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89502330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28821485"/>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xmlns=""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xmlns=""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10824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6D64244-A3D4-4B68-87F0-779EEA0C37FE}" type="datetime1">
              <a:rPr lang="en-US" smtClean="0"/>
              <a:t>11/6/2025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Sample Footer Text</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107575019"/>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3948E0-FBC1-AF97-5CA3-325F2B93C113}"/>
              </a:ext>
            </a:extLst>
          </p:cNvPr>
          <p:cNvSpPr>
            <a:spLocks noGrp="1"/>
          </p:cNvSpPr>
          <p:nvPr>
            <p:ph type="ctrTitle"/>
          </p:nvPr>
        </p:nvSpPr>
        <p:spPr/>
        <p:txBody>
          <a:bodyPr anchor="ctr">
            <a:normAutofit/>
          </a:bodyPr>
          <a:lstStyle/>
          <a:p>
            <a:r>
              <a:rPr lang="en-US"/>
              <a:t>PragatiDhara App Pitch Deck</a:t>
            </a:r>
          </a:p>
        </p:txBody>
      </p:sp>
      <p:sp>
        <p:nvSpPr>
          <p:cNvPr id="3" name="Subtitle 2">
            <a:extLst>
              <a:ext uri="{FF2B5EF4-FFF2-40B4-BE49-F238E27FC236}">
                <a16:creationId xmlns:a16="http://schemas.microsoft.com/office/drawing/2014/main" xmlns="" id="{C74F27F7-D9BB-95C2-7D74-934C000DA0B7}"/>
              </a:ext>
            </a:extLst>
          </p:cNvPr>
          <p:cNvSpPr>
            <a:spLocks noGrp="1"/>
          </p:cNvSpPr>
          <p:nvPr>
            <p:ph type="subTitle" idx="1"/>
          </p:nvPr>
        </p:nvSpPr>
        <p:spPr/>
        <p:txBody>
          <a:bodyPr anchor="ctr">
            <a:normAutofit/>
          </a:bodyPr>
          <a:lstStyle/>
          <a:p>
            <a:r>
              <a:rPr lang="en-US"/>
              <a:t>Innovative solutions driving progress and growth</a:t>
            </a:r>
          </a:p>
        </p:txBody>
      </p:sp>
      <p:sp>
        <p:nvSpPr>
          <p:cNvPr id="5" name="Date Placeholder 4">
            <a:extLst>
              <a:ext uri="{FF2B5EF4-FFF2-40B4-BE49-F238E27FC236}">
                <a16:creationId xmlns:a16="http://schemas.microsoft.com/office/drawing/2014/main" xmlns="" id="{FBBA30ED-D958-E175-2296-61FCC6A3CA1F}"/>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333144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9B9E84-A594-9304-B731-34A19C9AECD5}"/>
              </a:ext>
            </a:extLst>
          </p:cNvPr>
          <p:cNvSpPr>
            <a:spLocks noGrp="1"/>
          </p:cNvSpPr>
          <p:nvPr>
            <p:ph type="title"/>
          </p:nvPr>
        </p:nvSpPr>
        <p:spPr/>
        <p:txBody>
          <a:bodyPr anchor="b">
            <a:normAutofit/>
          </a:bodyPr>
          <a:lstStyle/>
          <a:p>
            <a:r>
              <a:rPr lang="en-US"/>
              <a:t>Vision &amp; Mission</a:t>
            </a:r>
          </a:p>
        </p:txBody>
      </p:sp>
      <p:sp>
        <p:nvSpPr>
          <p:cNvPr id="5" name="Date Placeholder 4">
            <a:extLst>
              <a:ext uri="{FF2B5EF4-FFF2-40B4-BE49-F238E27FC236}">
                <a16:creationId xmlns:a16="http://schemas.microsoft.com/office/drawing/2014/main" xmlns="" id="{65A229F9-74A6-2083-ADEC-816263CB0488}"/>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37490604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42F0EC-FA32-F4DB-91AF-7162C0FF2345}"/>
              </a:ext>
            </a:extLst>
          </p:cNvPr>
          <p:cNvSpPr>
            <a:spLocks noGrp="1"/>
          </p:cNvSpPr>
          <p:nvPr>
            <p:ph type="title"/>
          </p:nvPr>
        </p:nvSpPr>
        <p:spPr/>
        <p:txBody>
          <a:bodyPr anchor="t">
            <a:normAutofit fontScale="90000"/>
          </a:bodyPr>
          <a:lstStyle/>
          <a:p>
            <a:r>
              <a:rPr lang="en-US"/>
              <a:t>Transforming Urban Mobility in India</a:t>
            </a:r>
          </a:p>
        </p:txBody>
      </p:sp>
      <p:pic>
        <p:nvPicPr>
          <p:cNvPr id="8" name="Content Placeholder 7" descr="close up Artificial Intelligence technology city for backgroundsFuturistic eye, Artificial Intelligence, Globe - Navigational Equipment, DataBrain Wave, Artificial Intelligence, city.Data,Face recognition">
            <a:extLst>
              <a:ext uri="{FF2B5EF4-FFF2-40B4-BE49-F238E27FC236}">
                <a16:creationId xmlns:a16="http://schemas.microsoft.com/office/drawing/2014/main" xmlns="" id="{33F48728-BFDE-4497-95FC-D8103AFE48F9}"/>
              </a:ext>
            </a:extLst>
          </p:cNvPr>
          <p:cNvPicPr>
            <a:picLocks noGrp="1" noChangeAspect="1"/>
          </p:cNvPicPr>
          <p:nvPr>
            <p:ph type="pic" sz="quarter" idx="13"/>
          </p:nvPr>
        </p:nvPicPr>
        <p:blipFill>
          <a:blip r:embed="rId3"/>
          <a:srcRect l="7797" r="7797"/>
          <a:stretch>
            <a:fillRect/>
          </a:stretch>
        </p:blipFill>
        <p:spPr>
          <a:prstGeom prst="rect">
            <a:avLst/>
          </a:prstGeom>
          <a:noFill/>
        </p:spPr>
      </p:pic>
      <p:sp>
        <p:nvSpPr>
          <p:cNvPr id="4" name="Content Placeholder 3">
            <a:extLst>
              <a:ext uri="{FF2B5EF4-FFF2-40B4-BE49-F238E27FC236}">
                <a16:creationId xmlns:a16="http://schemas.microsoft.com/office/drawing/2014/main" xmlns="" id="{02AC757D-1292-ACBF-5224-2430E785A9BD}"/>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1400" b="1" dirty="0"/>
              <a:t>Citizen-Driven Traffic Management</a:t>
            </a:r>
          </a:p>
          <a:p>
            <a:pPr marL="0" lvl="1" indent="0">
              <a:buFont typeface="Arial" panose="020B0604020202020204" pitchFamily="34" charset="0"/>
              <a:buNone/>
            </a:pPr>
            <a:r>
              <a:rPr lang="en-US" sz="1400" dirty="0"/>
              <a:t>Citizens move from passive drivers to </a:t>
            </a:r>
            <a:r>
              <a:rPr lang="en-US" sz="1400" b="1" dirty="0"/>
              <a:t>active data contributors</a:t>
            </a:r>
            <a:r>
              <a:rPr lang="en-US" sz="1400" dirty="0"/>
              <a:t>, sharing real-time telemetry to directly </a:t>
            </a:r>
            <a:r>
              <a:rPr lang="en-US" sz="1400" b="1" dirty="0"/>
              <a:t>alleviate congestion and emissions.</a:t>
            </a:r>
            <a:endParaRPr lang="en-US" sz="1400" dirty="0" smtClean="0"/>
          </a:p>
          <a:p>
            <a:pPr marL="0" indent="0">
              <a:spcBef>
                <a:spcPts val="2500"/>
              </a:spcBef>
              <a:buFont typeface="Arial" panose="020B0604020202020204" pitchFamily="34" charset="0"/>
              <a:buNone/>
            </a:pPr>
            <a:r>
              <a:rPr lang="en-US" sz="1400" b="1" dirty="0" smtClean="0"/>
              <a:t>Integration of Green AI Models</a:t>
            </a:r>
          </a:p>
          <a:p>
            <a:pPr marL="0" lvl="1" indent="0">
              <a:buFont typeface="Arial" panose="020B0604020202020204" pitchFamily="34" charset="0"/>
              <a:buNone/>
            </a:pPr>
            <a:r>
              <a:rPr lang="en-US" sz="1400" dirty="0" smtClean="0"/>
              <a:t>PragatiDhara </a:t>
            </a:r>
            <a:r>
              <a:rPr lang="en-US" sz="1400" dirty="0"/>
              <a:t>leverages green AI technologies to optimize urban traffic for sustainability and smarter mobility solutions</a:t>
            </a:r>
            <a:r>
              <a:rPr lang="en-US" sz="1400" dirty="0" smtClean="0"/>
              <a:t>.</a:t>
            </a:r>
          </a:p>
          <a:p>
            <a:pPr marL="0" lvl="1" indent="0">
              <a:buFont typeface="Arial" panose="020B0604020202020204" pitchFamily="34" charset="0"/>
              <a:buNone/>
            </a:pPr>
            <a:r>
              <a:rPr lang="en-US" sz="1400" b="1" dirty="0"/>
              <a:t>Green AI</a:t>
            </a:r>
            <a:r>
              <a:rPr lang="en-US" sz="1400" dirty="0"/>
              <a:t> (Federated &amp; Low-Carbon) delivers real-time route optimization, ensuring every decision is </a:t>
            </a:r>
            <a:r>
              <a:rPr lang="en-US" sz="1400" b="1" dirty="0"/>
              <a:t>smarter, faster, and cleaner.</a:t>
            </a:r>
            <a:endParaRPr lang="en-US" sz="1400" dirty="0"/>
          </a:p>
          <a:p>
            <a:pPr marL="0" indent="0">
              <a:spcBef>
                <a:spcPts val="2500"/>
              </a:spcBef>
              <a:buFont typeface="Arial" panose="020B0604020202020204" pitchFamily="34" charset="0"/>
              <a:buNone/>
            </a:pPr>
            <a:r>
              <a:rPr lang="en-US" sz="1400" b="1" dirty="0"/>
              <a:t>Alignment with National Sustainability Goals</a:t>
            </a:r>
          </a:p>
          <a:p>
            <a:pPr marL="0" lvl="1" indent="0">
              <a:buFont typeface="Arial" panose="020B0604020202020204" pitchFamily="34" charset="0"/>
              <a:buNone/>
            </a:pPr>
            <a:r>
              <a:rPr lang="en-US" sz="1400" dirty="0"/>
              <a:t>Directly supports </a:t>
            </a:r>
            <a:r>
              <a:rPr lang="en-US" sz="1400" b="1" dirty="0"/>
              <a:t>India’s Smart City Mission</a:t>
            </a:r>
            <a:r>
              <a:rPr lang="en-US" sz="1400" dirty="0"/>
              <a:t> and </a:t>
            </a:r>
            <a:r>
              <a:rPr lang="en-US" sz="1400" b="1" dirty="0"/>
              <a:t>Green Credit Program,</a:t>
            </a:r>
            <a:r>
              <a:rPr lang="en-US" sz="1400" dirty="0"/>
              <a:t> making us a strategic partner in achieving national sustainability targets</a:t>
            </a:r>
            <a:r>
              <a:rPr lang="en-US" sz="1400" dirty="0" smtClean="0"/>
              <a:t>.</a:t>
            </a:r>
          </a:p>
          <a:p>
            <a:pPr marL="0" lvl="1" indent="0">
              <a:buFont typeface="Arial" panose="020B0604020202020204" pitchFamily="34" charset="0"/>
              <a:buNone/>
            </a:pPr>
            <a:r>
              <a:rPr lang="en-US" sz="1400" b="1" dirty="0" smtClean="0"/>
              <a:t>Behavioral </a:t>
            </a:r>
            <a:r>
              <a:rPr lang="en-US" sz="1400" b="1" dirty="0"/>
              <a:t>Change and Environmental Stewardship</a:t>
            </a:r>
          </a:p>
          <a:p>
            <a:pPr marL="0" lvl="1" indent="0">
              <a:buFont typeface="Arial" panose="020B0604020202020204" pitchFamily="34" charset="0"/>
              <a:buNone/>
            </a:pPr>
            <a:r>
              <a:rPr lang="en-US" sz="1400" dirty="0"/>
              <a:t>We foster a culture of </a:t>
            </a:r>
            <a:r>
              <a:rPr lang="en-US" sz="1400" b="1" dirty="0"/>
              <a:t>Environmental Stewardship</a:t>
            </a:r>
            <a:r>
              <a:rPr lang="en-US" sz="1400" dirty="0"/>
              <a:t> by rewarding eco-conscious choices, turning commuters into </a:t>
            </a:r>
            <a:r>
              <a:rPr lang="en-US" sz="1400" b="1" dirty="0"/>
              <a:t>urban environmentalists.</a:t>
            </a:r>
            <a:endParaRPr lang="en-US" sz="1400" dirty="0"/>
          </a:p>
        </p:txBody>
      </p:sp>
      <p:sp>
        <p:nvSpPr>
          <p:cNvPr id="6" name="Date Placeholder 5">
            <a:extLst>
              <a:ext uri="{FF2B5EF4-FFF2-40B4-BE49-F238E27FC236}">
                <a16:creationId xmlns:a16="http://schemas.microsoft.com/office/drawing/2014/main" xmlns="" id="{34184484-75A6-CD6E-D2B0-DF050BC75DA8}"/>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
        <p:nvSpPr>
          <p:cNvPr id="7" name="Slide Number Placeholder 6">
            <a:extLst>
              <a:ext uri="{FF2B5EF4-FFF2-40B4-BE49-F238E27FC236}">
                <a16:creationId xmlns:a16="http://schemas.microsoft.com/office/drawing/2014/main" xmlns="" id="{C4D9DB0F-0754-F476-D75F-264001303DFC}"/>
              </a:ext>
            </a:extLst>
          </p:cNvPr>
          <p:cNvSpPr>
            <a:spLocks noGrp="1"/>
          </p:cNvSpPr>
          <p:nvPr>
            <p:ph type="sldNum" sz="quarter" idx="4294967295"/>
          </p:nvPr>
        </p:nvSpPr>
        <p:spPr>
          <a:xfrm>
            <a:off x="11734800" y="6445250"/>
            <a:ext cx="457200" cy="365125"/>
          </a:xfrm>
        </p:spPr>
        <p:txBody>
          <a:bodyPr anchor="ctr">
            <a:normAutofit fontScale="77500" lnSpcReduction="20000"/>
          </a:bodyPr>
          <a:lstStyle/>
          <a:p>
            <a:pPr>
              <a:spcAft>
                <a:spcPts val="600"/>
              </a:spcAft>
            </a:pPr>
            <a:fld id="{DDF60B60-82CA-4BB9-BA6E-A62FADF2374B}" type="slidenum">
              <a:rPr lang="en-US" smtClean="0"/>
              <a:pPr>
                <a:spcAft>
                  <a:spcPts val="600"/>
                </a:spcAft>
              </a:pPr>
              <a:t>3</a:t>
            </a:fld>
            <a:endParaRPr lang="en-US"/>
          </a:p>
        </p:txBody>
      </p:sp>
    </p:spTree>
    <p:extLst>
      <p:ext uri="{BB962C8B-B14F-4D97-AF65-F5344CB8AC3E}">
        <p14:creationId xmlns:p14="http://schemas.microsoft.com/office/powerpoint/2010/main" val="3016256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18AC6B-8070-9F28-CF11-C79D597B484A}"/>
              </a:ext>
            </a:extLst>
          </p:cNvPr>
          <p:cNvSpPr>
            <a:spLocks noGrp="1"/>
          </p:cNvSpPr>
          <p:nvPr>
            <p:ph type="title"/>
          </p:nvPr>
        </p:nvSpPr>
        <p:spPr/>
        <p:txBody>
          <a:bodyPr anchor="b">
            <a:normAutofit/>
          </a:bodyPr>
          <a:lstStyle/>
          <a:p>
            <a:r>
              <a:rPr lang="en-US"/>
              <a:t>Solution Architecture and Design</a:t>
            </a:r>
          </a:p>
        </p:txBody>
      </p:sp>
    </p:spTree>
    <p:extLst>
      <p:ext uri="{BB962C8B-B14F-4D97-AF65-F5344CB8AC3E}">
        <p14:creationId xmlns:p14="http://schemas.microsoft.com/office/powerpoint/2010/main" val="160832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4BBBE2-B2C9-0A8D-AD37-9E6FFB2F7F28}"/>
              </a:ext>
            </a:extLst>
          </p:cNvPr>
          <p:cNvSpPr>
            <a:spLocks noGrp="1"/>
          </p:cNvSpPr>
          <p:nvPr>
            <p:ph type="title"/>
          </p:nvPr>
        </p:nvSpPr>
        <p:spPr>
          <a:xfrm>
            <a:off x="152400" y="228600"/>
            <a:ext cx="5943600" cy="1373957"/>
          </a:xfrm>
        </p:spPr>
        <p:txBody>
          <a:bodyPr anchor="t">
            <a:noAutofit/>
          </a:bodyPr>
          <a:lstStyle/>
          <a:p>
            <a:r>
              <a:rPr lang="en-US" sz="3600" dirty="0" err="1" smtClean="0"/>
              <a:t>CrowdSourced</a:t>
            </a:r>
            <a:r>
              <a:rPr lang="en-US" sz="3600" dirty="0" smtClean="0"/>
              <a:t> </a:t>
            </a:r>
            <a:r>
              <a:rPr lang="en-US" sz="3600" dirty="0"/>
              <a:t>Intelligence Meets Scalable </a:t>
            </a:r>
            <a:r>
              <a:rPr lang="en-US" sz="3600" dirty="0" smtClean="0"/>
              <a:t>AI</a:t>
            </a:r>
            <a:endParaRPr lang="en-US" sz="3600" dirty="0"/>
          </a:p>
        </p:txBody>
      </p:sp>
      <p:pic>
        <p:nvPicPr>
          <p:cNvPr id="8" name="Content Placeholder 7" descr="Global world travel airplane flight network connection&#10;&#10;++The World map texture derived from public domain NASA: http://visibleearth.nasa.gov.&#10;Traced in Illustrator.File created on November 29, 2018++">
            <a:extLst>
              <a:ext uri="{FF2B5EF4-FFF2-40B4-BE49-F238E27FC236}">
                <a16:creationId xmlns:a16="http://schemas.microsoft.com/office/drawing/2014/main" xmlns="" id="{7E8677F3-2EDA-4A35-8F59-540AA97A578F}"/>
              </a:ext>
            </a:extLst>
          </p:cNvPr>
          <p:cNvPicPr>
            <a:picLocks noGrp="1" noChangeAspect="1"/>
          </p:cNvPicPr>
          <p:nvPr>
            <p:ph type="pic" sz="quarter" idx="13"/>
          </p:nvPr>
        </p:nvPicPr>
        <p:blipFill>
          <a:blip r:embed="rId3"/>
          <a:srcRect l="7797" r="7797"/>
          <a:stretch>
            <a:fillRect/>
          </a:stretch>
        </p:blipFill>
        <p:spPr>
          <a:xfrm>
            <a:off x="76200" y="2133600"/>
            <a:ext cx="5758172" cy="4546457"/>
          </a:xfrm>
          <a:prstGeom prst="rect">
            <a:avLst/>
          </a:prstGeom>
          <a:noFill/>
        </p:spPr>
      </p:pic>
      <p:sp>
        <p:nvSpPr>
          <p:cNvPr id="4" name="Content Placeholder 3">
            <a:extLst>
              <a:ext uri="{FF2B5EF4-FFF2-40B4-BE49-F238E27FC236}">
                <a16:creationId xmlns:a16="http://schemas.microsoft.com/office/drawing/2014/main" xmlns="" id="{2193CFEA-42B9-8F28-E466-B5E29E649A3B}"/>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72200" y="762000"/>
            <a:ext cx="5558655" cy="5797484"/>
          </a:xfrm>
        </p:spPr>
        <p:txBody>
          <a:bodyPr>
            <a:normAutofit fontScale="85000" lnSpcReduction="10000"/>
          </a:bodyPr>
          <a:lstStyle/>
          <a:p>
            <a:pPr marL="0" indent="0">
              <a:buNone/>
            </a:pPr>
            <a:r>
              <a:rPr lang="en-US" sz="1400" b="1" dirty="0" smtClean="0"/>
              <a:t> </a:t>
            </a:r>
            <a:r>
              <a:rPr lang="en-US" sz="1400" b="1" dirty="0"/>
              <a:t>Cloud-Native Modular Framework</a:t>
            </a:r>
          </a:p>
          <a:p>
            <a:r>
              <a:rPr lang="en-US" sz="1400" b="1" dirty="0"/>
              <a:t>Dynamic Scalability:</a:t>
            </a:r>
            <a:r>
              <a:rPr lang="en-US" sz="1400" dirty="0"/>
              <a:t> Utilizes a modern, secure </a:t>
            </a:r>
            <a:r>
              <a:rPr lang="en-US" sz="1400" b="1" dirty="0"/>
              <a:t>Cloud-Native architecture</a:t>
            </a:r>
            <a:r>
              <a:rPr lang="en-US" sz="1400" dirty="0"/>
              <a:t> for elastic scaling, managing millions of dynamic data streams simultaneously.</a:t>
            </a:r>
          </a:p>
          <a:p>
            <a:r>
              <a:rPr lang="en-US" sz="1400" b="1" dirty="0"/>
              <a:t>Modular API Design:</a:t>
            </a:r>
            <a:r>
              <a:rPr lang="en-US" sz="1400" dirty="0"/>
              <a:t> Enables rapid integration and deployment across various </a:t>
            </a:r>
            <a:r>
              <a:rPr lang="en-US" sz="1400" b="1" dirty="0"/>
              <a:t>Smart City systems</a:t>
            </a:r>
            <a:r>
              <a:rPr lang="en-US" sz="1400" dirty="0"/>
              <a:t> and partner platforms.</a:t>
            </a:r>
          </a:p>
          <a:p>
            <a:pPr marL="0" indent="0">
              <a:buNone/>
            </a:pPr>
            <a:r>
              <a:rPr lang="en-US" sz="1400" b="1" dirty="0" smtClean="0"/>
              <a:t>Real-Time </a:t>
            </a:r>
            <a:r>
              <a:rPr lang="en-US" sz="1400" b="1" dirty="0"/>
              <a:t>Data Collection</a:t>
            </a:r>
          </a:p>
          <a:p>
            <a:r>
              <a:rPr lang="en-US" sz="1400" b="1" dirty="0"/>
              <a:t>Instant Traffic Visibility:</a:t>
            </a:r>
            <a:r>
              <a:rPr lang="en-US" sz="1400" dirty="0"/>
              <a:t> Collects precise, </a:t>
            </a:r>
            <a:r>
              <a:rPr lang="en-US" sz="1400" b="1" dirty="0"/>
              <a:t>real-time mobile telemetry</a:t>
            </a:r>
            <a:r>
              <a:rPr lang="en-US" sz="1400" dirty="0"/>
              <a:t> from commuters, transforming every phone into a dynamic sensor.</a:t>
            </a:r>
          </a:p>
          <a:p>
            <a:r>
              <a:rPr lang="en-US" sz="1400" b="1" dirty="0"/>
              <a:t>Proactive Prediction:</a:t>
            </a:r>
            <a:r>
              <a:rPr lang="en-US" sz="1400" dirty="0"/>
              <a:t> Moves beyond simple reporting to </a:t>
            </a:r>
            <a:r>
              <a:rPr lang="en-US" sz="1400" b="1" dirty="0"/>
              <a:t>predict congestion minutes in advance</a:t>
            </a:r>
            <a:r>
              <a:rPr lang="en-US" sz="1400" dirty="0"/>
              <a:t>, enabling true proactive traffic </a:t>
            </a:r>
            <a:r>
              <a:rPr lang="en-US" sz="1400" dirty="0" smtClean="0"/>
              <a:t>optimization</a:t>
            </a:r>
            <a:endParaRPr lang="en-US" sz="1400" dirty="0"/>
          </a:p>
          <a:p>
            <a:pPr marL="0" indent="0">
              <a:buNone/>
            </a:pPr>
            <a:r>
              <a:rPr lang="en-US" sz="1400" b="1" dirty="0" smtClean="0"/>
              <a:t> </a:t>
            </a:r>
            <a:r>
              <a:rPr lang="en-US" sz="1400" b="1" dirty="0"/>
              <a:t>Privacy-Preserving Federated Learning</a:t>
            </a:r>
          </a:p>
          <a:p>
            <a:r>
              <a:rPr lang="en-US" sz="1400" b="1" dirty="0"/>
              <a:t>Privacy by Design:</a:t>
            </a:r>
            <a:r>
              <a:rPr lang="en-US" sz="1400" dirty="0"/>
              <a:t> Uses cutting-edge </a:t>
            </a:r>
            <a:r>
              <a:rPr lang="en-US" sz="1400" b="1" dirty="0"/>
              <a:t>Federated Learning</a:t>
            </a:r>
            <a:r>
              <a:rPr lang="en-US" sz="1400" dirty="0"/>
              <a:t> techniques to analyze patterns without ever centralizing raw user data.</a:t>
            </a:r>
          </a:p>
          <a:p>
            <a:r>
              <a:rPr lang="en-US" sz="1400" b="1" dirty="0"/>
              <a:t>Secure Pattern Recognition:</a:t>
            </a:r>
            <a:r>
              <a:rPr lang="en-US" sz="1400" dirty="0"/>
              <a:t> Ensures user privacy is </a:t>
            </a:r>
            <a:r>
              <a:rPr lang="en-US" sz="1400" b="1" dirty="0"/>
              <a:t>absolutely guaranteed</a:t>
            </a:r>
            <a:r>
              <a:rPr lang="en-US" sz="1400" dirty="0"/>
              <a:t> while generating highly accurate models for dynamic re-routing.</a:t>
            </a:r>
          </a:p>
          <a:p>
            <a:pPr marL="0" indent="0">
              <a:buNone/>
            </a:pPr>
            <a:r>
              <a:rPr lang="en-US" sz="1400" b="1" dirty="0" smtClean="0"/>
              <a:t> </a:t>
            </a:r>
            <a:r>
              <a:rPr lang="en-US" sz="1400" b="1" dirty="0"/>
              <a:t>Interoperability &amp; Accessibility</a:t>
            </a:r>
          </a:p>
          <a:p>
            <a:r>
              <a:rPr lang="en-US" sz="1400" b="1" dirty="0"/>
              <a:t>Seamless Integration:</a:t>
            </a:r>
            <a:r>
              <a:rPr lang="en-US" sz="1400" dirty="0"/>
              <a:t> Full API support ensures </a:t>
            </a:r>
            <a:r>
              <a:rPr lang="en-US" sz="1400" b="1" dirty="0"/>
              <a:t>seamless connectivity</a:t>
            </a:r>
            <a:r>
              <a:rPr lang="en-US" sz="1400" dirty="0"/>
              <a:t> with all major navigation and city management systems.</a:t>
            </a:r>
          </a:p>
          <a:p>
            <a:r>
              <a:rPr lang="en-US" sz="1400" b="1" dirty="0"/>
              <a:t>Inclusive User Experience:</a:t>
            </a:r>
            <a:r>
              <a:rPr lang="en-US" sz="1400" dirty="0"/>
              <a:t> Features a </a:t>
            </a:r>
            <a:r>
              <a:rPr lang="en-US" sz="1400" b="1" dirty="0"/>
              <a:t>Vernacular AI Voice Interface</a:t>
            </a:r>
            <a:r>
              <a:rPr lang="en-US" sz="1400" dirty="0"/>
              <a:t> to ensure accessibility and ease of use for diverse users across India.</a:t>
            </a:r>
          </a:p>
        </p:txBody>
      </p:sp>
      <p:sp>
        <p:nvSpPr>
          <p:cNvPr id="6" name="Date Placeholder 5">
            <a:extLst>
              <a:ext uri="{FF2B5EF4-FFF2-40B4-BE49-F238E27FC236}">
                <a16:creationId xmlns:a16="http://schemas.microsoft.com/office/drawing/2014/main" xmlns="" id="{E246CA3D-4579-AE1D-851C-A24722B095E7}"/>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Tree>
    <p:extLst>
      <p:ext uri="{BB962C8B-B14F-4D97-AF65-F5344CB8AC3E}">
        <p14:creationId xmlns:p14="http://schemas.microsoft.com/office/powerpoint/2010/main" val="2916607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4BBBE2-B2C9-0A8D-AD37-9E6FFB2F7F28}"/>
              </a:ext>
            </a:extLst>
          </p:cNvPr>
          <p:cNvSpPr>
            <a:spLocks noGrp="1"/>
          </p:cNvSpPr>
          <p:nvPr>
            <p:ph type="title"/>
          </p:nvPr>
        </p:nvSpPr>
        <p:spPr>
          <a:xfrm>
            <a:off x="152400" y="76200"/>
            <a:ext cx="10210800" cy="990600"/>
          </a:xfrm>
        </p:spPr>
        <p:txBody>
          <a:bodyPr anchor="t">
            <a:noAutofit/>
          </a:bodyPr>
          <a:lstStyle/>
          <a:p>
            <a:r>
              <a:rPr lang="en-US" sz="3600" dirty="0" smtClean="0"/>
              <a:t>Solution Sketch</a:t>
            </a:r>
            <a:endParaRPr lang="en-US" sz="3600" dirty="0"/>
          </a:p>
        </p:txBody>
      </p:sp>
      <p:sp>
        <p:nvSpPr>
          <p:cNvPr id="6" name="Date Placeholder 5">
            <a:extLst>
              <a:ext uri="{FF2B5EF4-FFF2-40B4-BE49-F238E27FC236}">
                <a16:creationId xmlns:a16="http://schemas.microsoft.com/office/drawing/2014/main" xmlns="" id="{E246CA3D-4579-AE1D-851C-A24722B095E7}"/>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490" y="762000"/>
            <a:ext cx="9947910" cy="6033110"/>
          </a:xfrm>
          <a:prstGeom prst="rect">
            <a:avLst/>
          </a:prstGeom>
        </p:spPr>
      </p:pic>
    </p:spTree>
    <p:extLst>
      <p:ext uri="{BB962C8B-B14F-4D97-AF65-F5344CB8AC3E}">
        <p14:creationId xmlns:p14="http://schemas.microsoft.com/office/powerpoint/2010/main" val="105446200"/>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7A4213-2E5E-BAE2-B7A5-1973321E1961}"/>
              </a:ext>
            </a:extLst>
          </p:cNvPr>
          <p:cNvSpPr>
            <a:spLocks noGrp="1"/>
          </p:cNvSpPr>
          <p:nvPr>
            <p:ph type="title"/>
          </p:nvPr>
        </p:nvSpPr>
        <p:spPr/>
        <p:txBody>
          <a:bodyPr anchor="b">
            <a:normAutofit/>
          </a:bodyPr>
          <a:lstStyle/>
          <a:p>
            <a:r>
              <a:rPr lang="en-US"/>
              <a:t>Sustainable AI Implementation</a:t>
            </a:r>
          </a:p>
        </p:txBody>
      </p:sp>
      <p:sp>
        <p:nvSpPr>
          <p:cNvPr id="5" name="Date Placeholder 4">
            <a:extLst>
              <a:ext uri="{FF2B5EF4-FFF2-40B4-BE49-F238E27FC236}">
                <a16:creationId xmlns:a16="http://schemas.microsoft.com/office/drawing/2014/main" xmlns="" id="{103AA985-8D62-9330-131C-BC303268E02A}"/>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2140650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8B8927-F713-C18D-6A7E-E1FD1238E73E}"/>
              </a:ext>
            </a:extLst>
          </p:cNvPr>
          <p:cNvSpPr>
            <a:spLocks noGrp="1"/>
          </p:cNvSpPr>
          <p:nvPr>
            <p:ph type="title"/>
          </p:nvPr>
        </p:nvSpPr>
        <p:spPr>
          <a:xfrm>
            <a:off x="152400" y="377072"/>
            <a:ext cx="5943599" cy="1225485"/>
          </a:xfrm>
        </p:spPr>
        <p:txBody>
          <a:bodyPr anchor="t">
            <a:normAutofit fontScale="90000"/>
          </a:bodyPr>
          <a:lstStyle/>
          <a:p>
            <a:r>
              <a:rPr lang="en-US" dirty="0"/>
              <a:t>Eco-Friendly Routing and Emission Reduction</a:t>
            </a:r>
          </a:p>
        </p:txBody>
      </p:sp>
      <p:pic>
        <p:nvPicPr>
          <p:cNvPr id="8" name="Content Placeholder 7" descr="Smart Phone Showing Credit Score On A Screen">
            <a:extLst>
              <a:ext uri="{FF2B5EF4-FFF2-40B4-BE49-F238E27FC236}">
                <a16:creationId xmlns:a16="http://schemas.microsoft.com/office/drawing/2014/main" xmlns="" id="{62724C83-26B0-4904-ACC7-53D8A9073E2F}"/>
              </a:ext>
            </a:extLst>
          </p:cNvPr>
          <p:cNvPicPr>
            <a:picLocks noGrp="1" noChangeAspect="1"/>
          </p:cNvPicPr>
          <p:nvPr>
            <p:ph type="pic" sz="quarter" idx="13"/>
          </p:nvPr>
        </p:nvPicPr>
        <p:blipFill>
          <a:blip r:embed="rId3"/>
          <a:srcRect l="7797" r="7797"/>
          <a:stretch>
            <a:fillRect/>
          </a:stretch>
        </p:blipFill>
        <p:spPr>
          <a:prstGeom prst="rect">
            <a:avLst/>
          </a:prstGeom>
          <a:noFill/>
        </p:spPr>
      </p:pic>
      <p:sp>
        <p:nvSpPr>
          <p:cNvPr id="4" name="Content Placeholder 3">
            <a:extLst>
              <a:ext uri="{FF2B5EF4-FFF2-40B4-BE49-F238E27FC236}">
                <a16:creationId xmlns:a16="http://schemas.microsoft.com/office/drawing/2014/main" xmlns="" id="{8B86CCCA-0737-75BB-BFA4-2BB13D5B39AA}"/>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p:txBody>
          <a:bodyPr>
            <a:normAutofit/>
          </a:bodyPr>
          <a:lstStyle/>
          <a:p>
            <a:pPr marL="0" indent="0">
              <a:buNone/>
            </a:pPr>
            <a:r>
              <a:rPr lang="en-US" sz="1400" b="1" dirty="0" smtClean="0"/>
              <a:t> </a:t>
            </a:r>
            <a:r>
              <a:rPr lang="en-US" sz="1400" b="1" dirty="0"/>
              <a:t>Privacy-First Sustainable AI</a:t>
            </a:r>
          </a:p>
          <a:p>
            <a:r>
              <a:rPr lang="en-US" sz="1400" b="1" dirty="0"/>
              <a:t>Decentralized Intelligence:</a:t>
            </a:r>
            <a:r>
              <a:rPr lang="en-US" sz="1400" dirty="0"/>
              <a:t> Leverages </a:t>
            </a:r>
            <a:r>
              <a:rPr lang="en-US" sz="1400" b="1" dirty="0"/>
              <a:t>Federated Learning</a:t>
            </a:r>
            <a:r>
              <a:rPr lang="en-US" sz="1400" dirty="0"/>
              <a:t> to process data locally, dramatically reducing cloud usage and the associated carbon footprint.</a:t>
            </a:r>
          </a:p>
          <a:p>
            <a:r>
              <a:rPr lang="en-US" sz="1400" b="1" dirty="0"/>
              <a:t>Guaranteed Privacy:</a:t>
            </a:r>
            <a:r>
              <a:rPr lang="en-US" sz="1400" dirty="0"/>
              <a:t> Analyzes traffic patterns without ever accessing or storing raw, personal user location data.</a:t>
            </a:r>
          </a:p>
          <a:p>
            <a:pPr marL="0" indent="0">
              <a:buNone/>
            </a:pPr>
            <a:r>
              <a:rPr lang="en-US" sz="1400" b="1" dirty="0" smtClean="0"/>
              <a:t> </a:t>
            </a:r>
            <a:r>
              <a:rPr lang="en-US" sz="1400" b="1" dirty="0"/>
              <a:t>Actionable Environmental Impact</a:t>
            </a:r>
          </a:p>
          <a:p>
            <a:r>
              <a:rPr lang="en-US" sz="1400" b="1" dirty="0"/>
              <a:t>Instant CO₂ Visualization:</a:t>
            </a:r>
            <a:r>
              <a:rPr lang="en-US" sz="1400" dirty="0"/>
              <a:t> Calculates and displays </a:t>
            </a:r>
            <a:r>
              <a:rPr lang="en-US" sz="1400" b="1" dirty="0"/>
              <a:t>real-time CO₂ savings per route</a:t>
            </a:r>
            <a:r>
              <a:rPr lang="en-US" sz="1400" dirty="0"/>
              <a:t>, making the environmental benefit tangible and personal for the user.</a:t>
            </a:r>
          </a:p>
          <a:p>
            <a:r>
              <a:rPr lang="en-US" sz="1400" b="1" dirty="0"/>
              <a:t>Fuel &amp; Time Savings:</a:t>
            </a:r>
            <a:r>
              <a:rPr lang="en-US" sz="1400" dirty="0"/>
              <a:t> Utilizes powerful </a:t>
            </a:r>
            <a:r>
              <a:rPr lang="en-US" sz="1400" b="1" dirty="0"/>
              <a:t>Predictive Traffic Analysis</a:t>
            </a:r>
            <a:r>
              <a:rPr lang="en-US" sz="1400" dirty="0"/>
              <a:t> to anticipate and re-route around congestion, immediately lowering fuel consumption and emissions.</a:t>
            </a:r>
          </a:p>
          <a:p>
            <a:pPr marL="0" indent="0">
              <a:buNone/>
            </a:pPr>
            <a:r>
              <a:rPr lang="en-US" sz="1400" b="1" dirty="0" smtClean="0"/>
              <a:t>The </a:t>
            </a:r>
            <a:r>
              <a:rPr lang="en-US" sz="1400" b="1" dirty="0" err="1"/>
              <a:t>GreenPoints</a:t>
            </a:r>
            <a:r>
              <a:rPr lang="en-US" sz="1400" b="1" dirty="0"/>
              <a:t> Incentive Engine</a:t>
            </a:r>
          </a:p>
          <a:p>
            <a:r>
              <a:rPr lang="en-US" sz="1400" b="1" dirty="0"/>
              <a:t>Driving Behavior Change:</a:t>
            </a:r>
            <a:r>
              <a:rPr lang="en-US" sz="1400" dirty="0"/>
              <a:t> Users earn </a:t>
            </a:r>
            <a:r>
              <a:rPr lang="en-US" sz="1400" b="1" dirty="0" err="1"/>
              <a:t>GreenPoints</a:t>
            </a:r>
            <a:r>
              <a:rPr lang="en-US" sz="1400" dirty="0"/>
              <a:t> for every sustainable choice (eco-routing, ride-sharing, etc.).</a:t>
            </a:r>
          </a:p>
          <a:p>
            <a:r>
              <a:rPr lang="en-US" sz="1400" b="1" dirty="0"/>
              <a:t>High-Value Rewards:</a:t>
            </a:r>
            <a:r>
              <a:rPr lang="en-US" sz="1400" dirty="0"/>
              <a:t> Points are redeemable for direct financial benefits, including </a:t>
            </a:r>
            <a:r>
              <a:rPr lang="en-US" sz="1400" b="1" dirty="0"/>
              <a:t>fuel discounts, EV charging credits,</a:t>
            </a:r>
            <a:r>
              <a:rPr lang="en-US" sz="1400" dirty="0"/>
              <a:t> and retail coupons.</a:t>
            </a:r>
          </a:p>
        </p:txBody>
      </p:sp>
      <p:sp>
        <p:nvSpPr>
          <p:cNvPr id="6" name="Date Placeholder 5">
            <a:extLst>
              <a:ext uri="{FF2B5EF4-FFF2-40B4-BE49-F238E27FC236}">
                <a16:creationId xmlns:a16="http://schemas.microsoft.com/office/drawing/2014/main" xmlns="" id="{FB196675-9723-B9D4-B20E-5F982E60FBE7}"/>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Tree>
    <p:extLst>
      <p:ext uri="{BB962C8B-B14F-4D97-AF65-F5344CB8AC3E}">
        <p14:creationId xmlns:p14="http://schemas.microsoft.com/office/powerpoint/2010/main" val="1349235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1610BB-4522-8D14-DDF4-1053DFE10C40}"/>
              </a:ext>
            </a:extLst>
          </p:cNvPr>
          <p:cNvSpPr>
            <a:spLocks noGrp="1"/>
          </p:cNvSpPr>
          <p:nvPr>
            <p:ph type="title"/>
          </p:nvPr>
        </p:nvSpPr>
        <p:spPr/>
        <p:txBody>
          <a:bodyPr anchor="b">
            <a:normAutofit/>
          </a:bodyPr>
          <a:lstStyle/>
          <a:p>
            <a:r>
              <a:rPr lang="en-US"/>
              <a:t>Innovation and Differentiation</a:t>
            </a:r>
          </a:p>
        </p:txBody>
      </p:sp>
      <p:sp>
        <p:nvSpPr>
          <p:cNvPr id="5" name="Date Placeholder 4">
            <a:extLst>
              <a:ext uri="{FF2B5EF4-FFF2-40B4-BE49-F238E27FC236}">
                <a16:creationId xmlns:a16="http://schemas.microsoft.com/office/drawing/2014/main" xmlns="" id="{F2FB8808-ED92-447F-0184-9603D181BDF6}"/>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2477763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EC2661-55E5-4F00-0CF1-068141930AA8}"/>
              </a:ext>
            </a:extLst>
          </p:cNvPr>
          <p:cNvSpPr>
            <a:spLocks noGrp="1"/>
          </p:cNvSpPr>
          <p:nvPr>
            <p:ph type="title"/>
          </p:nvPr>
        </p:nvSpPr>
        <p:spPr>
          <a:xfrm>
            <a:off x="0" y="377072"/>
            <a:ext cx="7315200" cy="1225485"/>
          </a:xfrm>
        </p:spPr>
        <p:txBody>
          <a:bodyPr anchor="t">
            <a:normAutofit fontScale="90000"/>
          </a:bodyPr>
          <a:lstStyle/>
          <a:p>
            <a:r>
              <a:rPr lang="en-US" dirty="0"/>
              <a:t>Gamified Engagement &amp; Hyperlocal Intelligence</a:t>
            </a:r>
          </a:p>
        </p:txBody>
      </p:sp>
      <p:pic>
        <p:nvPicPr>
          <p:cNvPr id="8" name="Content Placeholder 7" descr="Man uses his phone to get directions to his destination">
            <a:extLst>
              <a:ext uri="{FF2B5EF4-FFF2-40B4-BE49-F238E27FC236}">
                <a16:creationId xmlns:a16="http://schemas.microsoft.com/office/drawing/2014/main" xmlns="" id="{6BC5D0EF-8635-4855-836C-3CB459C01F59}"/>
              </a:ext>
            </a:extLst>
          </p:cNvPr>
          <p:cNvPicPr>
            <a:picLocks noGrp="1" noChangeAspect="1"/>
          </p:cNvPicPr>
          <p:nvPr>
            <p:ph type="pic" sz="quarter" idx="13"/>
          </p:nvPr>
        </p:nvPicPr>
        <p:blipFill>
          <a:blip r:embed="rId3"/>
          <a:srcRect l="7735" r="7735"/>
          <a:stretch>
            <a:fillRect/>
          </a:stretch>
        </p:blipFill>
        <p:spPr>
          <a:prstGeom prst="rect">
            <a:avLst/>
          </a:prstGeom>
          <a:noFill/>
        </p:spPr>
      </p:pic>
      <p:sp>
        <p:nvSpPr>
          <p:cNvPr id="4" name="Content Placeholder 3">
            <a:extLst>
              <a:ext uri="{FF2B5EF4-FFF2-40B4-BE49-F238E27FC236}">
                <a16:creationId xmlns:a16="http://schemas.microsoft.com/office/drawing/2014/main" xmlns="" id="{6C9DAF4B-CD52-B898-131A-4871B69EBBD9}"/>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28657" y="830328"/>
            <a:ext cx="5558655" cy="5797484"/>
          </a:xfrm>
        </p:spPr>
        <p:txBody>
          <a:bodyPr>
            <a:normAutofit fontScale="92500" lnSpcReduction="10000"/>
          </a:bodyPr>
          <a:lstStyle/>
          <a:p>
            <a:pPr marL="0" indent="0">
              <a:buNone/>
            </a:pPr>
            <a:r>
              <a:rPr lang="en-US" sz="1400" b="1" dirty="0" smtClean="0"/>
              <a:t> </a:t>
            </a:r>
            <a:r>
              <a:rPr lang="en-US" sz="1400" b="1" dirty="0"/>
              <a:t>AI-Powered </a:t>
            </a:r>
            <a:r>
              <a:rPr lang="en-US" sz="1400" b="1" dirty="0" err="1"/>
              <a:t>Hyperlocal</a:t>
            </a:r>
            <a:r>
              <a:rPr lang="en-US" sz="1400" b="1" dirty="0"/>
              <a:t> Intelligence</a:t>
            </a:r>
          </a:p>
          <a:p>
            <a:r>
              <a:rPr lang="en-US" sz="1400" dirty="0"/>
              <a:t>We go beyond typical traffic data using unique, real-time insights:</a:t>
            </a:r>
          </a:p>
          <a:p>
            <a:r>
              <a:rPr lang="en-US" sz="1400" b="1" dirty="0" err="1"/>
              <a:t>Hyperlocal</a:t>
            </a:r>
            <a:r>
              <a:rPr lang="en-US" sz="1400" b="1" dirty="0"/>
              <a:t> Hazard Reporting:</a:t>
            </a:r>
            <a:r>
              <a:rPr lang="en-US" sz="1400" dirty="0"/>
              <a:t> Users submit real-time data on unique Indian traffic hazards like potholes, illegal parking, and stray cattle, drastically improving map accuracy and safety.</a:t>
            </a:r>
          </a:p>
          <a:p>
            <a:r>
              <a:rPr lang="en-US" sz="1400" b="1" dirty="0"/>
              <a:t>Green Route Priority:</a:t>
            </a:r>
            <a:r>
              <a:rPr lang="en-US" sz="1400" dirty="0"/>
              <a:t> Our algorithms prioritize </a:t>
            </a:r>
            <a:r>
              <a:rPr lang="en-US" sz="1400" b="1" dirty="0"/>
              <a:t>green route options</a:t>
            </a:r>
            <a:r>
              <a:rPr lang="en-US" sz="1400" dirty="0"/>
              <a:t> using </a:t>
            </a:r>
            <a:r>
              <a:rPr lang="en-US" sz="1400" dirty="0" err="1"/>
              <a:t>crowdsourced</a:t>
            </a:r>
            <a:r>
              <a:rPr lang="en-US" sz="1400" dirty="0"/>
              <a:t> data, not just the fastest, ensuring navigation actively reduces congestion and emissions.</a:t>
            </a:r>
          </a:p>
          <a:p>
            <a:pPr marL="0" indent="0">
              <a:buNone/>
            </a:pPr>
            <a:r>
              <a:rPr lang="en-US" sz="1400" b="1" dirty="0" smtClean="0"/>
              <a:t> </a:t>
            </a:r>
            <a:r>
              <a:rPr lang="en-US" sz="1400" b="1" dirty="0"/>
              <a:t>Ecosystem &amp; Accessibility</a:t>
            </a:r>
          </a:p>
          <a:p>
            <a:r>
              <a:rPr lang="en-US" sz="1400" dirty="0"/>
              <a:t>We integrate seamlessly and are built for all of India:</a:t>
            </a:r>
          </a:p>
          <a:p>
            <a:r>
              <a:rPr lang="en-US" sz="1400" b="1" dirty="0"/>
              <a:t>Seamless Integration:</a:t>
            </a:r>
            <a:r>
              <a:rPr lang="en-US" sz="1400" dirty="0"/>
              <a:t> Full API support for partners including </a:t>
            </a:r>
            <a:r>
              <a:rPr lang="en-US" sz="1400" b="1" dirty="0"/>
              <a:t>Google Maps, Smart City Systems, and ride-hailing apps</a:t>
            </a:r>
            <a:r>
              <a:rPr lang="en-US" sz="1400" dirty="0"/>
              <a:t>, enabling instant reporting for ESG dashboards.</a:t>
            </a:r>
          </a:p>
          <a:p>
            <a:r>
              <a:rPr lang="en-US" sz="1400" b="1" dirty="0"/>
              <a:t>Vernacular AI Support:</a:t>
            </a:r>
            <a:r>
              <a:rPr lang="en-US" sz="1400" dirty="0"/>
              <a:t> Features native language support via </a:t>
            </a:r>
            <a:r>
              <a:rPr lang="en-US" sz="1400" b="1" dirty="0"/>
              <a:t>Vernacular AI</a:t>
            </a:r>
            <a:r>
              <a:rPr lang="en-US" sz="1400" dirty="0"/>
              <a:t>, making the entire system accessible and usable across India's diverse communities.</a:t>
            </a:r>
          </a:p>
          <a:p>
            <a:pPr marL="0" indent="0">
              <a:buNone/>
            </a:pPr>
            <a:r>
              <a:rPr lang="en-US" sz="1400" b="1" dirty="0" smtClean="0"/>
              <a:t> </a:t>
            </a:r>
            <a:r>
              <a:rPr lang="en-US" sz="1400" b="1" dirty="0" err="1"/>
              <a:t>Gamified</a:t>
            </a:r>
            <a:r>
              <a:rPr lang="en-US" sz="1400" b="1" dirty="0"/>
              <a:t> Behavior Change</a:t>
            </a:r>
          </a:p>
          <a:p>
            <a:r>
              <a:rPr lang="en-US" sz="1400" dirty="0"/>
              <a:t>We transform the user experience from passive driving to active </a:t>
            </a:r>
            <a:r>
              <a:rPr lang="en-US" sz="1400" dirty="0" smtClean="0"/>
              <a:t>participation.</a:t>
            </a:r>
            <a:endParaRPr lang="en-US" sz="1400" dirty="0"/>
          </a:p>
          <a:p>
            <a:r>
              <a:rPr lang="en-US" sz="1400" b="1" dirty="0" err="1"/>
              <a:t>Gamified</a:t>
            </a:r>
            <a:r>
              <a:rPr lang="en-US" sz="1400" b="1" dirty="0"/>
              <a:t> Eco Rewards:</a:t>
            </a:r>
            <a:r>
              <a:rPr lang="en-US" sz="1400" dirty="0"/>
              <a:t> Our </a:t>
            </a:r>
            <a:r>
              <a:rPr lang="en-US" sz="1400" b="1" dirty="0" err="1"/>
              <a:t>GreenPoints</a:t>
            </a:r>
            <a:r>
              <a:rPr lang="en-US" sz="1400" dirty="0"/>
              <a:t> ecosystem rewards users for sustainable actions, creating a high-retention loop that directly encourages eco-friendly behavior and civic engagement.</a:t>
            </a:r>
          </a:p>
          <a:p>
            <a:pPr marL="0" lvl="1" indent="0">
              <a:buFont typeface="Arial" panose="020B0604020202020204" pitchFamily="34" charset="0"/>
              <a:buNone/>
            </a:pPr>
            <a:endParaRPr lang="en-US" sz="1400" dirty="0"/>
          </a:p>
        </p:txBody>
      </p:sp>
      <p:sp>
        <p:nvSpPr>
          <p:cNvPr id="6" name="Date Placeholder 5">
            <a:extLst>
              <a:ext uri="{FF2B5EF4-FFF2-40B4-BE49-F238E27FC236}">
                <a16:creationId xmlns:a16="http://schemas.microsoft.com/office/drawing/2014/main" xmlns="" id="{C840EDEE-07E7-A8C6-88B4-FA4326CBC084}"/>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
        <p:nvSpPr>
          <p:cNvPr id="7" name="Slide Number Placeholder 6">
            <a:extLst>
              <a:ext uri="{FF2B5EF4-FFF2-40B4-BE49-F238E27FC236}">
                <a16:creationId xmlns:a16="http://schemas.microsoft.com/office/drawing/2014/main" xmlns="" id="{70084073-058D-E15B-D5EA-512731583521}"/>
              </a:ext>
            </a:extLst>
          </p:cNvPr>
          <p:cNvSpPr>
            <a:spLocks noGrp="1"/>
          </p:cNvSpPr>
          <p:nvPr>
            <p:ph type="sldNum" sz="quarter" idx="4294967295"/>
          </p:nvPr>
        </p:nvSpPr>
        <p:spPr>
          <a:xfrm>
            <a:off x="11734800" y="6445250"/>
            <a:ext cx="457200" cy="365125"/>
          </a:xfrm>
        </p:spPr>
        <p:txBody>
          <a:bodyPr anchor="ctr">
            <a:normAutofit fontScale="62500" lnSpcReduction="20000"/>
          </a:bodyPr>
          <a:lstStyle/>
          <a:p>
            <a:pPr>
              <a:spcAft>
                <a:spcPts val="600"/>
              </a:spcAft>
            </a:pPr>
            <a:fld id="{DDF60B60-82CA-4BB9-BA6E-A62FADF2374B}" type="slidenum">
              <a:rPr lang="en-US" smtClean="0"/>
              <a:pPr>
                <a:spcAft>
                  <a:spcPts val="600"/>
                </a:spcAft>
              </a:pPr>
              <a:t>10</a:t>
            </a:fld>
            <a:endParaRPr lang="en-US"/>
          </a:p>
        </p:txBody>
      </p:sp>
    </p:spTree>
    <p:extLst>
      <p:ext uri="{BB962C8B-B14F-4D97-AF65-F5344CB8AC3E}">
        <p14:creationId xmlns:p14="http://schemas.microsoft.com/office/powerpoint/2010/main" val="12850685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7523F9-BD58-8603-DB42-C523BBAD554E}"/>
              </a:ext>
            </a:extLst>
          </p:cNvPr>
          <p:cNvSpPr>
            <a:spLocks noGrp="1"/>
          </p:cNvSpPr>
          <p:nvPr>
            <p:ph type="title"/>
          </p:nvPr>
        </p:nvSpPr>
        <p:spPr/>
        <p:txBody>
          <a:bodyPr anchor="b">
            <a:normAutofit/>
          </a:bodyPr>
          <a:lstStyle/>
          <a:p>
            <a:r>
              <a:rPr lang="en-US"/>
              <a:t>Implementation and Roadmap</a:t>
            </a:r>
          </a:p>
        </p:txBody>
      </p:sp>
      <p:sp>
        <p:nvSpPr>
          <p:cNvPr id="5" name="Date Placeholder 4">
            <a:extLst>
              <a:ext uri="{FF2B5EF4-FFF2-40B4-BE49-F238E27FC236}">
                <a16:creationId xmlns:a16="http://schemas.microsoft.com/office/drawing/2014/main" xmlns="" id="{02E4FE47-DAA5-356A-1084-3967EF9DBE80}"/>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3375587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9BC802-C235-5288-3470-1DA42B762CB3}"/>
              </a:ext>
            </a:extLst>
          </p:cNvPr>
          <p:cNvSpPr>
            <a:spLocks noGrp="1"/>
          </p:cNvSpPr>
          <p:nvPr>
            <p:ph type="title"/>
          </p:nvPr>
        </p:nvSpPr>
        <p:spPr/>
        <p:txBody>
          <a:bodyPr anchor="t">
            <a:normAutofit fontScale="90000"/>
          </a:bodyPr>
          <a:lstStyle/>
          <a:p>
            <a:r>
              <a:rPr lang="en-US"/>
              <a:t>Phased Rollout Strategy</a:t>
            </a:r>
          </a:p>
        </p:txBody>
      </p:sp>
      <p:pic>
        <p:nvPicPr>
          <p:cNvPr id="8" name="Content Placeholder 7" descr="Driverless self drive autopilot vehicle">
            <a:extLst>
              <a:ext uri="{FF2B5EF4-FFF2-40B4-BE49-F238E27FC236}">
                <a16:creationId xmlns:a16="http://schemas.microsoft.com/office/drawing/2014/main" xmlns="" id="{08F51971-CC52-4F7C-B9A6-397448A2B124}"/>
              </a:ext>
            </a:extLst>
          </p:cNvPr>
          <p:cNvPicPr>
            <a:picLocks noGrp="1" noChangeAspect="1"/>
          </p:cNvPicPr>
          <p:nvPr>
            <p:ph type="pic" sz="quarter" idx="13"/>
          </p:nvPr>
        </p:nvPicPr>
        <p:blipFill>
          <a:blip r:embed="rId3"/>
          <a:srcRect l="14413" r="14413"/>
          <a:stretch>
            <a:fillRect/>
          </a:stretch>
        </p:blipFill>
        <p:spPr>
          <a:prstGeom prst="rect">
            <a:avLst/>
          </a:prstGeom>
          <a:noFill/>
        </p:spPr>
      </p:pic>
      <p:sp>
        <p:nvSpPr>
          <p:cNvPr id="4" name="Content Placeholder 3">
            <a:extLst>
              <a:ext uri="{FF2B5EF4-FFF2-40B4-BE49-F238E27FC236}">
                <a16:creationId xmlns:a16="http://schemas.microsoft.com/office/drawing/2014/main" xmlns="" id="{B11AC041-CE5C-522F-8084-C4C58BF470FE}"/>
              </a:ext>
            </a:extLst>
          </p:cNvPr>
          <p:cNvSpPr>
            <a:spLocks noGrp="1"/>
          </p:cNvSpPr>
          <p:nvPr>
            <p:ph idx="1"/>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76145" y="1132788"/>
            <a:ext cx="5558655" cy="5797484"/>
          </a:xfrm>
        </p:spPr>
        <p:txBody>
          <a:bodyPr>
            <a:normAutofit/>
          </a:bodyPr>
          <a:lstStyle/>
          <a:p>
            <a:pPr marL="0" indent="0">
              <a:spcBef>
                <a:spcPts val="2500"/>
              </a:spcBef>
              <a:buFont typeface="Arial" panose="020B0604020202020204" pitchFamily="34" charset="0"/>
              <a:buNone/>
            </a:pPr>
            <a:r>
              <a:rPr lang="en-US" sz="1400" b="1" dirty="0"/>
              <a:t>Phase 1: Prototype and Pilot</a:t>
            </a:r>
          </a:p>
          <a:p>
            <a:pPr marL="0" lvl="1" indent="0">
              <a:buFont typeface="Arial" panose="020B0604020202020204" pitchFamily="34" charset="0"/>
              <a:buNone/>
            </a:pPr>
            <a:r>
              <a:rPr lang="en-US" sz="1400" dirty="0"/>
              <a:t>Launch prototype and pilot in Pune and Hyderabad with 50,000 users and key partnerships.</a:t>
            </a:r>
          </a:p>
          <a:p>
            <a:pPr marL="0" indent="0">
              <a:spcBef>
                <a:spcPts val="2500"/>
              </a:spcBef>
              <a:buFont typeface="Arial" panose="020B0604020202020204" pitchFamily="34" charset="0"/>
              <a:buNone/>
            </a:pPr>
            <a:r>
              <a:rPr lang="en-US" sz="1400" b="1" dirty="0"/>
              <a:t>Phase 2: Metro Expansion and Rewards</a:t>
            </a:r>
          </a:p>
          <a:p>
            <a:pPr marL="0" lvl="1" indent="0">
              <a:buFont typeface="Arial" panose="020B0604020202020204" pitchFamily="34" charset="0"/>
              <a:buNone/>
            </a:pPr>
            <a:r>
              <a:rPr lang="en-US" sz="1400" dirty="0"/>
              <a:t>Expand app to five major metros and introduce </a:t>
            </a:r>
            <a:r>
              <a:rPr lang="en-US" sz="1400" dirty="0" err="1"/>
              <a:t>GreenPoints</a:t>
            </a:r>
            <a:r>
              <a:rPr lang="en-US" sz="1400" dirty="0"/>
              <a:t> rewards marketplace for users.</a:t>
            </a:r>
          </a:p>
          <a:p>
            <a:pPr marL="0" indent="0">
              <a:spcBef>
                <a:spcPts val="2500"/>
              </a:spcBef>
              <a:buFont typeface="Arial" panose="020B0604020202020204" pitchFamily="34" charset="0"/>
              <a:buNone/>
            </a:pPr>
            <a:r>
              <a:rPr lang="en-US" sz="1400" b="1" dirty="0"/>
              <a:t>Phase 3: Scale and Integration</a:t>
            </a:r>
          </a:p>
          <a:p>
            <a:pPr marL="0" lvl="1" indent="0">
              <a:buFont typeface="Arial" panose="020B0604020202020204" pitchFamily="34" charset="0"/>
              <a:buNone/>
            </a:pPr>
            <a:r>
              <a:rPr lang="en-US" sz="1400" dirty="0"/>
              <a:t>Scale platform to ten cities integrating Smart City ATCS and enhancing ESG analytics.</a:t>
            </a:r>
          </a:p>
          <a:p>
            <a:pPr marL="0" indent="0">
              <a:spcBef>
                <a:spcPts val="2500"/>
              </a:spcBef>
              <a:buFont typeface="Arial" panose="020B0604020202020204" pitchFamily="34" charset="0"/>
              <a:buNone/>
            </a:pPr>
            <a:r>
              <a:rPr lang="en-US" sz="1400" b="1" dirty="0"/>
              <a:t>Strategic Roadmap Benefits</a:t>
            </a:r>
          </a:p>
          <a:p>
            <a:pPr marL="0" lvl="1" indent="0">
              <a:buFont typeface="Arial" panose="020B0604020202020204" pitchFamily="34" charset="0"/>
              <a:buNone/>
            </a:pPr>
            <a:r>
              <a:rPr lang="en-US" sz="1400" dirty="0"/>
              <a:t>Phased rollout ensures measurable impact, validates solutions, and builds a strong ecosystem.</a:t>
            </a:r>
          </a:p>
        </p:txBody>
      </p:sp>
      <p:sp>
        <p:nvSpPr>
          <p:cNvPr id="6" name="Date Placeholder 5">
            <a:extLst>
              <a:ext uri="{FF2B5EF4-FFF2-40B4-BE49-F238E27FC236}">
                <a16:creationId xmlns:a16="http://schemas.microsoft.com/office/drawing/2014/main" xmlns="" id="{6035F827-ACA0-B290-E627-9C4F9A9F18EC}"/>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Tree>
    <p:extLst>
      <p:ext uri="{BB962C8B-B14F-4D97-AF65-F5344CB8AC3E}">
        <p14:creationId xmlns:p14="http://schemas.microsoft.com/office/powerpoint/2010/main" val="2047490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F023A8-F7CF-1553-5B1A-83A4CB6AC206}"/>
              </a:ext>
            </a:extLst>
          </p:cNvPr>
          <p:cNvSpPr>
            <a:spLocks noGrp="1"/>
          </p:cNvSpPr>
          <p:nvPr>
            <p:ph type="title"/>
          </p:nvPr>
        </p:nvSpPr>
        <p:spPr/>
        <p:txBody>
          <a:bodyPr anchor="b">
            <a:normAutofit/>
          </a:bodyPr>
          <a:lstStyle/>
          <a:p>
            <a:r>
              <a:rPr lang="en-US"/>
              <a:t>Market Validation and Impact Potential</a:t>
            </a:r>
          </a:p>
        </p:txBody>
      </p:sp>
      <p:sp>
        <p:nvSpPr>
          <p:cNvPr id="5" name="Date Placeholder 4">
            <a:extLst>
              <a:ext uri="{FF2B5EF4-FFF2-40B4-BE49-F238E27FC236}">
                <a16:creationId xmlns:a16="http://schemas.microsoft.com/office/drawing/2014/main" xmlns="" id="{3F2EA587-460C-0351-6ED4-FA22050B682C}"/>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9696980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CC0102-B675-ECB3-EEB5-5FDB34E3D6A6}"/>
              </a:ext>
            </a:extLst>
          </p:cNvPr>
          <p:cNvSpPr>
            <a:spLocks noGrp="1"/>
          </p:cNvSpPr>
          <p:nvPr>
            <p:ph type="title"/>
          </p:nvPr>
        </p:nvSpPr>
        <p:spPr>
          <a:xfrm>
            <a:off x="457200" y="152400"/>
            <a:ext cx="4958078" cy="1225485"/>
          </a:xfrm>
        </p:spPr>
        <p:txBody>
          <a:bodyPr anchor="t">
            <a:normAutofit fontScale="90000"/>
          </a:bodyPr>
          <a:lstStyle/>
          <a:p>
            <a:r>
              <a:rPr lang="en-US" dirty="0"/>
              <a:t>Addressable Market and Growth Forecast</a:t>
            </a:r>
          </a:p>
        </p:txBody>
      </p:sp>
      <p:pic>
        <p:nvPicPr>
          <p:cNvPr id="8" name="Content Placeholder 7" descr="Man using phone while waiting for transportation at roadside during rush hour">
            <a:extLst>
              <a:ext uri="{FF2B5EF4-FFF2-40B4-BE49-F238E27FC236}">
                <a16:creationId xmlns:a16="http://schemas.microsoft.com/office/drawing/2014/main" xmlns="" id="{E8269DBC-ED31-4FAD-8190-381FAA0F1573}"/>
              </a:ext>
            </a:extLst>
          </p:cNvPr>
          <p:cNvPicPr>
            <a:picLocks noGrp="1" noChangeAspect="1"/>
          </p:cNvPicPr>
          <p:nvPr>
            <p:ph type="pic" sz="quarter" idx="13"/>
          </p:nvPr>
        </p:nvPicPr>
        <p:blipFill>
          <a:blip r:embed="rId3"/>
          <a:srcRect l="6653" r="6653"/>
          <a:stretch>
            <a:fillRect/>
          </a:stretch>
        </p:blipFill>
        <p:spPr>
          <a:xfrm>
            <a:off x="0" y="1979861"/>
            <a:ext cx="5758172" cy="4546457"/>
          </a:xfrm>
          <a:prstGeom prst="rect">
            <a:avLst/>
          </a:prstGeom>
          <a:noFill/>
        </p:spPr>
      </p:pic>
      <p:graphicFrame>
        <p:nvGraphicFramePr>
          <p:cNvPr id="3" name="Content Placeholder 2"/>
          <p:cNvGraphicFramePr>
            <a:graphicFrameLocks noGrp="1"/>
          </p:cNvGraphicFramePr>
          <p:nvPr>
            <p:ph idx="1"/>
            <p:extLst>
              <p:ext uri="{D42A27DB-BD31-4B8C-83A1-F6EECF244321}">
                <p14:modId xmlns:p14="http://schemas.microsoft.com/office/powerpoint/2010/main" val="1869011175"/>
              </p:ext>
            </p:extLst>
          </p:nvPr>
        </p:nvGraphicFramePr>
        <p:xfrm>
          <a:off x="6172200" y="2514600"/>
          <a:ext cx="5559426" cy="3418799"/>
        </p:xfrm>
        <a:graphic>
          <a:graphicData uri="http://schemas.openxmlformats.org/drawingml/2006/table">
            <a:tbl>
              <a:tblPr>
                <a:tableStyleId>{35758FB7-9AC5-4552-8A53-C91805E547FA}</a:tableStyleId>
              </a:tblPr>
              <a:tblGrid>
                <a:gridCol w="1853142"/>
                <a:gridCol w="1853142"/>
                <a:gridCol w="1853142"/>
              </a:tblGrid>
              <a:tr h="246209">
                <a:tc>
                  <a:txBody>
                    <a:bodyPr/>
                    <a:lstStyle/>
                    <a:p>
                      <a:pPr rtl="0"/>
                      <a:r>
                        <a:rPr lang="en-IN" sz="1100">
                          <a:effectLst/>
                        </a:rPr>
                        <a:t>Metric</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Investment Thesis</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Data Point</a:t>
                      </a:r>
                      <a:endParaRPr lang="en-IN" sz="1100">
                        <a:solidFill>
                          <a:srgbClr val="1B1C1D"/>
                        </a:solidFill>
                        <a:effectLst/>
                        <a:latin typeface="Google Sans Text"/>
                      </a:endParaRPr>
                    </a:p>
                  </a:txBody>
                  <a:tcPr marL="56817" marR="56817" marT="37878" marB="37878" anchor="ctr"/>
                </a:tc>
              </a:tr>
              <a:tr h="757565">
                <a:tc>
                  <a:txBody>
                    <a:bodyPr/>
                    <a:lstStyle/>
                    <a:p>
                      <a:pPr rtl="0"/>
                      <a:r>
                        <a:rPr lang="en-IN" sz="1100">
                          <a:effectLst/>
                        </a:rPr>
                        <a:t>National Economic Drag</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Congestion is costing India billions in wasted fuel and productivity loss annually.</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₹1.5 Lakh Crore (or $18 Billion) annual economic loss from congestion in four major cities alone.</a:t>
                      </a:r>
                      <a:endParaRPr lang="en-US" sz="1100">
                        <a:solidFill>
                          <a:srgbClr val="1B1C1D"/>
                        </a:solidFill>
                        <a:effectLst/>
                        <a:latin typeface="Google Sans Text"/>
                      </a:endParaRPr>
                    </a:p>
                  </a:txBody>
                  <a:tcPr marL="56817" marR="56817" marT="37878" marB="37878" anchor="ctr"/>
                </a:tc>
              </a:tr>
              <a:tr h="928018">
                <a:tc>
                  <a:txBody>
                    <a:bodyPr/>
                    <a:lstStyle/>
                    <a:p>
                      <a:pPr rtl="0"/>
                      <a:r>
                        <a:rPr lang="en-IN" sz="1100">
                          <a:effectLst/>
                        </a:rPr>
                        <a:t>Total Addressable Market (TAM)</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The total Indian Mobility market, which we disrupt and support.</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₹55,000 Cr (~$6.6B) – Urban Mobility (Your original figure, conservative and focused on the immediate segment).</a:t>
                      </a:r>
                      <a:endParaRPr lang="en-US" sz="1100">
                        <a:solidFill>
                          <a:srgbClr val="1B1C1D"/>
                        </a:solidFill>
                        <a:effectLst/>
                        <a:latin typeface="Google Sans Text"/>
                      </a:endParaRPr>
                    </a:p>
                  </a:txBody>
                  <a:tcPr marL="56817" marR="56817" marT="37878" marB="37878" anchor="ctr"/>
                </a:tc>
              </a:tr>
              <a:tr h="587113">
                <a:tc>
                  <a:txBody>
                    <a:bodyPr/>
                    <a:lstStyle/>
                    <a:p>
                      <a:pPr rtl="0"/>
                      <a:r>
                        <a:rPr lang="en-IN" sz="1100">
                          <a:effectLst/>
                        </a:rPr>
                        <a:t>Serviceable Market (SAM)</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Smartphone users in target cities ready for app adoption and incentives.</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₹15,000 Cr (~$1.8B) – Smartphone users in Tier-1 &amp; Tier-2 cities.</a:t>
                      </a:r>
                      <a:endParaRPr lang="en-US" sz="1100">
                        <a:solidFill>
                          <a:srgbClr val="1B1C1D"/>
                        </a:solidFill>
                        <a:effectLst/>
                        <a:latin typeface="Google Sans Text"/>
                      </a:endParaRPr>
                    </a:p>
                  </a:txBody>
                  <a:tcPr marL="56817" marR="56817" marT="37878" marB="37878" anchor="ctr"/>
                </a:tc>
              </a:tr>
              <a:tr h="587113">
                <a:tc>
                  <a:txBody>
                    <a:bodyPr/>
                    <a:lstStyle/>
                    <a:p>
                      <a:pPr rtl="0"/>
                      <a:r>
                        <a:rPr lang="en-IN" sz="1100">
                          <a:effectLst/>
                        </a:rPr>
                        <a:t>Obtainable Market (SOM)</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Our conservative 3-year revenue target.</a:t>
                      </a:r>
                      <a:endParaRPr lang="en-US" sz="1100">
                        <a:solidFill>
                          <a:srgbClr val="1B1C1D"/>
                        </a:solidFill>
                        <a:effectLst/>
                        <a:latin typeface="Google Sans Text"/>
                      </a:endParaRPr>
                    </a:p>
                  </a:txBody>
                  <a:tcPr marL="56817" marR="56817" marT="37878" marB="37878" anchor="ctr"/>
                </a:tc>
                <a:tc>
                  <a:txBody>
                    <a:bodyPr/>
                    <a:lstStyle/>
                    <a:p>
                      <a:pPr rtl="0"/>
                      <a:r>
                        <a:rPr lang="en-US" sz="1100" dirty="0">
                          <a:effectLst/>
                        </a:rPr>
                        <a:t>₹500 Cr (~$60M) – Projected from 2M active, monetized users.</a:t>
                      </a:r>
                      <a:endParaRPr lang="en-US" sz="1100" dirty="0">
                        <a:solidFill>
                          <a:srgbClr val="1B1C1D"/>
                        </a:solidFill>
                        <a:effectLst/>
                        <a:latin typeface="Google Sans Text"/>
                      </a:endParaRPr>
                    </a:p>
                  </a:txBody>
                  <a:tcPr marL="56817" marR="56817" marT="37878" marB="37878" anchor="ctr"/>
                </a:tc>
              </a:tr>
            </a:tbl>
          </a:graphicData>
        </a:graphic>
      </p:graphicFrame>
      <p:sp>
        <p:nvSpPr>
          <p:cNvPr id="6" name="Date Placeholder 5">
            <a:extLst>
              <a:ext uri="{FF2B5EF4-FFF2-40B4-BE49-F238E27FC236}">
                <a16:creationId xmlns:a16="http://schemas.microsoft.com/office/drawing/2014/main" xmlns="" id="{BE3ED46B-DA65-11F6-722F-1C7DCA9029BD}"/>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
        <p:nvSpPr>
          <p:cNvPr id="9" name="TextBox 8"/>
          <p:cNvSpPr txBox="1"/>
          <p:nvPr/>
        </p:nvSpPr>
        <p:spPr>
          <a:xfrm>
            <a:off x="6400800" y="1383268"/>
            <a:ext cx="5029200" cy="369332"/>
          </a:xfrm>
          <a:prstGeom prst="rect">
            <a:avLst/>
          </a:prstGeom>
          <a:noFill/>
        </p:spPr>
        <p:txBody>
          <a:bodyPr wrap="square" rtlCol="0">
            <a:spAutoFit/>
          </a:bodyPr>
          <a:lstStyle/>
          <a:p>
            <a:r>
              <a:rPr lang="en-IN" dirty="0"/>
              <a:t>Massive Opportunity, Measurable ROI</a:t>
            </a:r>
          </a:p>
        </p:txBody>
      </p:sp>
      <p:sp>
        <p:nvSpPr>
          <p:cNvPr id="10" name="Rectangle 9"/>
          <p:cNvSpPr/>
          <p:nvPr/>
        </p:nvSpPr>
        <p:spPr>
          <a:xfrm>
            <a:off x="6400800" y="1943285"/>
            <a:ext cx="5181600" cy="584775"/>
          </a:xfrm>
          <a:prstGeom prst="rect">
            <a:avLst/>
          </a:prstGeom>
        </p:spPr>
        <p:txBody>
          <a:bodyPr wrap="square">
            <a:spAutoFit/>
          </a:bodyPr>
          <a:lstStyle/>
          <a:p>
            <a:r>
              <a:rPr lang="en-US" sz="1600" dirty="0">
                <a:solidFill>
                  <a:srgbClr val="92D050"/>
                </a:solidFill>
              </a:rPr>
              <a:t>The challenge is enormous, making the market potential even larger.</a:t>
            </a:r>
            <a:endParaRPr lang="en-IN" sz="1600" dirty="0">
              <a:solidFill>
                <a:srgbClr val="92D050"/>
              </a:solidFill>
            </a:endParaRPr>
          </a:p>
        </p:txBody>
      </p:sp>
    </p:spTree>
    <p:extLst>
      <p:ext uri="{BB962C8B-B14F-4D97-AF65-F5344CB8AC3E}">
        <p14:creationId xmlns:p14="http://schemas.microsoft.com/office/powerpoint/2010/main" val="98148939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CC0102-B675-ECB3-EEB5-5FDB34E3D6A6}"/>
              </a:ext>
            </a:extLst>
          </p:cNvPr>
          <p:cNvSpPr>
            <a:spLocks noGrp="1"/>
          </p:cNvSpPr>
          <p:nvPr>
            <p:ph type="title"/>
          </p:nvPr>
        </p:nvSpPr>
        <p:spPr>
          <a:xfrm>
            <a:off x="457200" y="152400"/>
            <a:ext cx="4958078" cy="1225485"/>
          </a:xfrm>
        </p:spPr>
        <p:txBody>
          <a:bodyPr anchor="t">
            <a:normAutofit fontScale="90000"/>
          </a:bodyPr>
          <a:lstStyle/>
          <a:p>
            <a:r>
              <a:rPr lang="en-US" dirty="0"/>
              <a:t>Addressable Market and Growth Forecast</a:t>
            </a:r>
          </a:p>
        </p:txBody>
      </p:sp>
      <p:pic>
        <p:nvPicPr>
          <p:cNvPr id="8" name="Content Placeholder 7" descr="Man using phone while waiting for transportation at roadside during rush hour">
            <a:extLst>
              <a:ext uri="{FF2B5EF4-FFF2-40B4-BE49-F238E27FC236}">
                <a16:creationId xmlns:a16="http://schemas.microsoft.com/office/drawing/2014/main" xmlns="" id="{E8269DBC-ED31-4FAD-8190-381FAA0F1573}"/>
              </a:ext>
            </a:extLst>
          </p:cNvPr>
          <p:cNvPicPr>
            <a:picLocks noGrp="1" noChangeAspect="1"/>
          </p:cNvPicPr>
          <p:nvPr>
            <p:ph type="pic" sz="quarter" idx="13"/>
          </p:nvPr>
        </p:nvPicPr>
        <p:blipFill>
          <a:blip r:embed="rId3"/>
          <a:srcRect l="6653" r="6653"/>
          <a:stretch>
            <a:fillRect/>
          </a:stretch>
        </p:blipFill>
        <p:spPr>
          <a:prstGeom prst="rect">
            <a:avLst/>
          </a:prstGeom>
          <a:noFill/>
        </p:spPr>
      </p:pic>
      <p:sp>
        <p:nvSpPr>
          <p:cNvPr id="6" name="Date Placeholder 5">
            <a:extLst>
              <a:ext uri="{FF2B5EF4-FFF2-40B4-BE49-F238E27FC236}">
                <a16:creationId xmlns:a16="http://schemas.microsoft.com/office/drawing/2014/main" xmlns="" id="{BE3ED46B-DA65-11F6-722F-1C7DCA9029BD}"/>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02137355"/>
              </p:ext>
            </p:extLst>
          </p:nvPr>
        </p:nvGraphicFramePr>
        <p:xfrm>
          <a:off x="6269862" y="2743200"/>
          <a:ext cx="5559426" cy="3446922"/>
        </p:xfrm>
        <a:graphic>
          <a:graphicData uri="http://schemas.openxmlformats.org/drawingml/2006/table">
            <a:tbl>
              <a:tblPr>
                <a:tableStyleId>{69C7853C-536D-4A76-A0AE-DD22124D55A5}</a:tableStyleId>
              </a:tblPr>
              <a:tblGrid>
                <a:gridCol w="1853142"/>
                <a:gridCol w="1853142"/>
                <a:gridCol w="1853142"/>
              </a:tblGrid>
              <a:tr h="587113">
                <a:tc>
                  <a:txBody>
                    <a:bodyPr/>
                    <a:lstStyle/>
                    <a:p>
                      <a:pPr rtl="0"/>
                      <a:r>
                        <a:rPr lang="en-IN" sz="1100" dirty="0">
                          <a:effectLst/>
                        </a:rPr>
                        <a:t>Impact Area</a:t>
                      </a:r>
                      <a:endParaRPr lang="en-IN" sz="1100" dirty="0">
                        <a:solidFill>
                          <a:srgbClr val="1B1C1D"/>
                        </a:solidFill>
                        <a:effectLst/>
                        <a:latin typeface="Google Sans Text"/>
                      </a:endParaRPr>
                    </a:p>
                  </a:txBody>
                  <a:tcPr marL="56817" marR="56817" marT="37878" marB="37878" anchor="ctr"/>
                </a:tc>
                <a:tc>
                  <a:txBody>
                    <a:bodyPr/>
                    <a:lstStyle/>
                    <a:p>
                      <a:pPr rtl="0"/>
                      <a:r>
                        <a:rPr lang="en-IN" sz="1100" dirty="0">
                          <a:effectLst/>
                        </a:rPr>
                        <a:t>Target Metric</a:t>
                      </a:r>
                      <a:endParaRPr lang="en-IN" sz="1100" dirty="0">
                        <a:solidFill>
                          <a:srgbClr val="1B1C1D"/>
                        </a:solidFill>
                        <a:effectLst/>
                        <a:latin typeface="Google Sans Text"/>
                      </a:endParaRPr>
                    </a:p>
                  </a:txBody>
                  <a:tcPr marL="56817" marR="56817" marT="37878" marB="37878" anchor="ctr"/>
                </a:tc>
                <a:tc>
                  <a:txBody>
                    <a:bodyPr/>
                    <a:lstStyle/>
                    <a:p>
                      <a:pPr rtl="0"/>
                      <a:r>
                        <a:rPr lang="en-IN" sz="1100">
                          <a:effectLst/>
                        </a:rPr>
                        <a:t>The Financial/Environmental Outcome</a:t>
                      </a:r>
                      <a:endParaRPr lang="en-IN" sz="1100">
                        <a:solidFill>
                          <a:srgbClr val="1B1C1D"/>
                        </a:solidFill>
                        <a:effectLst/>
                        <a:latin typeface="Google Sans Text"/>
                      </a:endParaRPr>
                    </a:p>
                  </a:txBody>
                  <a:tcPr marL="56817" marR="56817" marT="37878" marB="37878" anchor="ctr"/>
                </a:tc>
              </a:tr>
              <a:tr h="587113">
                <a:tc>
                  <a:txBody>
                    <a:bodyPr/>
                    <a:lstStyle/>
                    <a:p>
                      <a:pPr rtl="0"/>
                      <a:r>
                        <a:rPr lang="en-IN" sz="1100">
                          <a:effectLst/>
                        </a:rPr>
                        <a:t>Efficiency</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40% faster commute times</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Recovering up to 70 hours of productive time per commuter annually.</a:t>
                      </a:r>
                      <a:endParaRPr lang="en-US" sz="1100">
                        <a:solidFill>
                          <a:srgbClr val="1B1C1D"/>
                        </a:solidFill>
                        <a:effectLst/>
                        <a:latin typeface="Google Sans Text"/>
                      </a:endParaRPr>
                    </a:p>
                  </a:txBody>
                  <a:tcPr marL="56817" marR="56817" marT="37878" marB="37878" anchor="ctr"/>
                </a:tc>
              </a:tr>
              <a:tr h="757565">
                <a:tc>
                  <a:txBody>
                    <a:bodyPr/>
                    <a:lstStyle/>
                    <a:p>
                      <a:pPr rtl="0"/>
                      <a:r>
                        <a:rPr lang="en-IN" sz="1100" dirty="0">
                          <a:effectLst/>
                        </a:rPr>
                        <a:t>Sustainability</a:t>
                      </a:r>
                      <a:endParaRPr lang="en-IN" sz="1100" dirty="0">
                        <a:solidFill>
                          <a:srgbClr val="1B1C1D"/>
                        </a:solidFill>
                        <a:effectLst/>
                        <a:latin typeface="Google Sans Text"/>
                      </a:endParaRPr>
                    </a:p>
                  </a:txBody>
                  <a:tcPr marL="56817" marR="56817" marT="37878" marB="37878" anchor="ctr"/>
                </a:tc>
                <a:tc>
                  <a:txBody>
                    <a:bodyPr/>
                    <a:lstStyle/>
                    <a:p>
                      <a:pPr rtl="0"/>
                      <a:r>
                        <a:rPr lang="en-US" sz="1100">
                          <a:effectLst/>
                        </a:rPr>
                        <a:t>25% CO₂ reduction per user annually</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Smart traffic solutions can globally cut up to 923 MMT of CO₂ by 2030—we lead this charge in India.</a:t>
                      </a:r>
                      <a:endParaRPr lang="en-US" sz="1100">
                        <a:solidFill>
                          <a:srgbClr val="1B1C1D"/>
                        </a:solidFill>
                        <a:effectLst/>
                        <a:latin typeface="Google Sans Text"/>
                      </a:endParaRPr>
                    </a:p>
                  </a:txBody>
                  <a:tcPr marL="56817" marR="56817" marT="37878" marB="37878" anchor="ctr"/>
                </a:tc>
              </a:tr>
              <a:tr h="928018">
                <a:tc>
                  <a:txBody>
                    <a:bodyPr/>
                    <a:lstStyle/>
                    <a:p>
                      <a:pPr rtl="0"/>
                      <a:r>
                        <a:rPr lang="en-IN" sz="1100">
                          <a:effectLst/>
                        </a:rPr>
                        <a:t>Profitability (B2B)</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₹100K+ savings for fleet partners</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Direct cost reduction via optimized routes, lower fuel consumption, and minimized vehicle wear-and-tear.</a:t>
                      </a:r>
                      <a:endParaRPr lang="en-US" sz="1100">
                        <a:solidFill>
                          <a:srgbClr val="1B1C1D"/>
                        </a:solidFill>
                        <a:effectLst/>
                        <a:latin typeface="Google Sans Text"/>
                      </a:endParaRPr>
                    </a:p>
                  </a:txBody>
                  <a:tcPr marL="56817" marR="56817" marT="37878" marB="37878" anchor="ctr"/>
                </a:tc>
              </a:tr>
              <a:tr h="587113">
                <a:tc>
                  <a:txBody>
                    <a:bodyPr/>
                    <a:lstStyle/>
                    <a:p>
                      <a:pPr rtl="0"/>
                      <a:r>
                        <a:rPr lang="en-IN" sz="1100">
                          <a:effectLst/>
                        </a:rPr>
                        <a:t>Adoption</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2M+ Active Users</a:t>
                      </a:r>
                      <a:endParaRPr lang="en-IN" sz="1100">
                        <a:solidFill>
                          <a:srgbClr val="1B1C1D"/>
                        </a:solidFill>
                        <a:effectLst/>
                        <a:latin typeface="Google Sans Text"/>
                      </a:endParaRPr>
                    </a:p>
                  </a:txBody>
                  <a:tcPr marL="56817" marR="56817" marT="37878" marB="37878" anchor="ctr"/>
                </a:tc>
                <a:tc>
                  <a:txBody>
                    <a:bodyPr/>
                    <a:lstStyle/>
                    <a:p>
                      <a:pPr rtl="0"/>
                      <a:r>
                        <a:rPr lang="en-US" sz="1100" dirty="0">
                          <a:effectLst/>
                        </a:rPr>
                        <a:t>Creating the largest incentivized civic-data network in India.</a:t>
                      </a:r>
                      <a:endParaRPr lang="en-US" sz="1100" dirty="0">
                        <a:solidFill>
                          <a:srgbClr val="1B1C1D"/>
                        </a:solidFill>
                        <a:effectLst/>
                        <a:latin typeface="Google Sans Text"/>
                      </a:endParaRPr>
                    </a:p>
                  </a:txBody>
                  <a:tcPr marL="56817" marR="56817" marT="37878" marB="37878" anchor="ctr"/>
                </a:tc>
              </a:tr>
            </a:tbl>
          </a:graphicData>
        </a:graphic>
      </p:graphicFrame>
      <p:sp>
        <p:nvSpPr>
          <p:cNvPr id="14" name="TextBox 13"/>
          <p:cNvSpPr txBox="1"/>
          <p:nvPr/>
        </p:nvSpPr>
        <p:spPr>
          <a:xfrm>
            <a:off x="6172200" y="1267890"/>
            <a:ext cx="5638800" cy="646331"/>
          </a:xfrm>
          <a:prstGeom prst="rect">
            <a:avLst/>
          </a:prstGeom>
          <a:noFill/>
        </p:spPr>
        <p:txBody>
          <a:bodyPr wrap="square" rtlCol="0">
            <a:spAutoFit/>
          </a:bodyPr>
          <a:lstStyle/>
          <a:p>
            <a:r>
              <a:rPr lang="en-US" dirty="0"/>
              <a:t>PragatiDhara's Quantifiable Impact (Projected in 3 Years)</a:t>
            </a:r>
            <a:endParaRPr lang="en-IN" dirty="0"/>
          </a:p>
        </p:txBody>
      </p:sp>
      <p:sp>
        <p:nvSpPr>
          <p:cNvPr id="15" name="TextBox 14"/>
          <p:cNvSpPr txBox="1"/>
          <p:nvPr/>
        </p:nvSpPr>
        <p:spPr>
          <a:xfrm>
            <a:off x="6156960" y="1981200"/>
            <a:ext cx="5410200" cy="523220"/>
          </a:xfrm>
          <a:prstGeom prst="rect">
            <a:avLst/>
          </a:prstGeom>
          <a:noFill/>
        </p:spPr>
        <p:txBody>
          <a:bodyPr wrap="square" rtlCol="0">
            <a:spAutoFit/>
          </a:bodyPr>
          <a:lstStyle/>
          <a:p>
            <a:r>
              <a:rPr lang="en-US" sz="1400" dirty="0">
                <a:solidFill>
                  <a:srgbClr val="92D050"/>
                </a:solidFill>
              </a:rPr>
              <a:t>We don't just reduce traffic; we deliver measurable results that align with national environmental goals.</a:t>
            </a:r>
            <a:endParaRPr lang="en-IN" sz="1400" dirty="0">
              <a:solidFill>
                <a:srgbClr val="92D050"/>
              </a:solidFill>
            </a:endParaRPr>
          </a:p>
        </p:txBody>
      </p:sp>
    </p:spTree>
    <p:extLst>
      <p:ext uri="{BB962C8B-B14F-4D97-AF65-F5344CB8AC3E}">
        <p14:creationId xmlns:p14="http://schemas.microsoft.com/office/powerpoint/2010/main" val="2275176210"/>
      </p:ext>
    </p:extLst>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2.xml><?xml version="1.0" encoding="utf-8"?>
<ds:datastoreItem xmlns:ds="http://schemas.openxmlformats.org/officeDocument/2006/customXml" ds:itemID="{0070BEB4-FB24-4E84-B3BB-971EAA4E97D2}">
  <ds:schemaRefs>
    <ds:schemaRef ds:uri="230e9df3-be65-4c73-a93b-d1236ebd677e"/>
    <ds:schemaRef ds:uri="http://purl.org/dc/terms/"/>
    <ds:schemaRef ds:uri="http://schemas.microsoft.com/office/2006/documentManagement/typ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microsoft.com/sharepoint/v3"/>
    <ds:schemaRef ds:uri="http://schemas.openxmlformats.org/package/2006/metadata/core-properties"/>
    <ds:schemaRef ds:uri="71af3243-3dd4-4a8d-8c0d-dd76da1f02a5"/>
    <ds:schemaRef ds:uri="http://www.w3.org/XML/1998/namespace"/>
  </ds:schemaRefs>
</ds:datastoreItem>
</file>

<file path=customXml/itemProps3.xml><?xml version="1.0" encoding="utf-8"?>
<ds:datastoreItem xmlns:ds="http://schemas.openxmlformats.org/officeDocument/2006/customXml" ds:itemID="{BDDCC98D-8A5B-4177-9C60-D4A9C8723F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emplate>Ion</Template>
  <TotalTime>93</TotalTime>
  <Words>1076</Words>
  <Application>Microsoft Office PowerPoint</Application>
  <PresentationFormat>Custom</PresentationFormat>
  <Paragraphs>145</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Ion</vt:lpstr>
      <vt:lpstr>PragatiDhara App Pitch Deck</vt:lpstr>
      <vt:lpstr>Vision &amp; Mission</vt:lpstr>
      <vt:lpstr>Transforming Urban Mobility in India</vt:lpstr>
      <vt:lpstr>Solution Architecture and Design</vt:lpstr>
      <vt:lpstr>CrowdSourced Intelligence Meets Scalable AI</vt:lpstr>
      <vt:lpstr>Solution Sketch</vt:lpstr>
      <vt:lpstr>Sustainable AI Implementation</vt:lpstr>
      <vt:lpstr>Eco-Friendly Routing and Emission Reduction</vt:lpstr>
      <vt:lpstr>Innovation and Differentiation</vt:lpstr>
      <vt:lpstr>Gamified Engagement &amp; Hyperlocal Intelligence</vt:lpstr>
      <vt:lpstr>Implementation and Roadmap</vt:lpstr>
      <vt:lpstr>Phased Rollout Strategy</vt:lpstr>
      <vt:lpstr>Market Validation and Impact Potential</vt:lpstr>
      <vt:lpstr>Addressable Market and Growth Forecast</vt:lpstr>
      <vt:lpstr>Addressable Market and Growth Forecast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PragatiDhara App Pitch Deck</dc:title>
  <cp:lastModifiedBy>Dell</cp:lastModifiedBy>
  <cp:revision>14</cp:revision>
  <dcterms:created xsi:type="dcterms:W3CDTF">2025-08-04T19:19:33Z</dcterms:created>
  <dcterms:modified xsi:type="dcterms:W3CDTF">2025-11-06T01:32:17Z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