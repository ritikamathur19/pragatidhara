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4"/>
  </p:sldMasterIdLst>
  <p:notesMasterIdLst>
    <p:notesMasterId r:id="rId18"/>
  </p:notesMasterIdLst>
  <p:sldIdLst>
    <p:sldId id="2561" r:id="rId5"/>
    <p:sldId id="2562" r:id="rId6"/>
    <p:sldId id="2563" r:id="rId7"/>
    <p:sldId id="2564" r:id="rId8"/>
    <p:sldId id="2565" r:id="rId9"/>
    <p:sldId id="2566" r:id="rId10"/>
    <p:sldId id="2567" r:id="rId11"/>
    <p:sldId id="2568" r:id="rId12"/>
    <p:sldId id="2569" r:id="rId13"/>
    <p:sldId id="2570" r:id="rId14"/>
    <p:sldId id="2571" r:id="rId15"/>
    <p:sldId id="2572" r:id="rId16"/>
    <p:sldId id="2573"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agatiDhara App Pitch Deck" id="{2E70C052-DD07-491C-9290-CB822C00658D}">
          <p14:sldIdLst>
            <p14:sldId id="2561"/>
          </p14:sldIdLst>
        </p14:section>
        <p14:section name="Vision &amp; Mission" id="{DA6FC828-8AB5-4F1E-BF53-B67D83BB1649}">
          <p14:sldIdLst>
            <p14:sldId id="2562"/>
            <p14:sldId id="2563"/>
          </p14:sldIdLst>
        </p14:section>
        <p14:section name="Solution Architecture and Design" id="{C052A579-56D3-4535-830C-03D37A1CE032}">
          <p14:sldIdLst>
            <p14:sldId id="2564"/>
            <p14:sldId id="2565"/>
          </p14:sldIdLst>
        </p14:section>
        <p14:section name="Sustainable AI Implementation" id="{8D6EC7CF-1D3B-4CE7-A768-EFDA1487E8BF}">
          <p14:sldIdLst>
            <p14:sldId id="2566"/>
            <p14:sldId id="2567"/>
          </p14:sldIdLst>
        </p14:section>
        <p14:section name="Innovation and Differentiation" id="{59368A34-FF12-45A2-B348-A34D981ED778}">
          <p14:sldIdLst>
            <p14:sldId id="2568"/>
            <p14:sldId id="2569"/>
          </p14:sldIdLst>
        </p14:section>
        <p14:section name="Implementation and Roadmap" id="{37E98D42-8C5D-427A-88B9-02B1FFC952FE}">
          <p14:sldIdLst>
            <p14:sldId id="2570"/>
            <p14:sldId id="2571"/>
          </p14:sldIdLst>
        </p14:section>
        <p14:section name="Market Validation and Impact Potential" id="{228B8BD2-4211-4C52-8A9E-3C918BF9D5B0}">
          <p14:sldIdLst>
            <p14:sldId id="2572"/>
            <p14:sldId id="25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1788BE3-B623-4E1E-A692-87B7A6CDDFE6}" v="16" dt="2025-11-05T13:28:45.67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p:cViewPr varScale="1">
        <p:scale>
          <a:sx n="59" d="100"/>
          <a:sy n="59" d="100"/>
        </p:scale>
        <p:origin x="964"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23"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922D51F-4246-4CFA-9CD7-1AE829ED7A4D}" type="datetimeFigureOut">
              <a:t>11/6/2025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714EAC2-167D-4F30-8707-850131E2B384}" type="slidenum">
              <a:t>‹#›</a:t>
            </a:fld>
            <a:endParaRPr lang="en-US"/>
          </a:p>
        </p:txBody>
      </p:sp>
    </p:spTree>
    <p:extLst>
      <p:ext uri="{BB962C8B-B14F-4D97-AF65-F5344CB8AC3E}">
        <p14:creationId xmlns:p14="http://schemas.microsoft.com/office/powerpoint/2010/main" val="13028197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AI-generated content may be incorrect.
---
</a:t>
            </a:r>
          </a:p>
        </p:txBody>
      </p:sp>
      <p:sp>
        <p:nvSpPr>
          <p:cNvPr id="4" name="Slide Number Placeholder 3"/>
          <p:cNvSpPr>
            <a:spLocks noGrp="1"/>
          </p:cNvSpPr>
          <p:nvPr>
            <p:ph type="sldNum" sz="quarter" idx="5"/>
          </p:nvPr>
        </p:nvSpPr>
        <p:spPr/>
        <p:txBody>
          <a:bodyPr/>
          <a:lstStyle/>
          <a:p>
            <a:fld id="{CCE053CC-5B21-4864-ABCC-AE6A8B57EED9}" type="slidenum">
              <a:t>1</a:t>
            </a:fld>
            <a:endParaRPr lang="en-US"/>
          </a:p>
        </p:txBody>
      </p:sp>
    </p:spTree>
    <p:extLst>
      <p:ext uri="{BB962C8B-B14F-4D97-AF65-F5344CB8AC3E}">
        <p14:creationId xmlns:p14="http://schemas.microsoft.com/office/powerpoint/2010/main" val="1829155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https://infosystechnologies-my.sharepoint.com/personal/ritika_mathur01_ad_infosys_com/Documents/Microsoft%20Copilot%20Chat%20Files/GreenFlow%20%E2%80%93%20Business%20Plan.md
Transforming Urban Mobility in India
</a:t>
            </a:r>
          </a:p>
        </p:txBody>
      </p:sp>
      <p:sp>
        <p:nvSpPr>
          <p:cNvPr id="4" name="Slide Number Placeholder 3"/>
          <p:cNvSpPr>
            <a:spLocks noGrp="1"/>
          </p:cNvSpPr>
          <p:nvPr>
            <p:ph type="sldNum" sz="quarter" idx="5"/>
          </p:nvPr>
        </p:nvSpPr>
        <p:spPr/>
        <p:txBody>
          <a:bodyPr/>
          <a:lstStyle/>
          <a:p>
            <a:fld id="{CCE053CC-5B21-4864-ABCC-AE6A8B57EED9}" type="slidenum">
              <a:t>2</a:t>
            </a:fld>
            <a:endParaRPr lang="en-US"/>
          </a:p>
        </p:txBody>
      </p:sp>
    </p:spTree>
    <p:extLst>
      <p:ext uri="{BB962C8B-B14F-4D97-AF65-F5344CB8AC3E}">
        <p14:creationId xmlns:p14="http://schemas.microsoft.com/office/powerpoint/2010/main" val="15181861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https://infosystechnologies-my.sharepoint.com/personal/ritika_mathur01_ad_infosys_com/Documents/Microsoft%20Copilot%20Chat%20Files/GreenFlow%20%E2%80%93%20Business%20Plan.md
The PragatiDhara app envisions a future where Indian cities are cleaner, smarter, and more sustainable through citizen-driven traffic management. Its mission is to build an intelligent mobility ecosystem that empowers every commuter to contribute to reducing congestion and emissions. By leveraging real-time data from users and integrating green AI models, PragatiDhara aims to revolutionize urban transportation. The platform encourages active participation from citizens, turning them into contributors rather than passive users. This vision aligns with national sustainability goals and supports initiatives like the Smart City Mission and Green Credit Program. The mission is not only technological but also behavioral—fostering a culture of responsible commuting and environmental stewardship.
</a:t>
            </a:r>
          </a:p>
        </p:txBody>
      </p:sp>
      <p:sp>
        <p:nvSpPr>
          <p:cNvPr id="4" name="Slide Number Placeholder 3"/>
          <p:cNvSpPr>
            <a:spLocks noGrp="1"/>
          </p:cNvSpPr>
          <p:nvPr>
            <p:ph type="sldNum" sz="quarter" idx="5"/>
          </p:nvPr>
        </p:nvSpPr>
        <p:spPr/>
        <p:txBody>
          <a:bodyPr/>
          <a:lstStyle/>
          <a:p>
            <a:fld id="{CCE053CC-5B21-4864-ABCC-AE6A8B57EED9}" type="slidenum">
              <a:t>3</a:t>
            </a:fld>
            <a:endParaRPr lang="en-US"/>
          </a:p>
        </p:txBody>
      </p:sp>
    </p:spTree>
    <p:extLst>
      <p:ext uri="{BB962C8B-B14F-4D97-AF65-F5344CB8AC3E}">
        <p14:creationId xmlns:p14="http://schemas.microsoft.com/office/powerpoint/2010/main" val="300256296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https://infosystechnologies-my.sharepoint.com/personal/ritika_mathur01_ad_infosys_com/Documents/Microsoft%20Copilot%20Chat%20Files/GreenFlow%20%E2%80%93%20Business%20Plan.md
Crowdsourced AI-Powered Traffic Optimization
</a:t>
            </a:r>
          </a:p>
        </p:txBody>
      </p:sp>
      <p:sp>
        <p:nvSpPr>
          <p:cNvPr id="4" name="Slide Number Placeholder 3"/>
          <p:cNvSpPr>
            <a:spLocks noGrp="1"/>
          </p:cNvSpPr>
          <p:nvPr>
            <p:ph type="sldNum" sz="quarter" idx="5"/>
          </p:nvPr>
        </p:nvSpPr>
        <p:spPr/>
        <p:txBody>
          <a:bodyPr/>
          <a:lstStyle/>
          <a:p>
            <a:fld id="{CCE053CC-5B21-4864-ABCC-AE6A8B57EED9}" type="slidenum">
              <a:t>4</a:t>
            </a:fld>
            <a:endParaRPr lang="en-US"/>
          </a:p>
        </p:txBody>
      </p:sp>
    </p:spTree>
    <p:extLst>
      <p:ext uri="{BB962C8B-B14F-4D97-AF65-F5344CB8AC3E}">
        <p14:creationId xmlns:p14="http://schemas.microsoft.com/office/powerpoint/2010/main" val="26951467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https://infosystechnologies-my.sharepoint.com/personal/ritika_mathur01_ad_infosys_com/Documents/Microsoft%20Copilot%20Chat%20Files/GreenFlow%20%E2%80%93%20Business%20Plan.md
PragatiDhara’s architecture is built on a cloud-native, modular framework that enables scalable and secure traffic optimization. The solution collects real-time traffic data directly from commuters, using mobile telemetry to predict congestion and suggest eco-friendly routes. It employs federated learning to ensure user privacy while analyzing patterns for dynamic rerouting. The system integrates REST and WebSocket APIs for seamless connectivity with smart city infrastructure, ride-hailing platforms, and navigation services. This design allows for interoperability and rapid deployment across urban centers. The architecture also supports vernacular AI voice interfaces, making it accessible to a diverse user base. By combining citizen-sourced data with advanced AI, PragatiDhara creates a responsive and adaptive traffic management system.
</a:t>
            </a:r>
          </a:p>
        </p:txBody>
      </p:sp>
      <p:sp>
        <p:nvSpPr>
          <p:cNvPr id="4" name="Slide Number Placeholder 3"/>
          <p:cNvSpPr>
            <a:spLocks noGrp="1"/>
          </p:cNvSpPr>
          <p:nvPr>
            <p:ph type="sldNum" sz="quarter" idx="5"/>
          </p:nvPr>
        </p:nvSpPr>
        <p:spPr/>
        <p:txBody>
          <a:bodyPr/>
          <a:lstStyle/>
          <a:p>
            <a:fld id="{CCE053CC-5B21-4864-ABCC-AE6A8B57EED9}" type="slidenum">
              <a:t>5</a:t>
            </a:fld>
            <a:endParaRPr lang="en-US"/>
          </a:p>
        </p:txBody>
      </p:sp>
    </p:spTree>
    <p:extLst>
      <p:ext uri="{BB962C8B-B14F-4D97-AF65-F5344CB8AC3E}">
        <p14:creationId xmlns:p14="http://schemas.microsoft.com/office/powerpoint/2010/main" val="23265649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https://infosystechnologies-my.sharepoint.com/personal/ritika_mathur01_ad_infosys_com/Documents/Microsoft%20Copilot%20Chat%20Files/GreenFlow%20%E2%80%93%20Business%20Plan.md
Eco-Friendly Routing and Emission Reduction
</a:t>
            </a:r>
          </a:p>
        </p:txBody>
      </p:sp>
      <p:sp>
        <p:nvSpPr>
          <p:cNvPr id="4" name="Slide Number Placeholder 3"/>
          <p:cNvSpPr>
            <a:spLocks noGrp="1"/>
          </p:cNvSpPr>
          <p:nvPr>
            <p:ph type="sldNum" sz="quarter" idx="5"/>
          </p:nvPr>
        </p:nvSpPr>
        <p:spPr/>
        <p:txBody>
          <a:bodyPr/>
          <a:lstStyle/>
          <a:p>
            <a:fld id="{CCE053CC-5B21-4864-ABCC-AE6A8B57EED9}" type="slidenum">
              <a:t>6</a:t>
            </a:fld>
            <a:endParaRPr lang="en-US"/>
          </a:p>
        </p:txBody>
      </p:sp>
    </p:spTree>
    <p:extLst>
      <p:ext uri="{BB962C8B-B14F-4D97-AF65-F5344CB8AC3E}">
        <p14:creationId xmlns:p14="http://schemas.microsoft.com/office/powerpoint/2010/main" val="384138151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https://infosystechnologies-my.sharepoint.com/personal/ritika_mathur01_ad_infosys_com/Documents/Microsoft%20Copilot%20Chat%20Files/GreenFlow%20%E2%80%93%20Business%20Plan.md
PragatiDhara integrates sustainable AI practices to minimize environmental impact. It uses federated learning to process data locally on user devices, reducing cloud dependency and preserving privacy. The app calculates CO₂ savings for each route and visualizes the environmental benefits of eco-routing. Users are incentivized through GreenPoints, which can be redeemed for fuel discounts, EV charging credits, or retail coupons. This gamified approach encourages sustainable behavior and aligns with India’s Green Credit Program. The AI models also support predictive traffic analysis, helping users avoid congestion and reduce fuel consumption. PragatiDhara’s commitment to sustainability extends to its support for SDG 11—Sustainable Cities and Communities—by promoting green mobility and citizen engagement.
</a:t>
            </a:r>
          </a:p>
        </p:txBody>
      </p:sp>
      <p:sp>
        <p:nvSpPr>
          <p:cNvPr id="4" name="Slide Number Placeholder 3"/>
          <p:cNvSpPr>
            <a:spLocks noGrp="1"/>
          </p:cNvSpPr>
          <p:nvPr>
            <p:ph type="sldNum" sz="quarter" idx="5"/>
          </p:nvPr>
        </p:nvSpPr>
        <p:spPr/>
        <p:txBody>
          <a:bodyPr/>
          <a:lstStyle/>
          <a:p>
            <a:fld id="{CCE053CC-5B21-4864-ABCC-AE6A8B57EED9}" type="slidenum">
              <a:t>7</a:t>
            </a:fld>
            <a:endParaRPr lang="en-US"/>
          </a:p>
        </p:txBody>
      </p:sp>
    </p:spTree>
    <p:extLst>
      <p:ext uri="{BB962C8B-B14F-4D97-AF65-F5344CB8AC3E}">
        <p14:creationId xmlns:p14="http://schemas.microsoft.com/office/powerpoint/2010/main" val="179142494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infosystechnologies-my.sharepoint.com/personal/ritika_mathur01_ad_infosys_com/Documents/Microsoft%20Copilot%20Chat%20Files/GreenFlow%20%E2%80%93%20Business%20Plan.md,https://infosystechnologies-my.sharepoint.com/personal/ritika_mathur01_ad_infosys_com/_layouts/15/Doc.aspx?sourcedoc=%7B6016006D-88A3-4714-9424-A4CBD25946EA%7D&amp;file=Our%20USP.docx&amp;action=default&amp;mobileredirect=true
Unique Features and Competitive Edge
</a:t>
            </a:r>
          </a:p>
        </p:txBody>
      </p:sp>
      <p:sp>
        <p:nvSpPr>
          <p:cNvPr id="4" name="Slide Number Placeholder 3"/>
          <p:cNvSpPr>
            <a:spLocks noGrp="1"/>
          </p:cNvSpPr>
          <p:nvPr>
            <p:ph type="sldNum" sz="quarter" idx="5"/>
          </p:nvPr>
        </p:nvSpPr>
        <p:spPr/>
        <p:txBody>
          <a:bodyPr/>
          <a:lstStyle/>
          <a:p>
            <a:fld id="{CCE053CC-5B21-4864-ABCC-AE6A8B57EED9}" type="slidenum">
              <a:t>8</a:t>
            </a:fld>
            <a:endParaRPr lang="en-US"/>
          </a:p>
        </p:txBody>
      </p:sp>
    </p:spTree>
    <p:extLst>
      <p:ext uri="{BB962C8B-B14F-4D97-AF65-F5344CB8AC3E}">
        <p14:creationId xmlns:p14="http://schemas.microsoft.com/office/powerpoint/2010/main" val="387929603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infosystechnologies-my.sharepoint.com/personal/ritika_mathur01_ad_infosys_com/Documents/Microsoft%20Copilot%20Chat%20Files/GreenFlow%20%E2%80%93%20Business%20Plan.md,https://infosystechnologies-my.sharepoint.com/personal/ritika_mathur01_ad_infosys_com/_layouts/15/Doc.aspx?sourcedoc=%7B6016006D-88A3-4714-9424-A4CBD25946EA%7D&amp;file=Our%20USP.docx&amp;action=default&amp;mobileredirect=true
PragatiDhara stands out through its innovative features and user-centric design. Unlike traditional navigation apps, it offers real-time crowd-sourced traffic insights and green route recommendations. The app includes vernacular AI for regional language support, enhancing accessibility and engagement. Users earn GreenPoints for eco-friendly actions, creating a gamified ecosystem that rewards sustainable behavior. PragatiDhara integrates seamlessly with Google Maps, ride-hailing apps like Ola and Uber, and smart city ATCS systems. Its API-ready architecture allows for easy integration with ESG dashboards and corporate mobility solutions. These differentiators position PragatiDhara as a complementary platform that enhances existing systems while promoting sustainability and civic participation.
</a:t>
            </a:r>
          </a:p>
        </p:txBody>
      </p:sp>
      <p:sp>
        <p:nvSpPr>
          <p:cNvPr id="4" name="Slide Number Placeholder 3"/>
          <p:cNvSpPr>
            <a:spLocks noGrp="1"/>
          </p:cNvSpPr>
          <p:nvPr>
            <p:ph type="sldNum" sz="quarter" idx="5"/>
          </p:nvPr>
        </p:nvSpPr>
        <p:spPr/>
        <p:txBody>
          <a:bodyPr/>
          <a:lstStyle/>
          <a:p>
            <a:fld id="{CCE053CC-5B21-4864-ABCC-AE6A8B57EED9}" type="slidenum">
              <a:t>9</a:t>
            </a:fld>
            <a:endParaRPr lang="en-US"/>
          </a:p>
        </p:txBody>
      </p:sp>
    </p:spTree>
    <p:extLst>
      <p:ext uri="{BB962C8B-B14F-4D97-AF65-F5344CB8AC3E}">
        <p14:creationId xmlns:p14="http://schemas.microsoft.com/office/powerpoint/2010/main" val="329425402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https://infosystechnologies-my.sharepoint.com/personal/ritika_mathur01_ad_infosys_com/Documents/Microsoft%20Copilot%20Chat%20Files/GreenFlow%20%E2%80%93%20Business%20Plan.md
Phased Rollout Strategy
</a:t>
            </a:r>
          </a:p>
        </p:txBody>
      </p:sp>
      <p:sp>
        <p:nvSpPr>
          <p:cNvPr id="4" name="Slide Number Placeholder 3"/>
          <p:cNvSpPr>
            <a:spLocks noGrp="1"/>
          </p:cNvSpPr>
          <p:nvPr>
            <p:ph type="sldNum" sz="quarter" idx="5"/>
          </p:nvPr>
        </p:nvSpPr>
        <p:spPr/>
        <p:txBody>
          <a:bodyPr/>
          <a:lstStyle/>
          <a:p>
            <a:fld id="{CCE053CC-5B21-4864-ABCC-AE6A8B57EED9}" type="slidenum">
              <a:t>10</a:t>
            </a:fld>
            <a:endParaRPr lang="en-US"/>
          </a:p>
        </p:txBody>
      </p:sp>
    </p:spTree>
    <p:extLst>
      <p:ext uri="{BB962C8B-B14F-4D97-AF65-F5344CB8AC3E}">
        <p14:creationId xmlns:p14="http://schemas.microsoft.com/office/powerpoint/2010/main" val="30111425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
This slide references information from the following file: https://infosystechnologies-my.sharepoint.com/personal/ritika_mathur01_ad_infosys_com/Documents/Microsoft%20Copilot%20Chat%20Files/GreenFlow%20%E2%80%93%20Business%20Plan.md
</a:t>
            </a:r>
            <a:r>
              <a:rPr lang="en-US" dirty="0" err="1"/>
              <a:t>PragatiDhara’s</a:t>
            </a:r>
            <a:r>
              <a:rPr lang="en-US" dirty="0"/>
              <a:t> implementation plan is structured into three phases to ensure effective deployment and scalability. Phase 1 focuses on launching a prototype and pilot in Pune and Hyderabad, targeting 50,000 users and forming partnerships with fuel companies and traffic departments. Phase 2 expands the app to five major metros and introduces the </a:t>
            </a:r>
            <a:r>
              <a:rPr lang="en-US" dirty="0" err="1"/>
              <a:t>GreenPoints</a:t>
            </a:r>
            <a:r>
              <a:rPr lang="en-US" dirty="0"/>
              <a:t> rewards marketplace. Phase 3 scales the platform to ten cities, integrating with Smart City ATCS systems and enhancing ESG analytics capabilities. This roadmap is designed to build momentum, validate the solution in diverse urban contexts, and establish a robust ecosystem of partners and users. The phased approach ensures that each stage delivers measurable impact and prepares the platform for national adoption.
</a:t>
            </a:r>
          </a:p>
        </p:txBody>
      </p:sp>
      <p:sp>
        <p:nvSpPr>
          <p:cNvPr id="4" name="Slide Number Placeholder 3"/>
          <p:cNvSpPr>
            <a:spLocks noGrp="1"/>
          </p:cNvSpPr>
          <p:nvPr>
            <p:ph type="sldNum" sz="quarter" idx="5"/>
          </p:nvPr>
        </p:nvSpPr>
        <p:spPr/>
        <p:txBody>
          <a:bodyPr/>
          <a:lstStyle/>
          <a:p>
            <a:fld id="{CCE053CC-5B21-4864-ABCC-AE6A8B57EED9}" type="slidenum">
              <a:t>11</a:t>
            </a:fld>
            <a:endParaRPr lang="en-US"/>
          </a:p>
        </p:txBody>
      </p:sp>
    </p:spTree>
    <p:extLst>
      <p:ext uri="{BB962C8B-B14F-4D97-AF65-F5344CB8AC3E}">
        <p14:creationId xmlns:p14="http://schemas.microsoft.com/office/powerpoint/2010/main" val="34832842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https://infosystechnologies-my.sharepoint.com/personal/ritika_mathur01_ad_infosys_com/Documents/Microsoft%20Copilot%20Chat%20Files/GreenFlow%20%E2%80%93%20Business%20Plan.md
Addressable Market and Growth Forecast
</a:t>
            </a:r>
          </a:p>
        </p:txBody>
      </p:sp>
      <p:sp>
        <p:nvSpPr>
          <p:cNvPr id="4" name="Slide Number Placeholder 3"/>
          <p:cNvSpPr>
            <a:spLocks noGrp="1"/>
          </p:cNvSpPr>
          <p:nvPr>
            <p:ph type="sldNum" sz="quarter" idx="5"/>
          </p:nvPr>
        </p:nvSpPr>
        <p:spPr/>
        <p:txBody>
          <a:bodyPr/>
          <a:lstStyle/>
          <a:p>
            <a:fld id="{CCE053CC-5B21-4864-ABCC-AE6A8B57EED9}" type="slidenum">
              <a:t>12</a:t>
            </a:fld>
            <a:endParaRPr lang="en-US"/>
          </a:p>
        </p:txBody>
      </p:sp>
    </p:spTree>
    <p:extLst>
      <p:ext uri="{BB962C8B-B14F-4D97-AF65-F5344CB8AC3E}">
        <p14:creationId xmlns:p14="http://schemas.microsoft.com/office/powerpoint/2010/main" val="235484974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This slide references information from the following file: https://infosystechnologies-my.sharepoint.com/personal/ritika_mathur01_ad_infosys_com/Documents/Microsoft%20Copilot%20Chat%20Files/GreenFlow%20%E2%80%93%20Business%20Plan.md
PragatiDhara targets a substantial market opportunity in India’s urban mobility sector. The Total Addressable Market (TAM) is estimated at ₹55,000 Crore (~$6.6B), encompassing all urban commuters and corporate mobility solutions. The Serviceable Available Market (SAM) focuses on smartphone users in Tier-1 and Tier-2 cities, valued at ₹15,000 Crore (~$1.8B). The Serviceable Obtainable Market (SOM) aims to capture ₹500 Crore (~$60M) by acquiring 2 million active users across ten cities within three years. This market validation is supported by India’s increasing smartphone penetration, urbanization, and policy support for sustainable mobility. PragatiDhara’s impact potential includes reduced fuel consumption, lower CO₂ emissions, and improved traffic flow, contributing to economic and environmental benefits.
</a:t>
            </a:r>
          </a:p>
        </p:txBody>
      </p:sp>
      <p:sp>
        <p:nvSpPr>
          <p:cNvPr id="4" name="Slide Number Placeholder 3"/>
          <p:cNvSpPr>
            <a:spLocks noGrp="1"/>
          </p:cNvSpPr>
          <p:nvPr>
            <p:ph type="sldNum" sz="quarter" idx="5"/>
          </p:nvPr>
        </p:nvSpPr>
        <p:spPr/>
        <p:txBody>
          <a:bodyPr/>
          <a:lstStyle/>
          <a:p>
            <a:fld id="{CCE053CC-5B21-4864-ABCC-AE6A8B57EED9}" type="slidenum">
              <a:t>13</a:t>
            </a:fld>
            <a:endParaRPr lang="en-US"/>
          </a:p>
        </p:txBody>
      </p:sp>
    </p:spTree>
    <p:extLst>
      <p:ext uri="{BB962C8B-B14F-4D97-AF65-F5344CB8AC3E}">
        <p14:creationId xmlns:p14="http://schemas.microsoft.com/office/powerpoint/2010/main" val="33793307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US"/>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6D64244-A3D4-4B68-87F0-779EEA0C37FE}" type="datetime1">
              <a:rPr lang="en-US" smtClean="0"/>
              <a:t>11/6/2025</a:t>
            </a:fld>
            <a:endParaRPr lang="en-US"/>
          </a:p>
        </p:txBody>
      </p:sp>
      <p:sp>
        <p:nvSpPr>
          <p:cNvPr id="5" name="Footer Placeholder 4"/>
          <p:cNvSpPr>
            <a:spLocks noGrp="1"/>
          </p:cNvSpPr>
          <p:nvPr>
            <p:ph type="ftr" sz="quarter" idx="11"/>
          </p:nvPr>
        </p:nvSpPr>
        <p:spPr/>
        <p:txBody>
          <a:bodyPr/>
          <a:lstStyle/>
          <a:p>
            <a:r>
              <a:rPr lang="en-US"/>
              <a:t>Sample Footer Text</a:t>
            </a:r>
          </a:p>
        </p:txBody>
      </p:sp>
      <p:sp>
        <p:nvSpPr>
          <p:cNvPr id="6" name="Slide Number Placeholder 5"/>
          <p:cNvSpPr>
            <a:spLocks noGrp="1"/>
          </p:cNvSpPr>
          <p:nvPr>
            <p:ph type="sldNum" sz="quarter" idx="12"/>
          </p:nvPr>
        </p:nvSpPr>
        <p:spPr/>
        <p:txBody>
          <a:bodyPr/>
          <a:lstStyle/>
          <a:p>
            <a:fld id="{DDF60B60-82CA-4BB9-BA6E-A62FADF2374B}" type="slidenum">
              <a:rPr lang="en-US" smtClean="0"/>
              <a:t>‹#›</a:t>
            </a:fld>
            <a:endParaRPr lang="en-US"/>
          </a:p>
        </p:txBody>
      </p:sp>
    </p:spTree>
    <p:extLst>
      <p:ext uri="{BB962C8B-B14F-4D97-AF65-F5344CB8AC3E}">
        <p14:creationId xmlns:p14="http://schemas.microsoft.com/office/powerpoint/2010/main" val="3205562466"/>
      </p:ext>
    </p:extLst>
  </p:cSld>
  <p:clrMapOvr>
    <a:masterClrMapping/>
  </p:clrMapOvr>
  <p:hf hdr="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p>
            <a:fld id="{56D64244-A3D4-4B68-87F0-779EEA0C37FE}" type="datetime1">
              <a:rPr lang="en-US" smtClean="0"/>
              <a:t>11/6/2025</a:t>
            </a:fld>
            <a:endParaRPr lang="en-US"/>
          </a:p>
        </p:txBody>
      </p:sp>
      <p:sp>
        <p:nvSpPr>
          <p:cNvPr id="5" name="Footer Placeholder 4"/>
          <p:cNvSpPr>
            <a:spLocks noGrp="1"/>
          </p:cNvSpPr>
          <p:nvPr>
            <p:ph type="ftr" sz="quarter" idx="11"/>
          </p:nvPr>
        </p:nvSpPr>
        <p:spPr/>
        <p:txBody>
          <a:bodyPr/>
          <a:lstStyle/>
          <a:p>
            <a:r>
              <a:rPr lang="en-US"/>
              <a:t>Sample Footer Text</a:t>
            </a:r>
          </a:p>
        </p:txBody>
      </p:sp>
      <p:sp>
        <p:nvSpPr>
          <p:cNvPr id="6" name="Slide Number Placeholder 5"/>
          <p:cNvSpPr>
            <a:spLocks noGrp="1"/>
          </p:cNvSpPr>
          <p:nvPr>
            <p:ph type="sldNum" sz="quarter" idx="12"/>
          </p:nvPr>
        </p:nvSpPr>
        <p:spPr/>
        <p:txBody>
          <a:bodyPr/>
          <a:lstStyle/>
          <a:p>
            <a:fld id="{DDF60B60-82CA-4BB9-BA6E-A62FADF2374B}" type="slidenum">
              <a:rPr lang="en-US" smtClean="0"/>
              <a:t>‹#›</a:t>
            </a:fld>
            <a:endParaRPr lang="en-US"/>
          </a:p>
        </p:txBody>
      </p:sp>
    </p:spTree>
    <p:extLst>
      <p:ext uri="{BB962C8B-B14F-4D97-AF65-F5344CB8AC3E}">
        <p14:creationId xmlns:p14="http://schemas.microsoft.com/office/powerpoint/2010/main" val="1563056262"/>
      </p:ext>
    </p:extLst>
  </p:cSld>
  <p:clrMapOvr>
    <a:masterClrMapping/>
  </p:clrMapOvr>
  <p:hf hdr="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AC6904D-FBDC-4E1E-863E-C45FAD9DD85B}" type="datetime1">
              <a:rPr lang="en-US" smtClean="0"/>
              <a:t>11/6/2025</a:t>
            </a:fld>
            <a:endParaRPr lang="en-US" dirty="0"/>
          </a:p>
        </p:txBody>
      </p:sp>
      <p:sp>
        <p:nvSpPr>
          <p:cNvPr id="5" name="Footer Placeholder 4"/>
          <p:cNvSpPr>
            <a:spLocks noGrp="1"/>
          </p:cNvSpPr>
          <p:nvPr>
            <p:ph type="ftr" sz="quarter" idx="11"/>
          </p:nvPr>
        </p:nvSpPr>
        <p:spPr/>
        <p:txBody>
          <a:bodyPr/>
          <a:lstStyle/>
          <a:p>
            <a:r>
              <a:rPr lang="en-US"/>
              <a:t>Sample Footer Text</a:t>
            </a:r>
            <a:endParaRPr lang="en-US" dirty="0"/>
          </a:p>
        </p:txBody>
      </p:sp>
      <p:sp>
        <p:nvSpPr>
          <p:cNvPr id="6" name="Slide Number Placeholder 5"/>
          <p:cNvSpPr>
            <a:spLocks noGrp="1"/>
          </p:cNvSpPr>
          <p:nvPr>
            <p:ph type="sldNum" sz="quarter" idx="12"/>
          </p:nvPr>
        </p:nvSpPr>
        <p:spPr/>
        <p:txBody>
          <a:bodyPr/>
          <a:lstStyle/>
          <a:p>
            <a:fld id="{DDF60B60-82CA-4BB9-BA6E-A62FADF2374B}" type="slidenum">
              <a:rPr lang="en-US" smtClean="0"/>
              <a:t>‹#›</a:t>
            </a:fld>
            <a:endParaRPr lang="en-US" dirty="0"/>
          </a:p>
        </p:txBody>
      </p:sp>
    </p:spTree>
    <p:extLst>
      <p:ext uri="{BB962C8B-B14F-4D97-AF65-F5344CB8AC3E}">
        <p14:creationId xmlns:p14="http://schemas.microsoft.com/office/powerpoint/2010/main" val="19450057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6D64244-A3D4-4B68-87F0-779EEA0C37FE}" type="datetime1">
              <a:rPr lang="en-US" smtClean="0"/>
              <a:t>11/6/2025</a:t>
            </a:fld>
            <a:endParaRPr lang="en-US"/>
          </a:p>
        </p:txBody>
      </p:sp>
      <p:sp>
        <p:nvSpPr>
          <p:cNvPr id="6" name="Footer Placeholder 5"/>
          <p:cNvSpPr>
            <a:spLocks noGrp="1"/>
          </p:cNvSpPr>
          <p:nvPr>
            <p:ph type="ftr" sz="quarter" idx="11"/>
          </p:nvPr>
        </p:nvSpPr>
        <p:spPr/>
        <p:txBody>
          <a:bodyPr/>
          <a:lstStyle/>
          <a:p>
            <a:r>
              <a:rPr lang="en-US"/>
              <a:t>Sample Footer Text</a:t>
            </a:r>
          </a:p>
        </p:txBody>
      </p:sp>
      <p:sp>
        <p:nvSpPr>
          <p:cNvPr id="7" name="Slide Number Placeholder 6"/>
          <p:cNvSpPr>
            <a:spLocks noGrp="1"/>
          </p:cNvSpPr>
          <p:nvPr>
            <p:ph type="sldNum" sz="quarter" idx="12"/>
          </p:nvPr>
        </p:nvSpPr>
        <p:spPr/>
        <p:txBody>
          <a:bodyPr/>
          <a:lstStyle/>
          <a:p>
            <a:fld id="{DDF60B60-82CA-4BB9-BA6E-A62FADF2374B}" type="slidenum">
              <a:rPr lang="en-US" smtClean="0"/>
              <a:t>‹#›</a:t>
            </a:fld>
            <a:endParaRPr lang="en-US"/>
          </a:p>
        </p:txBody>
      </p:sp>
    </p:spTree>
    <p:extLst>
      <p:ext uri="{BB962C8B-B14F-4D97-AF65-F5344CB8AC3E}">
        <p14:creationId xmlns:p14="http://schemas.microsoft.com/office/powerpoint/2010/main" val="2869251943"/>
      </p:ext>
    </p:extLst>
  </p:cSld>
  <p:clrMapOvr>
    <a:masterClrMapping/>
  </p:clrMapOvr>
  <p:hf hdr="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6D64244-A3D4-4B68-87F0-779EEA0C37FE}" type="datetime1">
              <a:rPr lang="en-US" smtClean="0"/>
              <a:t>11/6/2025</a:t>
            </a:fld>
            <a:endParaRPr lang="en-US"/>
          </a:p>
        </p:txBody>
      </p:sp>
      <p:sp>
        <p:nvSpPr>
          <p:cNvPr id="8" name="Footer Placeholder 7"/>
          <p:cNvSpPr>
            <a:spLocks noGrp="1"/>
          </p:cNvSpPr>
          <p:nvPr>
            <p:ph type="ftr" sz="quarter" idx="11"/>
          </p:nvPr>
        </p:nvSpPr>
        <p:spPr/>
        <p:txBody>
          <a:bodyPr/>
          <a:lstStyle/>
          <a:p>
            <a:r>
              <a:rPr lang="en-US"/>
              <a:t>Sample Footer Text</a:t>
            </a:r>
          </a:p>
        </p:txBody>
      </p:sp>
      <p:sp>
        <p:nvSpPr>
          <p:cNvPr id="9" name="Slide Number Placeholder 8"/>
          <p:cNvSpPr>
            <a:spLocks noGrp="1"/>
          </p:cNvSpPr>
          <p:nvPr>
            <p:ph type="sldNum" sz="quarter" idx="12"/>
          </p:nvPr>
        </p:nvSpPr>
        <p:spPr/>
        <p:txBody>
          <a:bodyPr/>
          <a:lstStyle/>
          <a:p>
            <a:fld id="{DDF60B60-82CA-4BB9-BA6E-A62FADF2374B}" type="slidenum">
              <a:rPr lang="en-US" smtClean="0"/>
              <a:t>‹#›</a:t>
            </a:fld>
            <a:endParaRPr lang="en-US"/>
          </a:p>
        </p:txBody>
      </p:sp>
    </p:spTree>
    <p:extLst>
      <p:ext uri="{BB962C8B-B14F-4D97-AF65-F5344CB8AC3E}">
        <p14:creationId xmlns:p14="http://schemas.microsoft.com/office/powerpoint/2010/main" val="1837760259"/>
      </p:ext>
    </p:extLst>
  </p:cSld>
  <p:clrMapOvr>
    <a:masterClrMapping/>
  </p:clrMapOvr>
  <p:hf hdr="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7" name="Date Placeholder 2"/>
          <p:cNvSpPr>
            <a:spLocks noGrp="1"/>
          </p:cNvSpPr>
          <p:nvPr>
            <p:ph type="dt" sz="half" idx="10"/>
          </p:nvPr>
        </p:nvSpPr>
        <p:spPr/>
        <p:txBody>
          <a:bodyPr/>
          <a:lstStyle/>
          <a:p>
            <a:fld id="{F1E57D35-FD3E-408B-A06E-7ED09E94C083}" type="datetime1">
              <a:rPr lang="en-US" smtClean="0"/>
              <a:t>11/6/2025</a:t>
            </a:fld>
            <a:endParaRPr lang="en-US" dirty="0"/>
          </a:p>
        </p:txBody>
      </p:sp>
      <p:sp>
        <p:nvSpPr>
          <p:cNvPr id="5" name="Footer Placeholder 3"/>
          <p:cNvSpPr>
            <a:spLocks noGrp="1"/>
          </p:cNvSpPr>
          <p:nvPr>
            <p:ph type="ftr" sz="quarter" idx="11"/>
          </p:nvPr>
        </p:nvSpPr>
        <p:spPr/>
        <p:txBody>
          <a:bodyPr/>
          <a:lstStyle/>
          <a:p>
            <a:r>
              <a:rPr lang="en-US"/>
              <a:t>Sample Footer Text</a:t>
            </a:r>
            <a:endParaRPr lang="en-US" dirty="0"/>
          </a:p>
        </p:txBody>
      </p:sp>
      <p:sp>
        <p:nvSpPr>
          <p:cNvPr id="6" name="Slide Number Placeholder 4"/>
          <p:cNvSpPr>
            <a:spLocks noGrp="1"/>
          </p:cNvSpPr>
          <p:nvPr>
            <p:ph type="sldNum" sz="quarter" idx="12"/>
          </p:nvPr>
        </p:nvSpPr>
        <p:spPr/>
        <p:txBody>
          <a:bodyPr/>
          <a:lstStyle/>
          <a:p>
            <a:fld id="{DDF60B60-82CA-4BB9-BA6E-A62FADF2374B}" type="slidenum">
              <a:rPr lang="en-US" smtClean="0"/>
              <a:t>‹#›</a:t>
            </a:fld>
            <a:endParaRPr lang="en-US" dirty="0"/>
          </a:p>
        </p:txBody>
      </p:sp>
    </p:spTree>
    <p:extLst>
      <p:ext uri="{BB962C8B-B14F-4D97-AF65-F5344CB8AC3E}">
        <p14:creationId xmlns:p14="http://schemas.microsoft.com/office/powerpoint/2010/main" val="25743376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56D64244-A3D4-4B68-87F0-779EEA0C37FE}" type="datetime1">
              <a:rPr lang="en-US" smtClean="0"/>
              <a:t>11/6/2025</a:t>
            </a:fld>
            <a:endParaRPr lang="en-US"/>
          </a:p>
        </p:txBody>
      </p:sp>
      <p:sp>
        <p:nvSpPr>
          <p:cNvPr id="5" name="Footer Placeholder 2"/>
          <p:cNvSpPr>
            <a:spLocks noGrp="1"/>
          </p:cNvSpPr>
          <p:nvPr>
            <p:ph type="ftr" sz="quarter" idx="11"/>
          </p:nvPr>
        </p:nvSpPr>
        <p:spPr/>
        <p:txBody>
          <a:bodyPr/>
          <a:lstStyle/>
          <a:p>
            <a:r>
              <a:rPr lang="en-US"/>
              <a:t>Sample Footer Text</a:t>
            </a:r>
          </a:p>
        </p:txBody>
      </p:sp>
      <p:sp>
        <p:nvSpPr>
          <p:cNvPr id="6" name="Slide Number Placeholder 3"/>
          <p:cNvSpPr>
            <a:spLocks noGrp="1"/>
          </p:cNvSpPr>
          <p:nvPr>
            <p:ph type="sldNum" sz="quarter" idx="12"/>
          </p:nvPr>
        </p:nvSpPr>
        <p:spPr/>
        <p:txBody>
          <a:bodyPr/>
          <a:lstStyle/>
          <a:p>
            <a:fld id="{DDF60B60-82CA-4BB9-BA6E-A62FADF2374B}" type="slidenum">
              <a:rPr lang="en-US" smtClean="0"/>
              <a:t>‹#›</a:t>
            </a:fld>
            <a:endParaRPr lang="en-US"/>
          </a:p>
        </p:txBody>
      </p:sp>
    </p:spTree>
    <p:extLst>
      <p:ext uri="{BB962C8B-B14F-4D97-AF65-F5344CB8AC3E}">
        <p14:creationId xmlns:p14="http://schemas.microsoft.com/office/powerpoint/2010/main" val="98546980"/>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Date Placeholder 4"/>
          <p:cNvSpPr>
            <a:spLocks noGrp="1"/>
          </p:cNvSpPr>
          <p:nvPr>
            <p:ph type="dt" sz="half" idx="10"/>
          </p:nvPr>
        </p:nvSpPr>
        <p:spPr/>
        <p:txBody>
          <a:bodyPr/>
          <a:lstStyle/>
          <a:p>
            <a:fld id="{63E7E953-C3C8-4A4B-8817-BB1E8DE8DAD2}" type="datetime1">
              <a:rPr lang="en-US" smtClean="0"/>
              <a:t>11/6/2025</a:t>
            </a:fld>
            <a:endParaRPr lang="en-US" dirty="0"/>
          </a:p>
        </p:txBody>
      </p:sp>
      <p:sp>
        <p:nvSpPr>
          <p:cNvPr id="5" name="Footer Placeholder 5"/>
          <p:cNvSpPr>
            <a:spLocks noGrp="1"/>
          </p:cNvSpPr>
          <p:nvPr>
            <p:ph type="ftr" sz="quarter" idx="11"/>
          </p:nvPr>
        </p:nvSpPr>
        <p:spPr/>
        <p:txBody>
          <a:bodyPr/>
          <a:lstStyle/>
          <a:p>
            <a:r>
              <a:rPr lang="en-US"/>
              <a:t>Sample Footer Text</a:t>
            </a:r>
            <a:endParaRPr lang="en-US" dirty="0"/>
          </a:p>
        </p:txBody>
      </p:sp>
      <p:sp>
        <p:nvSpPr>
          <p:cNvPr id="6" name="Slide Number Placeholder 6"/>
          <p:cNvSpPr>
            <a:spLocks noGrp="1"/>
          </p:cNvSpPr>
          <p:nvPr>
            <p:ph type="sldNum" sz="quarter" idx="12"/>
          </p:nvPr>
        </p:nvSpPr>
        <p:spPr/>
        <p:txBody>
          <a:bodyPr/>
          <a:lstStyle/>
          <a:p>
            <a:fld id="{DDF60B60-82CA-4BB9-BA6E-A62FADF2374B}" type="slidenum">
              <a:rPr lang="en-US" smtClean="0"/>
              <a:t>‹#›</a:t>
            </a:fld>
            <a:endParaRPr lang="en-US" dirty="0"/>
          </a:p>
        </p:txBody>
      </p:sp>
    </p:spTree>
    <p:extLst>
      <p:ext uri="{BB962C8B-B14F-4D97-AF65-F5344CB8AC3E}">
        <p14:creationId xmlns:p14="http://schemas.microsoft.com/office/powerpoint/2010/main" val="13870763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F4969BF-940B-4FBC-8397-235C5A271474}" type="datetime1">
              <a:rPr lang="en-US" smtClean="0"/>
              <a:t>11/6/2025</a:t>
            </a:fld>
            <a:endParaRPr lang="en-US" dirty="0"/>
          </a:p>
        </p:txBody>
      </p:sp>
      <p:sp>
        <p:nvSpPr>
          <p:cNvPr id="6" name="Footer Placeholder 5"/>
          <p:cNvSpPr>
            <a:spLocks noGrp="1"/>
          </p:cNvSpPr>
          <p:nvPr>
            <p:ph type="ftr" sz="quarter" idx="11"/>
          </p:nvPr>
        </p:nvSpPr>
        <p:spPr/>
        <p:txBody>
          <a:bodyPr/>
          <a:lstStyle/>
          <a:p>
            <a:r>
              <a:rPr lang="en-US"/>
              <a:t>Sample Footer Text</a:t>
            </a:r>
            <a:endParaRPr lang="en-US" dirty="0"/>
          </a:p>
        </p:txBody>
      </p:sp>
      <p:sp>
        <p:nvSpPr>
          <p:cNvPr id="7" name="Slide Number Placeholder 6"/>
          <p:cNvSpPr>
            <a:spLocks noGrp="1"/>
          </p:cNvSpPr>
          <p:nvPr>
            <p:ph type="sldNum" sz="quarter" idx="12"/>
          </p:nvPr>
        </p:nvSpPr>
        <p:spPr/>
        <p:txBody>
          <a:bodyPr/>
          <a:lstStyle/>
          <a:p>
            <a:fld id="{DDF60B60-82CA-4BB9-BA6E-A62FADF2374B}" type="slidenum">
              <a:rPr lang="en-US" smtClean="0"/>
              <a:t>‹#›</a:t>
            </a:fld>
            <a:endParaRPr lang="en-US" dirty="0"/>
          </a:p>
        </p:txBody>
      </p:sp>
    </p:spTree>
    <p:extLst>
      <p:ext uri="{BB962C8B-B14F-4D97-AF65-F5344CB8AC3E}">
        <p14:creationId xmlns:p14="http://schemas.microsoft.com/office/powerpoint/2010/main" val="28942633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6D64244-A3D4-4B68-87F0-779EEA0C37FE}" type="datetime1">
              <a:rPr lang="en-US" smtClean="0"/>
              <a:t>11/6/2025</a:t>
            </a:fld>
            <a:endParaRPr lang="en-US"/>
          </a:p>
        </p:txBody>
      </p:sp>
      <p:sp>
        <p:nvSpPr>
          <p:cNvPr id="6" name="Footer Placeholder 5"/>
          <p:cNvSpPr>
            <a:spLocks noGrp="1"/>
          </p:cNvSpPr>
          <p:nvPr>
            <p:ph type="ftr" sz="quarter" idx="11"/>
          </p:nvPr>
        </p:nvSpPr>
        <p:spPr/>
        <p:txBody>
          <a:bodyPr/>
          <a:lstStyle/>
          <a:p>
            <a:r>
              <a:rPr lang="en-US"/>
              <a:t>Sample Footer Text</a:t>
            </a:r>
          </a:p>
        </p:txBody>
      </p:sp>
      <p:sp>
        <p:nvSpPr>
          <p:cNvPr id="7" name="Slide Number Placeholder 6"/>
          <p:cNvSpPr>
            <a:spLocks noGrp="1"/>
          </p:cNvSpPr>
          <p:nvPr>
            <p:ph type="sldNum" sz="quarter" idx="12"/>
          </p:nvPr>
        </p:nvSpPr>
        <p:spPr/>
        <p:txBody>
          <a:bodyPr/>
          <a:lstStyle/>
          <a:p>
            <a:fld id="{DDF60B60-82CA-4BB9-BA6E-A62FADF2374B}" type="slidenum">
              <a:rPr lang="en-US" smtClean="0"/>
              <a:t>‹#›</a:t>
            </a:fld>
            <a:endParaRPr lang="en-US"/>
          </a:p>
        </p:txBody>
      </p:sp>
    </p:spTree>
    <p:extLst>
      <p:ext uri="{BB962C8B-B14F-4D97-AF65-F5344CB8AC3E}">
        <p14:creationId xmlns:p14="http://schemas.microsoft.com/office/powerpoint/2010/main" val="879654983"/>
      </p:ext>
    </p:extLst>
  </p:cSld>
  <p:clrMapOvr>
    <a:masterClrMapping/>
  </p:clrMapOvr>
  <p:hf hdr="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US"/>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56D64244-A3D4-4B68-87F0-779EEA0C37FE}" type="datetime1">
              <a:rPr lang="en-US" smtClean="0"/>
              <a:t>11/6/2025</a:t>
            </a:fld>
            <a:endParaRPr lang="en-US"/>
          </a:p>
        </p:txBody>
      </p:sp>
      <p:sp>
        <p:nvSpPr>
          <p:cNvPr id="5" name="Footer Placeholder 4"/>
          <p:cNvSpPr>
            <a:spLocks noGrp="1"/>
          </p:cNvSpPr>
          <p:nvPr>
            <p:ph type="ftr" sz="quarter" idx="11"/>
          </p:nvPr>
        </p:nvSpPr>
        <p:spPr/>
        <p:txBody>
          <a:bodyPr/>
          <a:lstStyle/>
          <a:p>
            <a:r>
              <a:rPr lang="en-US"/>
              <a:t>Sample Footer Text</a:t>
            </a:r>
          </a:p>
        </p:txBody>
      </p:sp>
      <p:sp>
        <p:nvSpPr>
          <p:cNvPr id="6" name="Slide Number Placeholder 5"/>
          <p:cNvSpPr>
            <a:spLocks noGrp="1"/>
          </p:cNvSpPr>
          <p:nvPr>
            <p:ph type="sldNum" sz="quarter" idx="12"/>
          </p:nvPr>
        </p:nvSpPr>
        <p:spPr/>
        <p:txBody>
          <a:bodyPr/>
          <a:lstStyle/>
          <a:p>
            <a:fld id="{DDF60B60-82CA-4BB9-BA6E-A62FADF2374B}" type="slidenum">
              <a:rPr lang="en-US" smtClean="0"/>
              <a:t>‹#›</a:t>
            </a:fld>
            <a:endParaRPr lang="en-US"/>
          </a:p>
        </p:txBody>
      </p:sp>
    </p:spTree>
    <p:extLst>
      <p:ext uri="{BB962C8B-B14F-4D97-AF65-F5344CB8AC3E}">
        <p14:creationId xmlns:p14="http://schemas.microsoft.com/office/powerpoint/2010/main" val="1115176136"/>
      </p:ext>
    </p:extLst>
  </p:cSld>
  <p:clrMapOvr>
    <a:masterClrMapping/>
  </p:clrMapOvr>
  <p:hf hdr="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US"/>
              <a:t>Click to edit Master title style</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en-US"/>
              <a:t>Click to 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56D64244-A3D4-4B68-87F0-779EEA0C37FE}" type="datetime1">
              <a:rPr lang="en-US" smtClean="0"/>
              <a:t>11/6/2025</a:t>
            </a:fld>
            <a:endParaRPr lang="en-US"/>
          </a:p>
        </p:txBody>
      </p:sp>
      <p:sp>
        <p:nvSpPr>
          <p:cNvPr id="5" name="Footer Placeholder 4"/>
          <p:cNvSpPr>
            <a:spLocks noGrp="1"/>
          </p:cNvSpPr>
          <p:nvPr>
            <p:ph type="ftr" sz="quarter" idx="11"/>
          </p:nvPr>
        </p:nvSpPr>
        <p:spPr/>
        <p:txBody>
          <a:bodyPr/>
          <a:lstStyle/>
          <a:p>
            <a:r>
              <a:rPr lang="en-US"/>
              <a:t>Sample Footer Text</a:t>
            </a:r>
          </a:p>
        </p:txBody>
      </p:sp>
      <p:sp>
        <p:nvSpPr>
          <p:cNvPr id="6" name="Slide Number Placeholder 5"/>
          <p:cNvSpPr>
            <a:spLocks noGrp="1"/>
          </p:cNvSpPr>
          <p:nvPr>
            <p:ph type="sldNum" sz="quarter" idx="12"/>
          </p:nvPr>
        </p:nvSpPr>
        <p:spPr/>
        <p:txBody>
          <a:bodyPr/>
          <a:lstStyle/>
          <a:p>
            <a:fld id="{DDF60B60-82CA-4BB9-BA6E-A62FADF2374B}" type="slidenum">
              <a:rPr lang="en-US" smtClean="0"/>
              <a:t>‹#›</a:t>
            </a:fld>
            <a:endParaRPr lang="en-US"/>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407659429"/>
      </p:ext>
    </p:extLst>
  </p:cSld>
  <p:clrMapOvr>
    <a:masterClrMapping/>
  </p:clrMapOvr>
  <p:hf hdr="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6D64244-A3D4-4B68-87F0-779EEA0C37FE}" type="datetime1">
              <a:rPr lang="en-US" smtClean="0"/>
              <a:t>11/6/2025</a:t>
            </a:fld>
            <a:endParaRPr lang="en-US"/>
          </a:p>
        </p:txBody>
      </p:sp>
      <p:sp>
        <p:nvSpPr>
          <p:cNvPr id="5" name="Footer Placeholder 4"/>
          <p:cNvSpPr>
            <a:spLocks noGrp="1"/>
          </p:cNvSpPr>
          <p:nvPr>
            <p:ph type="ftr" sz="quarter" idx="11"/>
          </p:nvPr>
        </p:nvSpPr>
        <p:spPr/>
        <p:txBody>
          <a:bodyPr/>
          <a:lstStyle/>
          <a:p>
            <a:r>
              <a:rPr lang="en-US"/>
              <a:t>Sample Footer Text</a:t>
            </a:r>
          </a:p>
        </p:txBody>
      </p:sp>
      <p:sp>
        <p:nvSpPr>
          <p:cNvPr id="6" name="Slide Number Placeholder 5"/>
          <p:cNvSpPr>
            <a:spLocks noGrp="1"/>
          </p:cNvSpPr>
          <p:nvPr>
            <p:ph type="sldNum" sz="quarter" idx="12"/>
          </p:nvPr>
        </p:nvSpPr>
        <p:spPr/>
        <p:txBody>
          <a:bodyPr/>
          <a:lstStyle/>
          <a:p>
            <a:fld id="{DDF60B60-82CA-4BB9-BA6E-A62FADF2374B}" type="slidenum">
              <a:rPr lang="en-US" smtClean="0"/>
              <a:t>‹#›</a:t>
            </a:fld>
            <a:endParaRPr lang="en-US"/>
          </a:p>
        </p:txBody>
      </p:sp>
    </p:spTree>
    <p:extLst>
      <p:ext uri="{BB962C8B-B14F-4D97-AF65-F5344CB8AC3E}">
        <p14:creationId xmlns:p14="http://schemas.microsoft.com/office/powerpoint/2010/main" val="1695537727"/>
      </p:ext>
    </p:extLst>
  </p:cSld>
  <p:clrMapOvr>
    <a:masterClrMapping/>
  </p:clrMapOvr>
  <p:hf hdr="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56D64244-A3D4-4B68-87F0-779EEA0C37FE}" type="datetime1">
              <a:rPr lang="en-US" smtClean="0"/>
              <a:t>11/6/2025</a:t>
            </a:fld>
            <a:endParaRPr lang="en-US"/>
          </a:p>
        </p:txBody>
      </p:sp>
      <p:sp>
        <p:nvSpPr>
          <p:cNvPr id="4" name="Footer Placeholder 4"/>
          <p:cNvSpPr>
            <a:spLocks noGrp="1"/>
          </p:cNvSpPr>
          <p:nvPr>
            <p:ph type="ftr" sz="quarter" idx="11"/>
          </p:nvPr>
        </p:nvSpPr>
        <p:spPr/>
        <p:txBody>
          <a:bodyPr/>
          <a:lstStyle/>
          <a:p>
            <a:r>
              <a:rPr lang="en-US"/>
              <a:t>Sample Footer Text</a:t>
            </a:r>
          </a:p>
        </p:txBody>
      </p:sp>
      <p:sp>
        <p:nvSpPr>
          <p:cNvPr id="6" name="Slide Number Placeholder 5"/>
          <p:cNvSpPr>
            <a:spLocks noGrp="1"/>
          </p:cNvSpPr>
          <p:nvPr>
            <p:ph type="sldNum" sz="quarter" idx="12"/>
          </p:nvPr>
        </p:nvSpPr>
        <p:spPr/>
        <p:txBody>
          <a:bodyPr/>
          <a:lstStyle/>
          <a:p>
            <a:fld id="{DDF60B60-82CA-4BB9-BA6E-A62FADF2374B}" type="slidenum">
              <a:rPr lang="en-US" smtClean="0"/>
              <a:t>‹#›</a:t>
            </a:fld>
            <a:endParaRPr lang="en-US"/>
          </a:p>
        </p:txBody>
      </p:sp>
    </p:spTree>
    <p:extLst>
      <p:ext uri="{BB962C8B-B14F-4D97-AF65-F5344CB8AC3E}">
        <p14:creationId xmlns:p14="http://schemas.microsoft.com/office/powerpoint/2010/main" val="666594579"/>
      </p:ext>
    </p:extLst>
  </p:cSld>
  <p:clrMapOvr>
    <a:masterClrMapping/>
  </p:clrMapOvr>
  <p:hf hdr="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56D64244-A3D4-4B68-87F0-779EEA0C37FE}" type="datetime1">
              <a:rPr lang="en-US" smtClean="0"/>
              <a:t>11/6/2025</a:t>
            </a:fld>
            <a:endParaRPr lang="en-US"/>
          </a:p>
        </p:txBody>
      </p:sp>
      <p:sp>
        <p:nvSpPr>
          <p:cNvPr id="4" name="Footer Placeholder 4"/>
          <p:cNvSpPr>
            <a:spLocks noGrp="1"/>
          </p:cNvSpPr>
          <p:nvPr>
            <p:ph type="ftr" sz="quarter" idx="11"/>
          </p:nvPr>
        </p:nvSpPr>
        <p:spPr/>
        <p:txBody>
          <a:bodyPr/>
          <a:lstStyle/>
          <a:p>
            <a:r>
              <a:rPr lang="en-US"/>
              <a:t>Sample Footer Text</a:t>
            </a:r>
          </a:p>
        </p:txBody>
      </p:sp>
      <p:sp>
        <p:nvSpPr>
          <p:cNvPr id="6" name="Slide Number Placeholder 5"/>
          <p:cNvSpPr>
            <a:spLocks noGrp="1"/>
          </p:cNvSpPr>
          <p:nvPr>
            <p:ph type="sldNum" sz="quarter" idx="12"/>
          </p:nvPr>
        </p:nvSpPr>
        <p:spPr/>
        <p:txBody>
          <a:bodyPr/>
          <a:lstStyle/>
          <a:p>
            <a:fld id="{DDF60B60-82CA-4BB9-BA6E-A62FADF2374B}" type="slidenum">
              <a:rPr lang="en-US" smtClean="0"/>
              <a:t>‹#›</a:t>
            </a:fld>
            <a:endParaRPr lang="en-US"/>
          </a:p>
        </p:txBody>
      </p:sp>
    </p:spTree>
    <p:extLst>
      <p:ext uri="{BB962C8B-B14F-4D97-AF65-F5344CB8AC3E}">
        <p14:creationId xmlns:p14="http://schemas.microsoft.com/office/powerpoint/2010/main" val="2077908497"/>
      </p:ext>
    </p:extLst>
  </p:cSld>
  <p:clrMapOvr>
    <a:masterClrMapping/>
  </p:clrMapOvr>
  <p:hf hdr="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6D64244-A3D4-4B68-87F0-779EEA0C37FE}" type="datetime1">
              <a:rPr lang="en-US" smtClean="0"/>
              <a:t>11/6/2025</a:t>
            </a:fld>
            <a:endParaRPr lang="en-US"/>
          </a:p>
        </p:txBody>
      </p:sp>
      <p:sp>
        <p:nvSpPr>
          <p:cNvPr id="5" name="Footer Placeholder 4"/>
          <p:cNvSpPr>
            <a:spLocks noGrp="1"/>
          </p:cNvSpPr>
          <p:nvPr>
            <p:ph type="ftr" sz="quarter" idx="11"/>
          </p:nvPr>
        </p:nvSpPr>
        <p:spPr/>
        <p:txBody>
          <a:bodyPr/>
          <a:lstStyle/>
          <a:p>
            <a:r>
              <a:rPr lang="en-US"/>
              <a:t>Sample Footer Text</a:t>
            </a:r>
          </a:p>
        </p:txBody>
      </p:sp>
      <p:sp>
        <p:nvSpPr>
          <p:cNvPr id="6" name="Slide Number Placeholder 5"/>
          <p:cNvSpPr>
            <a:spLocks noGrp="1"/>
          </p:cNvSpPr>
          <p:nvPr>
            <p:ph type="sldNum" sz="quarter" idx="12"/>
          </p:nvPr>
        </p:nvSpPr>
        <p:spPr/>
        <p:txBody>
          <a:bodyPr/>
          <a:lstStyle/>
          <a:p>
            <a:fld id="{DDF60B60-82CA-4BB9-BA6E-A62FADF2374B}" type="slidenum">
              <a:rPr lang="en-US" smtClean="0"/>
              <a:t>‹#›</a:t>
            </a:fld>
            <a:endParaRPr lang="en-US"/>
          </a:p>
        </p:txBody>
      </p:sp>
    </p:spTree>
    <p:extLst>
      <p:ext uri="{BB962C8B-B14F-4D97-AF65-F5344CB8AC3E}">
        <p14:creationId xmlns:p14="http://schemas.microsoft.com/office/powerpoint/2010/main" val="1895023307"/>
      </p:ext>
    </p:extLst>
  </p:cSld>
  <p:clrMapOvr>
    <a:masterClrMapping/>
  </p:clrMapOvr>
  <p:hf hdr="0"/>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US"/>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6D64244-A3D4-4B68-87F0-779EEA0C37FE}" type="datetime1">
              <a:rPr lang="en-US" smtClean="0"/>
              <a:t>11/6/2025</a:t>
            </a:fld>
            <a:endParaRPr lang="en-US"/>
          </a:p>
        </p:txBody>
      </p:sp>
      <p:sp>
        <p:nvSpPr>
          <p:cNvPr id="5" name="Footer Placeholder 4"/>
          <p:cNvSpPr>
            <a:spLocks noGrp="1"/>
          </p:cNvSpPr>
          <p:nvPr>
            <p:ph type="ftr" sz="quarter" idx="11"/>
          </p:nvPr>
        </p:nvSpPr>
        <p:spPr/>
        <p:txBody>
          <a:bodyPr/>
          <a:lstStyle/>
          <a:p>
            <a:r>
              <a:rPr lang="en-US"/>
              <a:t>Sample Footer Text</a:t>
            </a:r>
          </a:p>
        </p:txBody>
      </p:sp>
      <p:sp>
        <p:nvSpPr>
          <p:cNvPr id="6" name="Slide Number Placeholder 5"/>
          <p:cNvSpPr>
            <a:spLocks noGrp="1"/>
          </p:cNvSpPr>
          <p:nvPr>
            <p:ph type="sldNum" sz="quarter" idx="12"/>
          </p:nvPr>
        </p:nvSpPr>
        <p:spPr/>
        <p:txBody>
          <a:bodyPr/>
          <a:lstStyle/>
          <a:p>
            <a:fld id="{DDF60B60-82CA-4BB9-BA6E-A62FADF2374B}" type="slidenum">
              <a:rPr lang="en-US" smtClean="0"/>
              <a:t>‹#›</a:t>
            </a:fld>
            <a:endParaRPr lang="en-US"/>
          </a:p>
        </p:txBody>
      </p:sp>
    </p:spTree>
    <p:extLst>
      <p:ext uri="{BB962C8B-B14F-4D97-AF65-F5344CB8AC3E}">
        <p14:creationId xmlns:p14="http://schemas.microsoft.com/office/powerpoint/2010/main" val="128821485"/>
      </p:ext>
    </p:extLst>
  </p:cSld>
  <p:clrMapOvr>
    <a:masterClrMapping/>
  </p:clrMapOvr>
  <p:hf hdr="0"/>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Content with Picture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AB8C-6B7B-EBD3-4D71-F5150448D3B6}"/>
              </a:ext>
            </a:extLst>
          </p:cNvPr>
          <p:cNvSpPr>
            <a:spLocks noGrp="1"/>
          </p:cNvSpPr>
          <p:nvPr>
            <p:ph type="title"/>
          </p:nvPr>
        </p:nvSpPr>
        <p:spPr>
          <a:xfrm>
            <a:off x="457199" y="377072"/>
            <a:ext cx="4958078" cy="1225485"/>
          </a:xfrm>
        </p:spPr>
        <p:txBody>
          <a:bodyPr anchor="t"/>
          <a:lstStyle/>
          <a:p>
            <a:r>
              <a:rPr lang="en-US"/>
              <a:t>Click to edit Master title style</a:t>
            </a:r>
            <a:endParaRPr lang="en-US" dirty="0"/>
          </a:p>
        </p:txBody>
      </p:sp>
      <p:sp>
        <p:nvSpPr>
          <p:cNvPr id="19" name="Picture Placeholder 18">
            <a:extLst>
              <a:ext uri="{FF2B5EF4-FFF2-40B4-BE49-F238E27FC236}">
                <a16:creationId xmlns:a16="http://schemas.microsoft.com/office/drawing/2014/main" id="{FBB1EB8E-9C26-DC32-8498-7F5998392555}"/>
              </a:ext>
            </a:extLst>
          </p:cNvPr>
          <p:cNvSpPr>
            <a:spLocks noGrp="1"/>
          </p:cNvSpPr>
          <p:nvPr>
            <p:ph type="pic" sz="quarter" idx="13" hasCustomPrompt="1"/>
          </p:nvPr>
        </p:nvSpPr>
        <p:spPr>
          <a:xfrm>
            <a:off x="0" y="1842182"/>
            <a:ext cx="5758172" cy="4546457"/>
          </a:xfrm>
          <a:blipFill dpi="0" rotWithShape="1">
            <a:blip r:embed="rId2">
              <a:alphaModFix amt="80000"/>
            </a:blip>
            <a:srcRect/>
            <a:stretch>
              <a:fillRect/>
            </a:stretch>
          </a:blipFill>
        </p:spPr>
        <p:txBody>
          <a:bodyPr/>
          <a:lstStyle>
            <a:lvl1pPr marL="0" indent="0">
              <a:buNone/>
              <a:defRPr/>
            </a:lvl1pPr>
          </a:lstStyle>
          <a:p>
            <a:r>
              <a:rPr lang="en-US" dirty="0"/>
              <a:t> </a:t>
            </a:r>
          </a:p>
        </p:txBody>
      </p:sp>
      <p:sp>
        <p:nvSpPr>
          <p:cNvPr id="3" name="Content Placeholder 2">
            <a:extLst>
              <a:ext uri="{FF2B5EF4-FFF2-40B4-BE49-F238E27FC236}">
                <a16:creationId xmlns:a16="http://schemas.microsoft.com/office/drawing/2014/main" id="{00327223-CF88-A3FD-E8DF-370D7C19B1B6}"/>
              </a:ext>
            </a:extLst>
          </p:cNvPr>
          <p:cNvSpPr>
            <a:spLocks noGrp="1"/>
          </p:cNvSpPr>
          <p:nvPr>
            <p:ph idx="1"/>
          </p:nvPr>
        </p:nvSpPr>
        <p:spPr>
          <a:xfrm>
            <a:off x="6176142" y="377072"/>
            <a:ext cx="5558655" cy="57974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8108244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image" Target="../media/image3.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image" Target="../media/image5.png"/><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20">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1">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pic>
        <p:nvPicPr>
          <p:cNvPr id="9" name="Picture 8"/>
          <p:cNvPicPr>
            <a:picLocks noChangeAspect="1"/>
          </p:cNvPicPr>
          <p:nvPr/>
        </p:nvPicPr>
        <p:blipFill rotWithShape="1">
          <a:blip r:embed="rId22">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3">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56D64244-A3D4-4B68-87F0-779EEA0C37FE}" type="datetime1">
              <a:rPr lang="en-US" smtClean="0"/>
              <a:t>11/6/2025</a:t>
            </a:fld>
            <a:endParaRPr lang="en-US"/>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r>
              <a:rPr lang="en-US"/>
              <a:t>Sample Footer Text</a:t>
            </a:r>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DDF60B60-82CA-4BB9-BA6E-A62FADF2374B}" type="slidenum">
              <a:rPr lang="en-US" smtClean="0"/>
              <a:t>‹#›</a:t>
            </a:fld>
            <a:endParaRPr lang="en-US"/>
          </a:p>
        </p:txBody>
      </p:sp>
    </p:spTree>
    <p:extLst>
      <p:ext uri="{BB962C8B-B14F-4D97-AF65-F5344CB8AC3E}">
        <p14:creationId xmlns:p14="http://schemas.microsoft.com/office/powerpoint/2010/main" val="2107575019"/>
      </p:ext>
    </p:extLst>
  </p:cSld>
  <p:clrMap bg1="dk1" tx1="lt1" bg2="dk2" tx2="lt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 id="2147483732" r:id="rId12"/>
    <p:sldLayoutId id="2147483733" r:id="rId13"/>
    <p:sldLayoutId id="2147483734" r:id="rId14"/>
    <p:sldLayoutId id="2147483735" r:id="rId15"/>
    <p:sldLayoutId id="2147483736" r:id="rId16"/>
    <p:sldLayoutId id="2147483737" r:id="rId17"/>
    <p:sldLayoutId id="2147483738" r:id="rId18"/>
  </p:sldLayoutIdLst>
  <p:hf hdr="0"/>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3.xml"/><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5.xml"/><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7.xml"/><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9.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1.xml"/><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3.xml"/><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948E0-FBC1-AF97-5CA3-325F2B93C113}"/>
              </a:ext>
            </a:extLst>
          </p:cNvPr>
          <p:cNvSpPr>
            <a:spLocks noGrp="1"/>
          </p:cNvSpPr>
          <p:nvPr>
            <p:ph type="ctrTitle"/>
          </p:nvPr>
        </p:nvSpPr>
        <p:spPr/>
        <p:txBody>
          <a:bodyPr anchor="ctr">
            <a:normAutofit/>
          </a:bodyPr>
          <a:lstStyle/>
          <a:p>
            <a:r>
              <a:rPr lang="en-US"/>
              <a:t>PragatiDhara App Pitch Deck</a:t>
            </a:r>
          </a:p>
        </p:txBody>
      </p:sp>
      <p:sp>
        <p:nvSpPr>
          <p:cNvPr id="3" name="Subtitle 2">
            <a:extLst>
              <a:ext uri="{FF2B5EF4-FFF2-40B4-BE49-F238E27FC236}">
                <a16:creationId xmlns:a16="http://schemas.microsoft.com/office/drawing/2014/main" id="{C74F27F7-D9BB-95C2-7D74-934C000DA0B7}"/>
              </a:ext>
            </a:extLst>
          </p:cNvPr>
          <p:cNvSpPr>
            <a:spLocks noGrp="1"/>
          </p:cNvSpPr>
          <p:nvPr>
            <p:ph type="subTitle" idx="1"/>
          </p:nvPr>
        </p:nvSpPr>
        <p:spPr/>
        <p:txBody>
          <a:bodyPr anchor="ctr">
            <a:normAutofit/>
          </a:bodyPr>
          <a:lstStyle/>
          <a:p>
            <a:r>
              <a:rPr lang="en-US"/>
              <a:t>Innovative solutions driving progress and growth</a:t>
            </a:r>
          </a:p>
        </p:txBody>
      </p:sp>
      <p:sp>
        <p:nvSpPr>
          <p:cNvPr id="5" name="Date Placeholder 4">
            <a:extLst>
              <a:ext uri="{FF2B5EF4-FFF2-40B4-BE49-F238E27FC236}">
                <a16:creationId xmlns:a16="http://schemas.microsoft.com/office/drawing/2014/main" id="{FBBA30ED-D958-E175-2296-61FCC6A3CA1F}"/>
              </a:ext>
            </a:extLst>
          </p:cNvPr>
          <p:cNvSpPr>
            <a:spLocks noGrp="1"/>
          </p:cNvSpPr>
          <p:nvPr>
            <p:ph type="dt" sz="half" idx="10"/>
          </p:nvPr>
        </p:nvSpPr>
        <p:spPr/>
        <p:txBody>
          <a:bodyPr anchor="ctr">
            <a:normAutofit/>
          </a:bodyPr>
          <a:lstStyle/>
          <a:p>
            <a:pPr>
              <a:spcAft>
                <a:spcPts val="600"/>
              </a:spcAft>
            </a:pPr>
            <a:fld id="{8A278C13-F8B8-4237-9811-6A882F130BDA}" type="datetime1">
              <a:rPr lang="en-US" smtClean="0"/>
              <a:pPr>
                <a:spcAft>
                  <a:spcPts val="600"/>
                </a:spcAft>
              </a:pPr>
              <a:t>11/6/2025</a:t>
            </a:fld>
            <a:endParaRPr lang="en-US"/>
          </a:p>
        </p:txBody>
      </p:sp>
      <p:sp>
        <p:nvSpPr>
          <p:cNvPr id="4" name="Footer Placeholder 3">
            <a:extLst>
              <a:ext uri="{FF2B5EF4-FFF2-40B4-BE49-F238E27FC236}">
                <a16:creationId xmlns:a16="http://schemas.microsoft.com/office/drawing/2014/main" id="{B447A458-9B0F-B608-60AB-750C585F767D}"/>
              </a:ext>
            </a:extLst>
          </p:cNvPr>
          <p:cNvSpPr>
            <a:spLocks noGrp="1"/>
          </p:cNvSpPr>
          <p:nvPr>
            <p:ph type="ftr" sz="quarter" idx="11"/>
          </p:nvPr>
        </p:nvSpPr>
        <p:spPr/>
        <p:txBody>
          <a:bodyPr anchor="ctr">
            <a:normAutofit/>
          </a:bodyPr>
          <a:lstStyle/>
          <a:p>
            <a:pPr>
              <a:spcAft>
                <a:spcPts val="600"/>
              </a:spcAft>
            </a:pPr>
            <a:r>
              <a:rPr lang="en-US" dirty="0"/>
              <a:t>Sample Footer Text</a:t>
            </a:r>
            <a:endParaRPr lang="en-US"/>
          </a:p>
        </p:txBody>
      </p:sp>
      <p:sp>
        <p:nvSpPr>
          <p:cNvPr id="6" name="Slide Number Placeholder 5">
            <a:extLst>
              <a:ext uri="{FF2B5EF4-FFF2-40B4-BE49-F238E27FC236}">
                <a16:creationId xmlns:a16="http://schemas.microsoft.com/office/drawing/2014/main" id="{31D56C8D-F196-B6B2-BB3D-7BC6BD056E06}"/>
              </a:ext>
            </a:extLst>
          </p:cNvPr>
          <p:cNvSpPr>
            <a:spLocks noGrp="1"/>
          </p:cNvSpPr>
          <p:nvPr>
            <p:ph type="sldNum" sz="quarter" idx="12"/>
          </p:nvPr>
        </p:nvSpPr>
        <p:spPr/>
        <p:txBody>
          <a:bodyPr anchor="ctr">
            <a:normAutofit/>
          </a:bodyPr>
          <a:lstStyle/>
          <a:p>
            <a:pPr>
              <a:spcAft>
                <a:spcPts val="600"/>
              </a:spcAft>
            </a:pPr>
            <a:fld id="{DDF60B60-82CA-4BB9-BA6E-A62FADF2374B}" type="slidenum">
              <a:rPr lang="en-US" smtClean="0"/>
              <a:pPr>
                <a:spcAft>
                  <a:spcPts val="600"/>
                </a:spcAft>
              </a:pPr>
              <a:t>1</a:t>
            </a:fld>
            <a:endParaRPr lang="en-US"/>
          </a:p>
        </p:txBody>
      </p:sp>
    </p:spTree>
    <p:extLst>
      <p:ext uri="{BB962C8B-B14F-4D97-AF65-F5344CB8AC3E}">
        <p14:creationId xmlns:p14="http://schemas.microsoft.com/office/powerpoint/2010/main" val="33314420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par>
                                <p:cTn id="11" presetID="10" presetClass="entr" presetSubtype="0" fill="hold" grpId="1" nodeType="withEffect">
                                  <p:stCondLst>
                                    <p:cond delay="250"/>
                                  </p:stCondLst>
                                  <p:iterate type="lt">
                                    <p:tmPct val="10000"/>
                                  </p:iterate>
                                  <p:childTnLst>
                                    <p:set>
                                      <p:cBhvr>
                                        <p:cTn id="12" dur="1" fill="hold">
                                          <p:stCondLst>
                                            <p:cond delay="0"/>
                                          </p:stCondLst>
                                        </p:cTn>
                                        <p:tgtEl>
                                          <p:spTgt spid="3"/>
                                        </p:tgtEl>
                                        <p:attrNameLst>
                                          <p:attrName>style.visibility</p:attrName>
                                        </p:attrNameLst>
                                      </p:cBhvr>
                                      <p:to>
                                        <p:strVal val="visible"/>
                                      </p:to>
                                    </p:set>
                                    <p:animEffect transition="in" filter="fade">
                                      <p:cBhvr>
                                        <p:cTn id="13"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3" grpId="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9B9E84-A594-9304-B731-34A19C9AECD5}"/>
              </a:ext>
            </a:extLst>
          </p:cNvPr>
          <p:cNvSpPr>
            <a:spLocks noGrp="1"/>
          </p:cNvSpPr>
          <p:nvPr>
            <p:ph type="title"/>
          </p:nvPr>
        </p:nvSpPr>
        <p:spPr/>
        <p:txBody>
          <a:bodyPr anchor="b">
            <a:normAutofit/>
          </a:bodyPr>
          <a:lstStyle/>
          <a:p>
            <a:r>
              <a:rPr lang="en-US"/>
              <a:t>Vision &amp; Mission</a:t>
            </a:r>
          </a:p>
        </p:txBody>
      </p:sp>
      <p:sp>
        <p:nvSpPr>
          <p:cNvPr id="5" name="Date Placeholder 4">
            <a:extLst>
              <a:ext uri="{FF2B5EF4-FFF2-40B4-BE49-F238E27FC236}">
                <a16:creationId xmlns:a16="http://schemas.microsoft.com/office/drawing/2014/main" id="{65A229F9-74A6-2083-ADEC-816263CB0488}"/>
              </a:ext>
            </a:extLst>
          </p:cNvPr>
          <p:cNvSpPr>
            <a:spLocks noGrp="1"/>
          </p:cNvSpPr>
          <p:nvPr>
            <p:ph type="dt" sz="half" idx="10"/>
          </p:nvPr>
        </p:nvSpPr>
        <p:spPr/>
        <p:txBody>
          <a:bodyPr anchor="ctr">
            <a:normAutofit/>
          </a:bodyPr>
          <a:lstStyle/>
          <a:p>
            <a:pPr>
              <a:spcAft>
                <a:spcPts val="600"/>
              </a:spcAft>
            </a:pPr>
            <a:fld id="{8A278C13-F8B8-4237-9811-6A882F130BDA}" type="datetime1">
              <a:rPr lang="en-US" smtClean="0"/>
              <a:pPr>
                <a:spcAft>
                  <a:spcPts val="600"/>
                </a:spcAft>
              </a:pPr>
              <a:t>11/6/2025</a:t>
            </a:fld>
            <a:endParaRPr lang="en-US"/>
          </a:p>
        </p:txBody>
      </p:sp>
    </p:spTree>
    <p:extLst>
      <p:ext uri="{BB962C8B-B14F-4D97-AF65-F5344CB8AC3E}">
        <p14:creationId xmlns:p14="http://schemas.microsoft.com/office/powerpoint/2010/main" val="374906043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2F0EC-FA32-F4DB-91AF-7162C0FF2345}"/>
              </a:ext>
            </a:extLst>
          </p:cNvPr>
          <p:cNvSpPr>
            <a:spLocks noGrp="1"/>
          </p:cNvSpPr>
          <p:nvPr>
            <p:ph type="title"/>
          </p:nvPr>
        </p:nvSpPr>
        <p:spPr/>
        <p:txBody>
          <a:bodyPr anchor="t">
            <a:normAutofit fontScale="90000"/>
          </a:bodyPr>
          <a:lstStyle/>
          <a:p>
            <a:r>
              <a:rPr lang="en-US"/>
              <a:t>Transforming Urban Mobility in India</a:t>
            </a:r>
          </a:p>
        </p:txBody>
      </p:sp>
      <p:pic>
        <p:nvPicPr>
          <p:cNvPr id="8" name="Content Placeholder 7" descr="close up Artificial Intelligence technology city for backgroundsFuturistic eye, Artificial Intelligence, Globe - Navigational Equipment, DataBrain Wave, Artificial Intelligence, city.Data,Face recognition">
            <a:extLst>
              <a:ext uri="{FF2B5EF4-FFF2-40B4-BE49-F238E27FC236}">
                <a16:creationId xmlns:a16="http://schemas.microsoft.com/office/drawing/2014/main" id="{33F48728-BFDE-4497-95FC-D8103AFE48F9}"/>
              </a:ext>
            </a:extLst>
          </p:cNvPr>
          <p:cNvPicPr>
            <a:picLocks noGrp="1" noChangeAspect="1"/>
          </p:cNvPicPr>
          <p:nvPr>
            <p:ph type="pic" sz="quarter" idx="13"/>
          </p:nvPr>
        </p:nvPicPr>
        <p:blipFill>
          <a:blip r:embed="rId3"/>
          <a:srcRect l="7797" r="7797"/>
          <a:stretch>
            <a:fillRect/>
          </a:stretch>
        </p:blipFill>
        <p:spPr>
          <a:prstGeom prst="rect">
            <a:avLst/>
          </a:prstGeom>
          <a:noFill/>
        </p:spPr>
      </p:pic>
      <p:sp>
        <p:nvSpPr>
          <p:cNvPr id="4" name="Content Placeholder 3">
            <a:extLst>
              <a:ext uri="{FF2B5EF4-FFF2-40B4-BE49-F238E27FC236}">
                <a16:creationId xmlns:a16="http://schemas.microsoft.com/office/drawing/2014/main" id="{02AC757D-1292-ACBF-5224-2430E785A9BD}"/>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p:txBody>
          <a:bodyPr>
            <a:normAutofit/>
          </a:bodyPr>
          <a:lstStyle/>
          <a:p>
            <a:pPr marL="0" indent="0">
              <a:spcBef>
                <a:spcPts val="2500"/>
              </a:spcBef>
              <a:buFont typeface="Arial" panose="020B0604020202020204" pitchFamily="34" charset="0"/>
              <a:buNone/>
            </a:pPr>
            <a:r>
              <a:rPr lang="en-US" sz="1400" b="1" dirty="0"/>
              <a:t>Citizen-Driven Traffic Management</a:t>
            </a:r>
          </a:p>
          <a:p>
            <a:pPr marL="0" lvl="1" indent="0">
              <a:buFont typeface="Arial" panose="020B0604020202020204" pitchFamily="34" charset="0"/>
              <a:buNone/>
            </a:pPr>
            <a:r>
              <a:rPr lang="en-US" sz="1400" dirty="0"/>
              <a:t>The app empowers citizens to actively participate in reducing traffic congestion and emissions through real-time data sharing.</a:t>
            </a:r>
          </a:p>
          <a:p>
            <a:pPr marL="0" indent="0">
              <a:spcBef>
                <a:spcPts val="2500"/>
              </a:spcBef>
              <a:buFont typeface="Arial" panose="020B0604020202020204" pitchFamily="34" charset="0"/>
              <a:buNone/>
            </a:pPr>
            <a:r>
              <a:rPr lang="en-US" sz="1400" b="1" dirty="0"/>
              <a:t>Integration of Green AI Models</a:t>
            </a:r>
          </a:p>
          <a:p>
            <a:pPr marL="0" lvl="1" indent="0">
              <a:buFont typeface="Arial" panose="020B0604020202020204" pitchFamily="34" charset="0"/>
              <a:buNone/>
            </a:pPr>
            <a:r>
              <a:rPr lang="en-US" sz="1400" dirty="0" err="1"/>
              <a:t>PragatiDhara</a:t>
            </a:r>
            <a:r>
              <a:rPr lang="en-US" sz="1400" dirty="0"/>
              <a:t> leverages green AI technologies to optimize urban traffic for sustainability and smarter mobility solutions.</a:t>
            </a:r>
          </a:p>
          <a:p>
            <a:pPr marL="0" indent="0">
              <a:spcBef>
                <a:spcPts val="2500"/>
              </a:spcBef>
              <a:buFont typeface="Arial" panose="020B0604020202020204" pitchFamily="34" charset="0"/>
              <a:buNone/>
            </a:pPr>
            <a:r>
              <a:rPr lang="en-US" sz="1400" b="1" dirty="0"/>
              <a:t>Alignment with National Sustainability Goals</a:t>
            </a:r>
          </a:p>
          <a:p>
            <a:pPr marL="0" lvl="1" indent="0">
              <a:buFont typeface="Arial" panose="020B0604020202020204" pitchFamily="34" charset="0"/>
              <a:buNone/>
            </a:pPr>
            <a:r>
              <a:rPr lang="en-US" sz="1400" dirty="0"/>
              <a:t>The platform supports India's Smart City Mission and Green Credit Program to promote environmentally responsible commuting.</a:t>
            </a:r>
          </a:p>
          <a:p>
            <a:pPr marL="0" indent="0">
              <a:spcBef>
                <a:spcPts val="2500"/>
              </a:spcBef>
              <a:buFont typeface="Arial" panose="020B0604020202020204" pitchFamily="34" charset="0"/>
              <a:buNone/>
            </a:pPr>
            <a:r>
              <a:rPr lang="en-US" sz="1400" b="1" dirty="0"/>
              <a:t>Behavioral Change and Environmental Stewardship</a:t>
            </a:r>
          </a:p>
          <a:p>
            <a:pPr marL="0" lvl="1" indent="0">
              <a:buFont typeface="Arial" panose="020B0604020202020204" pitchFamily="34" charset="0"/>
              <a:buNone/>
            </a:pPr>
            <a:r>
              <a:rPr lang="en-US" sz="1400" dirty="0"/>
              <a:t>Beyond technology, the mission fosters a culture of responsible commuting and environmental care among citizens.</a:t>
            </a:r>
          </a:p>
        </p:txBody>
      </p:sp>
      <p:sp>
        <p:nvSpPr>
          <p:cNvPr id="6" name="Date Placeholder 5">
            <a:extLst>
              <a:ext uri="{FF2B5EF4-FFF2-40B4-BE49-F238E27FC236}">
                <a16:creationId xmlns:a16="http://schemas.microsoft.com/office/drawing/2014/main" id="{34184484-75A6-CD6E-D2B0-DF050BC75DA8}"/>
              </a:ext>
            </a:extLst>
          </p:cNvPr>
          <p:cNvSpPr>
            <a:spLocks noGrp="1"/>
          </p:cNvSpPr>
          <p:nvPr>
            <p:ph type="dt" sz="half" idx="4294967295"/>
          </p:nvPr>
        </p:nvSpPr>
        <p:spPr>
          <a:xfrm>
            <a:off x="10350500" y="6445250"/>
            <a:ext cx="1841500" cy="365125"/>
          </a:xfrm>
        </p:spPr>
        <p:txBody>
          <a:bodyPr anchor="ctr">
            <a:normAutofit/>
          </a:bodyPr>
          <a:lstStyle/>
          <a:p>
            <a:pPr>
              <a:spcAft>
                <a:spcPts val="600"/>
              </a:spcAft>
            </a:pPr>
            <a:fld id="{B20F022F-161E-41B9-A1BC-CC85E43B1AF4}" type="datetime1">
              <a:rPr lang="en-US" smtClean="0"/>
              <a:pPr>
                <a:spcAft>
                  <a:spcPts val="600"/>
                </a:spcAft>
              </a:pPr>
              <a:t>11/6/2025</a:t>
            </a:fld>
            <a:endParaRPr lang="en-US"/>
          </a:p>
        </p:txBody>
      </p:sp>
      <p:sp>
        <p:nvSpPr>
          <p:cNvPr id="7" name="Slide Number Placeholder 6">
            <a:extLst>
              <a:ext uri="{FF2B5EF4-FFF2-40B4-BE49-F238E27FC236}">
                <a16:creationId xmlns:a16="http://schemas.microsoft.com/office/drawing/2014/main" id="{C4D9DB0F-0754-F476-D75F-264001303DFC}"/>
              </a:ext>
            </a:extLst>
          </p:cNvPr>
          <p:cNvSpPr>
            <a:spLocks noGrp="1"/>
          </p:cNvSpPr>
          <p:nvPr>
            <p:ph type="sldNum" sz="quarter" idx="4294967295"/>
          </p:nvPr>
        </p:nvSpPr>
        <p:spPr>
          <a:xfrm>
            <a:off x="11734800" y="6445250"/>
            <a:ext cx="457200" cy="365125"/>
          </a:xfrm>
        </p:spPr>
        <p:txBody>
          <a:bodyPr anchor="ctr">
            <a:normAutofit fontScale="77500" lnSpcReduction="20000"/>
          </a:bodyPr>
          <a:lstStyle/>
          <a:p>
            <a:pPr>
              <a:spcAft>
                <a:spcPts val="600"/>
              </a:spcAft>
            </a:pPr>
            <a:fld id="{DDF60B60-82CA-4BB9-BA6E-A62FADF2374B}" type="slidenum">
              <a:rPr lang="en-US" smtClean="0"/>
              <a:pPr>
                <a:spcAft>
                  <a:spcPts val="600"/>
                </a:spcAft>
              </a:pPr>
              <a:t>3</a:t>
            </a:fld>
            <a:endParaRPr lang="en-US"/>
          </a:p>
        </p:txBody>
      </p:sp>
    </p:spTree>
    <p:extLst>
      <p:ext uri="{BB962C8B-B14F-4D97-AF65-F5344CB8AC3E}">
        <p14:creationId xmlns:p14="http://schemas.microsoft.com/office/powerpoint/2010/main" val="301625633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18AC6B-8070-9F28-CF11-C79D597B484A}"/>
              </a:ext>
            </a:extLst>
          </p:cNvPr>
          <p:cNvSpPr>
            <a:spLocks noGrp="1"/>
          </p:cNvSpPr>
          <p:nvPr>
            <p:ph type="title"/>
          </p:nvPr>
        </p:nvSpPr>
        <p:spPr/>
        <p:txBody>
          <a:bodyPr anchor="b">
            <a:normAutofit/>
          </a:bodyPr>
          <a:lstStyle/>
          <a:p>
            <a:r>
              <a:rPr lang="en-US"/>
              <a:t>Solution Architecture and Design</a:t>
            </a:r>
          </a:p>
        </p:txBody>
      </p:sp>
    </p:spTree>
    <p:extLst>
      <p:ext uri="{BB962C8B-B14F-4D97-AF65-F5344CB8AC3E}">
        <p14:creationId xmlns:p14="http://schemas.microsoft.com/office/powerpoint/2010/main" val="16083271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4BBBE2-B2C9-0A8D-AD37-9E6FFB2F7F28}"/>
              </a:ext>
            </a:extLst>
          </p:cNvPr>
          <p:cNvSpPr>
            <a:spLocks noGrp="1"/>
          </p:cNvSpPr>
          <p:nvPr>
            <p:ph type="title"/>
          </p:nvPr>
        </p:nvSpPr>
        <p:spPr/>
        <p:txBody>
          <a:bodyPr anchor="t">
            <a:normAutofit fontScale="90000"/>
          </a:bodyPr>
          <a:lstStyle/>
          <a:p>
            <a:r>
              <a:rPr lang="en-US" dirty="0"/>
              <a:t>Crowdsourced AI-Powered Traffic Optimization</a:t>
            </a:r>
          </a:p>
        </p:txBody>
      </p:sp>
      <p:pic>
        <p:nvPicPr>
          <p:cNvPr id="8" name="Content Placeholder 7" descr="Global world travel airplane flight network connection&#10;&#10;++The World map texture derived from public domain NASA: http://visibleearth.nasa.gov.&#10;Traced in Illustrator.File created on November 29, 2018++">
            <a:extLst>
              <a:ext uri="{FF2B5EF4-FFF2-40B4-BE49-F238E27FC236}">
                <a16:creationId xmlns:a16="http://schemas.microsoft.com/office/drawing/2014/main" id="{7E8677F3-2EDA-4A35-8F59-540AA97A578F}"/>
              </a:ext>
            </a:extLst>
          </p:cNvPr>
          <p:cNvPicPr>
            <a:picLocks noGrp="1" noChangeAspect="1"/>
          </p:cNvPicPr>
          <p:nvPr>
            <p:ph type="pic" sz="quarter" idx="13"/>
          </p:nvPr>
        </p:nvPicPr>
        <p:blipFill>
          <a:blip r:embed="rId3"/>
          <a:srcRect l="7797" r="7797"/>
          <a:stretch>
            <a:fillRect/>
          </a:stretch>
        </p:blipFill>
        <p:spPr>
          <a:prstGeom prst="rect">
            <a:avLst/>
          </a:prstGeom>
          <a:noFill/>
        </p:spPr>
      </p:pic>
      <p:sp>
        <p:nvSpPr>
          <p:cNvPr id="4" name="Content Placeholder 3">
            <a:extLst>
              <a:ext uri="{FF2B5EF4-FFF2-40B4-BE49-F238E27FC236}">
                <a16:creationId xmlns:a16="http://schemas.microsoft.com/office/drawing/2014/main" id="{2193CFEA-42B9-8F28-E466-B5E29E649A3B}"/>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p:txBody>
          <a:bodyPr>
            <a:normAutofit/>
          </a:bodyPr>
          <a:lstStyle/>
          <a:p>
            <a:pPr marL="0" indent="0">
              <a:spcBef>
                <a:spcPts val="2500"/>
              </a:spcBef>
              <a:buFont typeface="Arial" panose="020B0604020202020204" pitchFamily="34" charset="0"/>
              <a:buNone/>
            </a:pPr>
            <a:r>
              <a:rPr lang="en-US" sz="1400" b="1" dirty="0"/>
              <a:t>Cloud-Native Modular Framework</a:t>
            </a:r>
          </a:p>
          <a:p>
            <a:pPr marL="0" lvl="1" indent="0">
              <a:buFont typeface="Arial" panose="020B0604020202020204" pitchFamily="34" charset="0"/>
              <a:buNone/>
            </a:pPr>
            <a:r>
              <a:rPr lang="en-US" sz="1400" dirty="0" err="1"/>
              <a:t>PragatiDhara</a:t>
            </a:r>
            <a:r>
              <a:rPr lang="en-US" sz="1400" dirty="0"/>
              <a:t> utilizes a scalable and secure cloud-native modular architecture for dynamic traffic optimization.</a:t>
            </a:r>
          </a:p>
          <a:p>
            <a:pPr marL="0" indent="0">
              <a:spcBef>
                <a:spcPts val="2500"/>
              </a:spcBef>
              <a:buFont typeface="Arial" panose="020B0604020202020204" pitchFamily="34" charset="0"/>
              <a:buNone/>
            </a:pPr>
            <a:r>
              <a:rPr lang="en-US" sz="1400" b="1" dirty="0"/>
              <a:t>Real-Time Data Collection</a:t>
            </a:r>
          </a:p>
          <a:p>
            <a:pPr marL="0" lvl="1" indent="0">
              <a:buFont typeface="Arial" panose="020B0604020202020204" pitchFamily="34" charset="0"/>
              <a:buNone/>
            </a:pPr>
            <a:r>
              <a:rPr lang="en-US" sz="1400" dirty="0"/>
              <a:t>The system collects real-time traffic data from commuters using mobile telemetry to predict congestion effectively.</a:t>
            </a:r>
          </a:p>
          <a:p>
            <a:pPr marL="0" indent="0">
              <a:spcBef>
                <a:spcPts val="2500"/>
              </a:spcBef>
              <a:buFont typeface="Arial" panose="020B0604020202020204" pitchFamily="34" charset="0"/>
              <a:buNone/>
            </a:pPr>
            <a:r>
              <a:rPr lang="en-US" sz="1400" b="1" dirty="0"/>
              <a:t>Privacy-Preserving Federated Learning</a:t>
            </a:r>
          </a:p>
          <a:p>
            <a:pPr marL="0" lvl="1" indent="0">
              <a:buFont typeface="Arial" panose="020B0604020202020204" pitchFamily="34" charset="0"/>
              <a:buNone/>
            </a:pPr>
            <a:r>
              <a:rPr lang="en-US" sz="1400" dirty="0"/>
              <a:t>Federated learning techniques ensure user privacy while analyzing traffic patterns for dynamic rerouting.</a:t>
            </a:r>
          </a:p>
          <a:p>
            <a:pPr marL="0" indent="0">
              <a:spcBef>
                <a:spcPts val="2500"/>
              </a:spcBef>
              <a:buFont typeface="Arial" panose="020B0604020202020204" pitchFamily="34" charset="0"/>
              <a:buNone/>
            </a:pPr>
            <a:r>
              <a:rPr lang="en-US" sz="1400" b="1" dirty="0"/>
              <a:t>Interoperability and Accessibility</a:t>
            </a:r>
          </a:p>
          <a:p>
            <a:pPr marL="0" lvl="1" indent="0">
              <a:buFont typeface="Arial" panose="020B0604020202020204" pitchFamily="34" charset="0"/>
              <a:buNone/>
            </a:pPr>
            <a:r>
              <a:rPr lang="en-US" sz="1400" dirty="0"/>
              <a:t>Integration with APIs and vernacular AI voice interfaces enables seamless connectivity and accessibility for diverse users.</a:t>
            </a:r>
          </a:p>
        </p:txBody>
      </p:sp>
      <p:sp>
        <p:nvSpPr>
          <p:cNvPr id="6" name="Date Placeholder 5">
            <a:extLst>
              <a:ext uri="{FF2B5EF4-FFF2-40B4-BE49-F238E27FC236}">
                <a16:creationId xmlns:a16="http://schemas.microsoft.com/office/drawing/2014/main" id="{E246CA3D-4579-AE1D-851C-A24722B095E7}"/>
              </a:ext>
            </a:extLst>
          </p:cNvPr>
          <p:cNvSpPr>
            <a:spLocks noGrp="1"/>
          </p:cNvSpPr>
          <p:nvPr>
            <p:ph type="dt" sz="half" idx="4294967295"/>
          </p:nvPr>
        </p:nvSpPr>
        <p:spPr>
          <a:xfrm>
            <a:off x="10350500" y="6445250"/>
            <a:ext cx="1841500" cy="365125"/>
          </a:xfrm>
        </p:spPr>
        <p:txBody>
          <a:bodyPr anchor="ctr">
            <a:normAutofit/>
          </a:bodyPr>
          <a:lstStyle/>
          <a:p>
            <a:pPr>
              <a:spcAft>
                <a:spcPts val="600"/>
              </a:spcAft>
            </a:pPr>
            <a:fld id="{B20F022F-161E-41B9-A1BC-CC85E43B1AF4}" type="datetime1">
              <a:rPr lang="en-US" smtClean="0"/>
              <a:pPr>
                <a:spcAft>
                  <a:spcPts val="600"/>
                </a:spcAft>
              </a:pPr>
              <a:t>11/6/2025</a:t>
            </a:fld>
            <a:endParaRPr lang="en-US"/>
          </a:p>
        </p:txBody>
      </p:sp>
      <p:sp>
        <p:nvSpPr>
          <p:cNvPr id="7" name="Slide Number Placeholder 6">
            <a:extLst>
              <a:ext uri="{FF2B5EF4-FFF2-40B4-BE49-F238E27FC236}">
                <a16:creationId xmlns:a16="http://schemas.microsoft.com/office/drawing/2014/main" id="{08171D15-E6A4-EF39-7B4D-9407B4583016}"/>
              </a:ext>
            </a:extLst>
          </p:cNvPr>
          <p:cNvSpPr>
            <a:spLocks noGrp="1"/>
          </p:cNvSpPr>
          <p:nvPr>
            <p:ph type="sldNum" sz="quarter" idx="4294967295"/>
          </p:nvPr>
        </p:nvSpPr>
        <p:spPr>
          <a:xfrm>
            <a:off x="11734800" y="6445250"/>
            <a:ext cx="457200" cy="365125"/>
          </a:xfrm>
        </p:spPr>
        <p:txBody>
          <a:bodyPr anchor="ctr">
            <a:normAutofit fontScale="77500" lnSpcReduction="20000"/>
          </a:bodyPr>
          <a:lstStyle/>
          <a:p>
            <a:pPr>
              <a:spcAft>
                <a:spcPts val="600"/>
              </a:spcAft>
            </a:pPr>
            <a:fld id="{DDF60B60-82CA-4BB9-BA6E-A62FADF2374B}" type="slidenum">
              <a:rPr lang="en-US" smtClean="0"/>
              <a:pPr>
                <a:spcAft>
                  <a:spcPts val="600"/>
                </a:spcAft>
              </a:pPr>
              <a:t>5</a:t>
            </a:fld>
            <a:endParaRPr lang="en-US"/>
          </a:p>
        </p:txBody>
      </p:sp>
    </p:spTree>
    <p:extLst>
      <p:ext uri="{BB962C8B-B14F-4D97-AF65-F5344CB8AC3E}">
        <p14:creationId xmlns:p14="http://schemas.microsoft.com/office/powerpoint/2010/main" val="291660753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7A4213-2E5E-BAE2-B7A5-1973321E1961}"/>
              </a:ext>
            </a:extLst>
          </p:cNvPr>
          <p:cNvSpPr>
            <a:spLocks noGrp="1"/>
          </p:cNvSpPr>
          <p:nvPr>
            <p:ph type="title"/>
          </p:nvPr>
        </p:nvSpPr>
        <p:spPr/>
        <p:txBody>
          <a:bodyPr anchor="b">
            <a:normAutofit/>
          </a:bodyPr>
          <a:lstStyle/>
          <a:p>
            <a:r>
              <a:rPr lang="en-US"/>
              <a:t>Sustainable AI Implementation</a:t>
            </a:r>
          </a:p>
        </p:txBody>
      </p:sp>
      <p:sp>
        <p:nvSpPr>
          <p:cNvPr id="5" name="Date Placeholder 4">
            <a:extLst>
              <a:ext uri="{FF2B5EF4-FFF2-40B4-BE49-F238E27FC236}">
                <a16:creationId xmlns:a16="http://schemas.microsoft.com/office/drawing/2014/main" id="{103AA985-8D62-9330-131C-BC303268E02A}"/>
              </a:ext>
            </a:extLst>
          </p:cNvPr>
          <p:cNvSpPr>
            <a:spLocks noGrp="1"/>
          </p:cNvSpPr>
          <p:nvPr>
            <p:ph type="dt" sz="half" idx="10"/>
          </p:nvPr>
        </p:nvSpPr>
        <p:spPr/>
        <p:txBody>
          <a:bodyPr anchor="ctr">
            <a:normAutofit/>
          </a:bodyPr>
          <a:lstStyle/>
          <a:p>
            <a:pPr>
              <a:spcAft>
                <a:spcPts val="600"/>
              </a:spcAft>
            </a:pPr>
            <a:fld id="{8A278C13-F8B8-4237-9811-6A882F130BDA}" type="datetime1">
              <a:rPr lang="en-US" smtClean="0"/>
              <a:pPr>
                <a:spcAft>
                  <a:spcPts val="600"/>
                </a:spcAft>
              </a:pPr>
              <a:t>11/6/2025</a:t>
            </a:fld>
            <a:endParaRPr lang="en-US"/>
          </a:p>
        </p:txBody>
      </p:sp>
    </p:spTree>
    <p:extLst>
      <p:ext uri="{BB962C8B-B14F-4D97-AF65-F5344CB8AC3E}">
        <p14:creationId xmlns:p14="http://schemas.microsoft.com/office/powerpoint/2010/main" val="214065093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8B8927-F713-C18D-6A7E-E1FD1238E73E}"/>
              </a:ext>
            </a:extLst>
          </p:cNvPr>
          <p:cNvSpPr>
            <a:spLocks noGrp="1"/>
          </p:cNvSpPr>
          <p:nvPr>
            <p:ph type="title"/>
          </p:nvPr>
        </p:nvSpPr>
        <p:spPr>
          <a:xfrm>
            <a:off x="152400" y="377072"/>
            <a:ext cx="5943599" cy="1225485"/>
          </a:xfrm>
        </p:spPr>
        <p:txBody>
          <a:bodyPr anchor="t">
            <a:normAutofit fontScale="90000"/>
          </a:bodyPr>
          <a:lstStyle/>
          <a:p>
            <a:r>
              <a:rPr lang="en-US" dirty="0"/>
              <a:t>Eco-Friendly Routing and Emission Reduction</a:t>
            </a:r>
          </a:p>
        </p:txBody>
      </p:sp>
      <p:pic>
        <p:nvPicPr>
          <p:cNvPr id="8" name="Content Placeholder 7" descr="Smart Phone Showing Credit Score On A Screen">
            <a:extLst>
              <a:ext uri="{FF2B5EF4-FFF2-40B4-BE49-F238E27FC236}">
                <a16:creationId xmlns:a16="http://schemas.microsoft.com/office/drawing/2014/main" id="{62724C83-26B0-4904-ACC7-53D8A9073E2F}"/>
              </a:ext>
            </a:extLst>
          </p:cNvPr>
          <p:cNvPicPr>
            <a:picLocks noGrp="1" noChangeAspect="1"/>
          </p:cNvPicPr>
          <p:nvPr>
            <p:ph type="pic" sz="quarter" idx="13"/>
          </p:nvPr>
        </p:nvPicPr>
        <p:blipFill>
          <a:blip r:embed="rId3"/>
          <a:srcRect l="7797" r="7797"/>
          <a:stretch>
            <a:fillRect/>
          </a:stretch>
        </p:blipFill>
        <p:spPr>
          <a:prstGeom prst="rect">
            <a:avLst/>
          </a:prstGeom>
          <a:noFill/>
        </p:spPr>
      </p:pic>
      <p:sp>
        <p:nvSpPr>
          <p:cNvPr id="4" name="Content Placeholder 3">
            <a:extLst>
              <a:ext uri="{FF2B5EF4-FFF2-40B4-BE49-F238E27FC236}">
                <a16:creationId xmlns:a16="http://schemas.microsoft.com/office/drawing/2014/main" id="{8B86CCCA-0737-75BB-BFA4-2BB13D5B39AA}"/>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p:txBody>
          <a:bodyPr>
            <a:normAutofit/>
          </a:bodyPr>
          <a:lstStyle/>
          <a:p>
            <a:pPr marL="0" indent="0">
              <a:spcBef>
                <a:spcPts val="2500"/>
              </a:spcBef>
              <a:buFont typeface="Arial" panose="020B0604020202020204" pitchFamily="34" charset="0"/>
              <a:buNone/>
            </a:pPr>
            <a:r>
              <a:rPr lang="en-US" sz="1400" b="1"/>
              <a:t>Sustainable AI and Privacy</a:t>
            </a:r>
          </a:p>
          <a:p>
            <a:pPr marL="0" lvl="1" indent="0">
              <a:buFont typeface="Arial" panose="020B0604020202020204" pitchFamily="34" charset="0"/>
              <a:buNone/>
            </a:pPr>
            <a:r>
              <a:rPr lang="en-US" sz="1400"/>
              <a:t>Federated learning processes data locally, reducing cloud use and protecting user privacy while supporting sustainability.</a:t>
            </a:r>
          </a:p>
          <a:p>
            <a:pPr marL="0" indent="0">
              <a:spcBef>
                <a:spcPts val="2500"/>
              </a:spcBef>
              <a:buFont typeface="Arial" panose="020B0604020202020204" pitchFamily="34" charset="0"/>
              <a:buNone/>
            </a:pPr>
            <a:r>
              <a:rPr lang="en-US" sz="1400" b="1"/>
              <a:t>CO2 Savings Visualization</a:t>
            </a:r>
          </a:p>
          <a:p>
            <a:pPr marL="0" lvl="1" indent="0">
              <a:buFont typeface="Arial" panose="020B0604020202020204" pitchFamily="34" charset="0"/>
              <a:buNone/>
            </a:pPr>
            <a:r>
              <a:rPr lang="en-US" sz="1400"/>
              <a:t>The app calculates and displays CO₂ savings per route, helping users understand environmental benefits of eco-routing.</a:t>
            </a:r>
          </a:p>
          <a:p>
            <a:pPr marL="0" indent="0">
              <a:spcBef>
                <a:spcPts val="2500"/>
              </a:spcBef>
              <a:buFont typeface="Arial" panose="020B0604020202020204" pitchFamily="34" charset="0"/>
              <a:buNone/>
            </a:pPr>
            <a:r>
              <a:rPr lang="en-US" sz="1400" b="1"/>
              <a:t>GreenPoints Incentives</a:t>
            </a:r>
          </a:p>
          <a:p>
            <a:pPr marL="0" lvl="1" indent="0">
              <a:buFont typeface="Arial" panose="020B0604020202020204" pitchFamily="34" charset="0"/>
              <a:buNone/>
            </a:pPr>
            <a:r>
              <a:rPr lang="en-US" sz="1400"/>
              <a:t>Users earn GreenPoints redeemable for fuel discounts, EV charging credits, and retail coupons to promote sustainable choices.</a:t>
            </a:r>
          </a:p>
          <a:p>
            <a:pPr marL="0" indent="0">
              <a:spcBef>
                <a:spcPts val="2500"/>
              </a:spcBef>
              <a:buFont typeface="Arial" panose="020B0604020202020204" pitchFamily="34" charset="0"/>
              <a:buNone/>
            </a:pPr>
            <a:r>
              <a:rPr lang="en-US" sz="1400" b="1"/>
              <a:t>Predictive Traffic Analysis</a:t>
            </a:r>
          </a:p>
          <a:p>
            <a:pPr marL="0" lvl="1" indent="0">
              <a:buFont typeface="Arial" panose="020B0604020202020204" pitchFamily="34" charset="0"/>
              <a:buNone/>
            </a:pPr>
            <a:r>
              <a:rPr lang="en-US" sz="1400"/>
              <a:t>AI models predict traffic to help users avoid congestion, lowering fuel consumption and emissions.</a:t>
            </a:r>
          </a:p>
        </p:txBody>
      </p:sp>
      <p:sp>
        <p:nvSpPr>
          <p:cNvPr id="6" name="Date Placeholder 5">
            <a:extLst>
              <a:ext uri="{FF2B5EF4-FFF2-40B4-BE49-F238E27FC236}">
                <a16:creationId xmlns:a16="http://schemas.microsoft.com/office/drawing/2014/main" id="{FB196675-9723-B9D4-B20E-5F982E60FBE7}"/>
              </a:ext>
            </a:extLst>
          </p:cNvPr>
          <p:cNvSpPr>
            <a:spLocks noGrp="1"/>
          </p:cNvSpPr>
          <p:nvPr>
            <p:ph type="dt" sz="half" idx="4294967295"/>
          </p:nvPr>
        </p:nvSpPr>
        <p:spPr>
          <a:xfrm>
            <a:off x="10350500" y="6445250"/>
            <a:ext cx="1841500" cy="365125"/>
          </a:xfrm>
        </p:spPr>
        <p:txBody>
          <a:bodyPr anchor="ctr">
            <a:normAutofit/>
          </a:bodyPr>
          <a:lstStyle/>
          <a:p>
            <a:pPr>
              <a:spcAft>
                <a:spcPts val="600"/>
              </a:spcAft>
            </a:pPr>
            <a:fld id="{B20F022F-161E-41B9-A1BC-CC85E43B1AF4}" type="datetime1">
              <a:rPr lang="en-US" smtClean="0"/>
              <a:pPr>
                <a:spcAft>
                  <a:spcPts val="600"/>
                </a:spcAft>
              </a:pPr>
              <a:t>11/6/2025</a:t>
            </a:fld>
            <a:endParaRPr lang="en-US"/>
          </a:p>
        </p:txBody>
      </p:sp>
      <p:sp>
        <p:nvSpPr>
          <p:cNvPr id="7" name="Slide Number Placeholder 6">
            <a:extLst>
              <a:ext uri="{FF2B5EF4-FFF2-40B4-BE49-F238E27FC236}">
                <a16:creationId xmlns:a16="http://schemas.microsoft.com/office/drawing/2014/main" id="{91B73D88-215B-AA4F-F388-5E73AD375516}"/>
              </a:ext>
            </a:extLst>
          </p:cNvPr>
          <p:cNvSpPr>
            <a:spLocks noGrp="1"/>
          </p:cNvSpPr>
          <p:nvPr>
            <p:ph type="sldNum" sz="quarter" idx="4294967295"/>
          </p:nvPr>
        </p:nvSpPr>
        <p:spPr>
          <a:xfrm>
            <a:off x="11734800" y="6445250"/>
            <a:ext cx="457200" cy="365125"/>
          </a:xfrm>
        </p:spPr>
        <p:txBody>
          <a:bodyPr anchor="ctr">
            <a:normAutofit fontScale="77500" lnSpcReduction="20000"/>
          </a:bodyPr>
          <a:lstStyle/>
          <a:p>
            <a:pPr>
              <a:spcAft>
                <a:spcPts val="600"/>
              </a:spcAft>
            </a:pPr>
            <a:fld id="{DDF60B60-82CA-4BB9-BA6E-A62FADF2374B}" type="slidenum">
              <a:rPr lang="en-US" smtClean="0"/>
              <a:pPr>
                <a:spcAft>
                  <a:spcPts val="600"/>
                </a:spcAft>
              </a:pPr>
              <a:t>7</a:t>
            </a:fld>
            <a:endParaRPr lang="en-US"/>
          </a:p>
        </p:txBody>
      </p:sp>
    </p:spTree>
    <p:extLst>
      <p:ext uri="{BB962C8B-B14F-4D97-AF65-F5344CB8AC3E}">
        <p14:creationId xmlns:p14="http://schemas.microsoft.com/office/powerpoint/2010/main" val="134923597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1610BB-4522-8D14-DDF4-1053DFE10C40}"/>
              </a:ext>
            </a:extLst>
          </p:cNvPr>
          <p:cNvSpPr>
            <a:spLocks noGrp="1"/>
          </p:cNvSpPr>
          <p:nvPr>
            <p:ph type="title"/>
          </p:nvPr>
        </p:nvSpPr>
        <p:spPr/>
        <p:txBody>
          <a:bodyPr anchor="b">
            <a:normAutofit/>
          </a:bodyPr>
          <a:lstStyle/>
          <a:p>
            <a:r>
              <a:rPr lang="en-US"/>
              <a:t>Innovation and Differentiation</a:t>
            </a:r>
          </a:p>
        </p:txBody>
      </p:sp>
      <p:sp>
        <p:nvSpPr>
          <p:cNvPr id="5" name="Date Placeholder 4">
            <a:extLst>
              <a:ext uri="{FF2B5EF4-FFF2-40B4-BE49-F238E27FC236}">
                <a16:creationId xmlns:a16="http://schemas.microsoft.com/office/drawing/2014/main" id="{F2FB8808-ED92-447F-0184-9603D181BDF6}"/>
              </a:ext>
            </a:extLst>
          </p:cNvPr>
          <p:cNvSpPr>
            <a:spLocks noGrp="1"/>
          </p:cNvSpPr>
          <p:nvPr>
            <p:ph type="dt" sz="half" idx="10"/>
          </p:nvPr>
        </p:nvSpPr>
        <p:spPr/>
        <p:txBody>
          <a:bodyPr anchor="ctr">
            <a:normAutofit/>
          </a:bodyPr>
          <a:lstStyle/>
          <a:p>
            <a:pPr>
              <a:spcAft>
                <a:spcPts val="600"/>
              </a:spcAft>
            </a:pPr>
            <a:fld id="{8A278C13-F8B8-4237-9811-6A882F130BDA}" type="datetime1">
              <a:rPr lang="en-US" smtClean="0"/>
              <a:pPr>
                <a:spcAft>
                  <a:spcPts val="600"/>
                </a:spcAft>
              </a:pPr>
              <a:t>11/6/2025</a:t>
            </a:fld>
            <a:endParaRPr lang="en-US"/>
          </a:p>
        </p:txBody>
      </p:sp>
    </p:spTree>
    <p:extLst>
      <p:ext uri="{BB962C8B-B14F-4D97-AF65-F5344CB8AC3E}">
        <p14:creationId xmlns:p14="http://schemas.microsoft.com/office/powerpoint/2010/main" val="247776396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EC2661-55E5-4F00-0CF1-068141930AA8}"/>
              </a:ext>
            </a:extLst>
          </p:cNvPr>
          <p:cNvSpPr>
            <a:spLocks noGrp="1"/>
          </p:cNvSpPr>
          <p:nvPr>
            <p:ph type="title"/>
          </p:nvPr>
        </p:nvSpPr>
        <p:spPr>
          <a:xfrm>
            <a:off x="0" y="377072"/>
            <a:ext cx="7315200" cy="1225485"/>
          </a:xfrm>
        </p:spPr>
        <p:txBody>
          <a:bodyPr anchor="t">
            <a:normAutofit fontScale="90000"/>
          </a:bodyPr>
          <a:lstStyle/>
          <a:p>
            <a:r>
              <a:rPr lang="en-US" dirty="0"/>
              <a:t>Gamified Engagement &amp; Hyperlocal Intelligence</a:t>
            </a:r>
          </a:p>
        </p:txBody>
      </p:sp>
      <p:pic>
        <p:nvPicPr>
          <p:cNvPr id="8" name="Content Placeholder 7" descr="Man uses his phone to get directions to his destination">
            <a:extLst>
              <a:ext uri="{FF2B5EF4-FFF2-40B4-BE49-F238E27FC236}">
                <a16:creationId xmlns:a16="http://schemas.microsoft.com/office/drawing/2014/main" id="{6BC5D0EF-8635-4855-836C-3CB459C01F59}"/>
              </a:ext>
            </a:extLst>
          </p:cNvPr>
          <p:cNvPicPr>
            <a:picLocks noGrp="1" noChangeAspect="1"/>
          </p:cNvPicPr>
          <p:nvPr>
            <p:ph type="pic" sz="quarter" idx="13"/>
          </p:nvPr>
        </p:nvPicPr>
        <p:blipFill>
          <a:blip r:embed="rId3"/>
          <a:srcRect l="7735" r="7735"/>
          <a:stretch>
            <a:fillRect/>
          </a:stretch>
        </p:blipFill>
        <p:spPr>
          <a:prstGeom prst="rect">
            <a:avLst/>
          </a:prstGeom>
          <a:noFill/>
        </p:spPr>
      </p:pic>
      <p:sp>
        <p:nvSpPr>
          <p:cNvPr id="4" name="Content Placeholder 3">
            <a:extLst>
              <a:ext uri="{FF2B5EF4-FFF2-40B4-BE49-F238E27FC236}">
                <a16:creationId xmlns:a16="http://schemas.microsoft.com/office/drawing/2014/main" id="{6C9DAF4B-CD52-B898-131A-4871B69EBBD9}"/>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128657" y="830328"/>
            <a:ext cx="5558655" cy="5797484"/>
          </a:xfrm>
        </p:spPr>
        <p:txBody>
          <a:bodyPr>
            <a:normAutofit lnSpcReduction="10000"/>
          </a:bodyPr>
          <a:lstStyle/>
          <a:p>
            <a:pPr marL="0" indent="0">
              <a:spcBef>
                <a:spcPts val="2500"/>
              </a:spcBef>
              <a:buFont typeface="Arial" panose="020B0604020202020204" pitchFamily="34" charset="0"/>
              <a:buNone/>
            </a:pPr>
            <a:r>
              <a:rPr lang="en-US" sz="1400" b="1" dirty="0"/>
              <a:t>Innovative Traffic Insights</a:t>
            </a:r>
          </a:p>
          <a:p>
            <a:pPr marL="0" lvl="1" indent="0">
              <a:buFont typeface="Arial" panose="020B0604020202020204" pitchFamily="34" charset="0"/>
              <a:buNone/>
            </a:pPr>
            <a:r>
              <a:rPr lang="en-US" sz="1400" dirty="0" err="1"/>
              <a:t>PragatiDhara</a:t>
            </a:r>
            <a:r>
              <a:rPr lang="en-US" sz="1400" dirty="0"/>
              <a:t> uses real-time crowd-sourced traffic data and green route options to improve navigation and reduce congestion.</a:t>
            </a:r>
          </a:p>
          <a:p>
            <a:pPr marL="0" indent="0">
              <a:spcBef>
                <a:spcPts val="2500"/>
              </a:spcBef>
              <a:buFont typeface="Arial" panose="020B0604020202020204" pitchFamily="34" charset="0"/>
              <a:buNone/>
            </a:pPr>
            <a:r>
              <a:rPr lang="en-US" sz="1400" b="1" dirty="0"/>
              <a:t>Vernacular AI Support</a:t>
            </a:r>
          </a:p>
          <a:p>
            <a:pPr marL="0" lvl="1" indent="0">
              <a:buFont typeface="Arial" panose="020B0604020202020204" pitchFamily="34" charset="0"/>
              <a:buNone/>
            </a:pPr>
            <a:r>
              <a:rPr lang="en-US" sz="1400" dirty="0"/>
              <a:t>The app features vernacular AI to support regional languages, enhancing accessibility and user engagement across diverse communities.</a:t>
            </a:r>
          </a:p>
          <a:p>
            <a:pPr marL="0" indent="0">
              <a:spcBef>
                <a:spcPts val="2500"/>
              </a:spcBef>
              <a:buFont typeface="Arial" panose="020B0604020202020204" pitchFamily="34" charset="0"/>
              <a:buNone/>
            </a:pPr>
            <a:r>
              <a:rPr lang="en-US" sz="1400" b="1" dirty="0"/>
              <a:t>Gamified Eco Rewards</a:t>
            </a:r>
          </a:p>
          <a:p>
            <a:pPr marL="0" lvl="1" indent="0">
              <a:buFont typeface="Arial" panose="020B0604020202020204" pitchFamily="34" charset="0"/>
              <a:buNone/>
            </a:pPr>
            <a:r>
              <a:rPr lang="en-US" sz="1400" dirty="0"/>
              <a:t>Users earn </a:t>
            </a:r>
            <a:r>
              <a:rPr lang="en-US" sz="1400" dirty="0" err="1"/>
              <a:t>GreenPoints</a:t>
            </a:r>
            <a:r>
              <a:rPr lang="en-US" sz="1400" dirty="0"/>
              <a:t> for sustainable actions, creating a gamified ecosystem that encourages eco-friendly behavior.</a:t>
            </a:r>
          </a:p>
          <a:p>
            <a:pPr marL="0" indent="0">
              <a:spcBef>
                <a:spcPts val="2500"/>
              </a:spcBef>
              <a:buFont typeface="Arial" panose="020B0604020202020204" pitchFamily="34" charset="0"/>
              <a:buNone/>
            </a:pPr>
            <a:r>
              <a:rPr lang="en-US" sz="1400" b="1" dirty="0"/>
              <a:t>Seamless Integrations</a:t>
            </a:r>
          </a:p>
          <a:p>
            <a:pPr marL="0" lvl="1" indent="0">
              <a:buFont typeface="Arial" panose="020B0604020202020204" pitchFamily="34" charset="0"/>
              <a:buNone/>
            </a:pPr>
            <a:r>
              <a:rPr lang="en-US" sz="1400" dirty="0" err="1"/>
              <a:t>PragatiDhara</a:t>
            </a:r>
            <a:r>
              <a:rPr lang="en-US" sz="1400" dirty="0"/>
              <a:t> integrates with Google Maps, ride-hailing apps, and smart city systems, supporting ESG dashboards and corporate mobility.</a:t>
            </a:r>
          </a:p>
          <a:p>
            <a:pPr marL="0" indent="0">
              <a:spcBef>
                <a:spcPts val="2500"/>
              </a:spcBef>
              <a:buFont typeface="Arial" panose="020B0604020202020204" pitchFamily="34" charset="0"/>
              <a:buNone/>
            </a:pPr>
            <a:r>
              <a:rPr lang="en-US" sz="1400" b="1" dirty="0"/>
              <a:t>Hyperlocal Hazard Reporting</a:t>
            </a:r>
          </a:p>
          <a:p>
            <a:pPr marL="0" lvl="1" indent="0">
              <a:buFont typeface="Arial" panose="020B0604020202020204" pitchFamily="34" charset="0"/>
              <a:buNone/>
            </a:pPr>
            <a:r>
              <a:rPr lang="en-US" sz="1400" dirty="0"/>
              <a:t>Users submit real-time data on unique traffic hazards like stray cattle and potholes, improving map accuracy.</a:t>
            </a:r>
          </a:p>
          <a:p>
            <a:pPr marL="0" lvl="1" indent="0">
              <a:buFont typeface="Arial" panose="020B0604020202020204" pitchFamily="34" charset="0"/>
              <a:buNone/>
            </a:pPr>
            <a:endParaRPr lang="en-US" sz="1400" dirty="0"/>
          </a:p>
        </p:txBody>
      </p:sp>
      <p:sp>
        <p:nvSpPr>
          <p:cNvPr id="6" name="Date Placeholder 5">
            <a:extLst>
              <a:ext uri="{FF2B5EF4-FFF2-40B4-BE49-F238E27FC236}">
                <a16:creationId xmlns:a16="http://schemas.microsoft.com/office/drawing/2014/main" id="{C840EDEE-07E7-A8C6-88B4-FA4326CBC084}"/>
              </a:ext>
            </a:extLst>
          </p:cNvPr>
          <p:cNvSpPr>
            <a:spLocks noGrp="1"/>
          </p:cNvSpPr>
          <p:nvPr>
            <p:ph type="dt" sz="half" idx="4294967295"/>
          </p:nvPr>
        </p:nvSpPr>
        <p:spPr>
          <a:xfrm>
            <a:off x="10350500" y="6445250"/>
            <a:ext cx="1841500" cy="365125"/>
          </a:xfrm>
        </p:spPr>
        <p:txBody>
          <a:bodyPr anchor="ctr">
            <a:normAutofit/>
          </a:bodyPr>
          <a:lstStyle/>
          <a:p>
            <a:pPr>
              <a:spcAft>
                <a:spcPts val="600"/>
              </a:spcAft>
            </a:pPr>
            <a:fld id="{B20F022F-161E-41B9-A1BC-CC85E43B1AF4}" type="datetime1">
              <a:rPr lang="en-US" smtClean="0"/>
              <a:pPr>
                <a:spcAft>
                  <a:spcPts val="600"/>
                </a:spcAft>
              </a:pPr>
              <a:t>11/6/2025</a:t>
            </a:fld>
            <a:endParaRPr lang="en-US"/>
          </a:p>
        </p:txBody>
      </p:sp>
      <p:sp>
        <p:nvSpPr>
          <p:cNvPr id="7" name="Slide Number Placeholder 6">
            <a:extLst>
              <a:ext uri="{FF2B5EF4-FFF2-40B4-BE49-F238E27FC236}">
                <a16:creationId xmlns:a16="http://schemas.microsoft.com/office/drawing/2014/main" id="{70084073-058D-E15B-D5EA-512731583521}"/>
              </a:ext>
            </a:extLst>
          </p:cNvPr>
          <p:cNvSpPr>
            <a:spLocks noGrp="1"/>
          </p:cNvSpPr>
          <p:nvPr>
            <p:ph type="sldNum" sz="quarter" idx="4294967295"/>
          </p:nvPr>
        </p:nvSpPr>
        <p:spPr>
          <a:xfrm>
            <a:off x="11734800" y="6445250"/>
            <a:ext cx="457200" cy="365125"/>
          </a:xfrm>
        </p:spPr>
        <p:txBody>
          <a:bodyPr anchor="ctr">
            <a:normAutofit fontScale="77500" lnSpcReduction="20000"/>
          </a:bodyPr>
          <a:lstStyle/>
          <a:p>
            <a:pPr>
              <a:spcAft>
                <a:spcPts val="600"/>
              </a:spcAft>
            </a:pPr>
            <a:fld id="{DDF60B60-82CA-4BB9-BA6E-A62FADF2374B}" type="slidenum">
              <a:rPr lang="en-US" smtClean="0"/>
              <a:pPr>
                <a:spcAft>
                  <a:spcPts val="600"/>
                </a:spcAft>
              </a:pPr>
              <a:t>9</a:t>
            </a:fld>
            <a:endParaRPr lang="en-US"/>
          </a:p>
        </p:txBody>
      </p:sp>
    </p:spTree>
    <p:extLst>
      <p:ext uri="{BB962C8B-B14F-4D97-AF65-F5344CB8AC3E}">
        <p14:creationId xmlns:p14="http://schemas.microsoft.com/office/powerpoint/2010/main" val="128506857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7523F9-BD58-8603-DB42-C523BBAD554E}"/>
              </a:ext>
            </a:extLst>
          </p:cNvPr>
          <p:cNvSpPr>
            <a:spLocks noGrp="1"/>
          </p:cNvSpPr>
          <p:nvPr>
            <p:ph type="title"/>
          </p:nvPr>
        </p:nvSpPr>
        <p:spPr/>
        <p:txBody>
          <a:bodyPr anchor="b">
            <a:normAutofit/>
          </a:bodyPr>
          <a:lstStyle/>
          <a:p>
            <a:r>
              <a:rPr lang="en-US"/>
              <a:t>Implementation and Roadmap</a:t>
            </a:r>
          </a:p>
        </p:txBody>
      </p:sp>
      <p:sp>
        <p:nvSpPr>
          <p:cNvPr id="5" name="Date Placeholder 4">
            <a:extLst>
              <a:ext uri="{FF2B5EF4-FFF2-40B4-BE49-F238E27FC236}">
                <a16:creationId xmlns:a16="http://schemas.microsoft.com/office/drawing/2014/main" id="{02E4FE47-DAA5-356A-1084-3967EF9DBE80}"/>
              </a:ext>
            </a:extLst>
          </p:cNvPr>
          <p:cNvSpPr>
            <a:spLocks noGrp="1"/>
          </p:cNvSpPr>
          <p:nvPr>
            <p:ph type="dt" sz="half" idx="10"/>
          </p:nvPr>
        </p:nvSpPr>
        <p:spPr/>
        <p:txBody>
          <a:bodyPr anchor="ctr">
            <a:normAutofit/>
          </a:bodyPr>
          <a:lstStyle/>
          <a:p>
            <a:pPr>
              <a:spcAft>
                <a:spcPts val="600"/>
              </a:spcAft>
            </a:pPr>
            <a:fld id="{8A278C13-F8B8-4237-9811-6A882F130BDA}" type="datetime1">
              <a:rPr lang="en-US" smtClean="0"/>
              <a:pPr>
                <a:spcAft>
                  <a:spcPts val="600"/>
                </a:spcAft>
              </a:pPr>
              <a:t>11/6/2025</a:t>
            </a:fld>
            <a:endParaRPr lang="en-US"/>
          </a:p>
        </p:txBody>
      </p:sp>
    </p:spTree>
    <p:extLst>
      <p:ext uri="{BB962C8B-B14F-4D97-AF65-F5344CB8AC3E}">
        <p14:creationId xmlns:p14="http://schemas.microsoft.com/office/powerpoint/2010/main" val="337558737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9BC802-C235-5288-3470-1DA42B762CB3}"/>
              </a:ext>
            </a:extLst>
          </p:cNvPr>
          <p:cNvSpPr>
            <a:spLocks noGrp="1"/>
          </p:cNvSpPr>
          <p:nvPr>
            <p:ph type="title"/>
          </p:nvPr>
        </p:nvSpPr>
        <p:spPr/>
        <p:txBody>
          <a:bodyPr anchor="t">
            <a:normAutofit fontScale="90000"/>
          </a:bodyPr>
          <a:lstStyle/>
          <a:p>
            <a:r>
              <a:rPr lang="en-US"/>
              <a:t>Phased Rollout Strategy</a:t>
            </a:r>
          </a:p>
        </p:txBody>
      </p:sp>
      <p:pic>
        <p:nvPicPr>
          <p:cNvPr id="8" name="Content Placeholder 7" descr="Driverless self drive autopilot vehicle">
            <a:extLst>
              <a:ext uri="{FF2B5EF4-FFF2-40B4-BE49-F238E27FC236}">
                <a16:creationId xmlns:a16="http://schemas.microsoft.com/office/drawing/2014/main" id="{08F51971-CC52-4F7C-B9A6-397448A2B124}"/>
              </a:ext>
            </a:extLst>
          </p:cNvPr>
          <p:cNvPicPr>
            <a:picLocks noGrp="1" noChangeAspect="1"/>
          </p:cNvPicPr>
          <p:nvPr>
            <p:ph type="pic" sz="quarter" idx="13"/>
          </p:nvPr>
        </p:nvPicPr>
        <p:blipFill>
          <a:blip r:embed="rId3"/>
          <a:srcRect l="14413" r="14413"/>
          <a:stretch>
            <a:fillRect/>
          </a:stretch>
        </p:blipFill>
        <p:spPr>
          <a:prstGeom prst="rect">
            <a:avLst/>
          </a:prstGeom>
          <a:noFill/>
        </p:spPr>
      </p:pic>
      <p:sp>
        <p:nvSpPr>
          <p:cNvPr id="4" name="Content Placeholder 3">
            <a:extLst>
              <a:ext uri="{FF2B5EF4-FFF2-40B4-BE49-F238E27FC236}">
                <a16:creationId xmlns:a16="http://schemas.microsoft.com/office/drawing/2014/main" id="{B11AC041-CE5C-522F-8084-C4C58BF470FE}"/>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176145" y="1132788"/>
            <a:ext cx="5558655" cy="5797484"/>
          </a:xfrm>
        </p:spPr>
        <p:txBody>
          <a:bodyPr>
            <a:normAutofit/>
          </a:bodyPr>
          <a:lstStyle/>
          <a:p>
            <a:pPr marL="0" indent="0">
              <a:spcBef>
                <a:spcPts val="2500"/>
              </a:spcBef>
              <a:buFont typeface="Arial" panose="020B0604020202020204" pitchFamily="34" charset="0"/>
              <a:buNone/>
            </a:pPr>
            <a:r>
              <a:rPr lang="en-US" sz="1400" b="1" dirty="0"/>
              <a:t>Phase 1: Prototype and Pilot</a:t>
            </a:r>
          </a:p>
          <a:p>
            <a:pPr marL="0" lvl="1" indent="0">
              <a:buFont typeface="Arial" panose="020B0604020202020204" pitchFamily="34" charset="0"/>
              <a:buNone/>
            </a:pPr>
            <a:r>
              <a:rPr lang="en-US" sz="1400" dirty="0"/>
              <a:t>Launch prototype and pilot in Pune and Hyderabad with 50,000 users and key partnerships.</a:t>
            </a:r>
          </a:p>
          <a:p>
            <a:pPr marL="0" indent="0">
              <a:spcBef>
                <a:spcPts val="2500"/>
              </a:spcBef>
              <a:buFont typeface="Arial" panose="020B0604020202020204" pitchFamily="34" charset="0"/>
              <a:buNone/>
            </a:pPr>
            <a:r>
              <a:rPr lang="en-US" sz="1400" b="1" dirty="0"/>
              <a:t>Phase 2: Metro Expansion and Rewards</a:t>
            </a:r>
          </a:p>
          <a:p>
            <a:pPr marL="0" lvl="1" indent="0">
              <a:buFont typeface="Arial" panose="020B0604020202020204" pitchFamily="34" charset="0"/>
              <a:buNone/>
            </a:pPr>
            <a:r>
              <a:rPr lang="en-US" sz="1400" dirty="0"/>
              <a:t>Expand app to five major metros and introduce </a:t>
            </a:r>
            <a:r>
              <a:rPr lang="en-US" sz="1400" dirty="0" err="1"/>
              <a:t>GreenPoints</a:t>
            </a:r>
            <a:r>
              <a:rPr lang="en-US" sz="1400" dirty="0"/>
              <a:t> rewards marketplace for users.</a:t>
            </a:r>
          </a:p>
          <a:p>
            <a:pPr marL="0" indent="0">
              <a:spcBef>
                <a:spcPts val="2500"/>
              </a:spcBef>
              <a:buFont typeface="Arial" panose="020B0604020202020204" pitchFamily="34" charset="0"/>
              <a:buNone/>
            </a:pPr>
            <a:r>
              <a:rPr lang="en-US" sz="1400" b="1" dirty="0"/>
              <a:t>Phase 3: Scale and Integration</a:t>
            </a:r>
          </a:p>
          <a:p>
            <a:pPr marL="0" lvl="1" indent="0">
              <a:buFont typeface="Arial" panose="020B0604020202020204" pitchFamily="34" charset="0"/>
              <a:buNone/>
            </a:pPr>
            <a:r>
              <a:rPr lang="en-US" sz="1400" dirty="0"/>
              <a:t>Scale platform to ten cities integrating Smart City ATCS and enhancing ESG analytics.</a:t>
            </a:r>
          </a:p>
          <a:p>
            <a:pPr marL="0" indent="0">
              <a:spcBef>
                <a:spcPts val="2500"/>
              </a:spcBef>
              <a:buFont typeface="Arial" panose="020B0604020202020204" pitchFamily="34" charset="0"/>
              <a:buNone/>
            </a:pPr>
            <a:r>
              <a:rPr lang="en-US" sz="1400" b="1" dirty="0"/>
              <a:t>Strategic Roadmap Benefits</a:t>
            </a:r>
          </a:p>
          <a:p>
            <a:pPr marL="0" lvl="1" indent="0">
              <a:buFont typeface="Arial" panose="020B0604020202020204" pitchFamily="34" charset="0"/>
              <a:buNone/>
            </a:pPr>
            <a:r>
              <a:rPr lang="en-US" sz="1400" dirty="0"/>
              <a:t>Phased rollout ensures measurable impact, validates solutions, and builds a strong ecosystem.</a:t>
            </a:r>
          </a:p>
        </p:txBody>
      </p:sp>
      <p:sp>
        <p:nvSpPr>
          <p:cNvPr id="6" name="Date Placeholder 5">
            <a:extLst>
              <a:ext uri="{FF2B5EF4-FFF2-40B4-BE49-F238E27FC236}">
                <a16:creationId xmlns:a16="http://schemas.microsoft.com/office/drawing/2014/main" id="{6035F827-ACA0-B290-E627-9C4F9A9F18EC}"/>
              </a:ext>
            </a:extLst>
          </p:cNvPr>
          <p:cNvSpPr>
            <a:spLocks noGrp="1"/>
          </p:cNvSpPr>
          <p:nvPr>
            <p:ph type="dt" sz="half" idx="4294967295"/>
          </p:nvPr>
        </p:nvSpPr>
        <p:spPr>
          <a:xfrm>
            <a:off x="10350500" y="6445250"/>
            <a:ext cx="1841500" cy="365125"/>
          </a:xfrm>
        </p:spPr>
        <p:txBody>
          <a:bodyPr anchor="ctr">
            <a:normAutofit/>
          </a:bodyPr>
          <a:lstStyle/>
          <a:p>
            <a:pPr>
              <a:spcAft>
                <a:spcPts val="600"/>
              </a:spcAft>
            </a:pPr>
            <a:fld id="{B20F022F-161E-41B9-A1BC-CC85E43B1AF4}" type="datetime1">
              <a:rPr lang="en-US" smtClean="0"/>
              <a:pPr>
                <a:spcAft>
                  <a:spcPts val="600"/>
                </a:spcAft>
              </a:pPr>
              <a:t>11/6/2025</a:t>
            </a:fld>
            <a:endParaRPr lang="en-US"/>
          </a:p>
        </p:txBody>
      </p:sp>
      <p:sp>
        <p:nvSpPr>
          <p:cNvPr id="7" name="Slide Number Placeholder 6">
            <a:extLst>
              <a:ext uri="{FF2B5EF4-FFF2-40B4-BE49-F238E27FC236}">
                <a16:creationId xmlns:a16="http://schemas.microsoft.com/office/drawing/2014/main" id="{7F21E9E2-77BF-D6A1-1478-F9EF1CECA4A7}"/>
              </a:ext>
            </a:extLst>
          </p:cNvPr>
          <p:cNvSpPr>
            <a:spLocks noGrp="1"/>
          </p:cNvSpPr>
          <p:nvPr>
            <p:ph type="sldNum" sz="quarter" idx="4294967295"/>
          </p:nvPr>
        </p:nvSpPr>
        <p:spPr>
          <a:xfrm>
            <a:off x="11734800" y="6445250"/>
            <a:ext cx="457200" cy="365125"/>
          </a:xfrm>
        </p:spPr>
        <p:txBody>
          <a:bodyPr anchor="ctr">
            <a:normAutofit fontScale="62500" lnSpcReduction="20000"/>
          </a:bodyPr>
          <a:lstStyle/>
          <a:p>
            <a:pPr>
              <a:spcAft>
                <a:spcPts val="600"/>
              </a:spcAft>
            </a:pPr>
            <a:fld id="{DDF60B60-82CA-4BB9-BA6E-A62FADF2374B}" type="slidenum">
              <a:rPr lang="en-US" smtClean="0"/>
              <a:pPr>
                <a:spcAft>
                  <a:spcPts val="600"/>
                </a:spcAft>
              </a:pPr>
              <a:t>11</a:t>
            </a:fld>
            <a:endParaRPr lang="en-US"/>
          </a:p>
        </p:txBody>
      </p:sp>
    </p:spTree>
    <p:extLst>
      <p:ext uri="{BB962C8B-B14F-4D97-AF65-F5344CB8AC3E}">
        <p14:creationId xmlns:p14="http://schemas.microsoft.com/office/powerpoint/2010/main" val="204749004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F023A8-F7CF-1553-5B1A-83A4CB6AC206}"/>
              </a:ext>
            </a:extLst>
          </p:cNvPr>
          <p:cNvSpPr>
            <a:spLocks noGrp="1"/>
          </p:cNvSpPr>
          <p:nvPr>
            <p:ph type="title"/>
          </p:nvPr>
        </p:nvSpPr>
        <p:spPr/>
        <p:txBody>
          <a:bodyPr anchor="b">
            <a:normAutofit/>
          </a:bodyPr>
          <a:lstStyle/>
          <a:p>
            <a:r>
              <a:rPr lang="en-US"/>
              <a:t>Market Validation and Impact Potential</a:t>
            </a:r>
          </a:p>
        </p:txBody>
      </p:sp>
      <p:sp>
        <p:nvSpPr>
          <p:cNvPr id="5" name="Date Placeholder 4">
            <a:extLst>
              <a:ext uri="{FF2B5EF4-FFF2-40B4-BE49-F238E27FC236}">
                <a16:creationId xmlns:a16="http://schemas.microsoft.com/office/drawing/2014/main" id="{3F2EA587-460C-0351-6ED4-FA22050B682C}"/>
              </a:ext>
            </a:extLst>
          </p:cNvPr>
          <p:cNvSpPr>
            <a:spLocks noGrp="1"/>
          </p:cNvSpPr>
          <p:nvPr>
            <p:ph type="dt" sz="half" idx="10"/>
          </p:nvPr>
        </p:nvSpPr>
        <p:spPr/>
        <p:txBody>
          <a:bodyPr anchor="ctr">
            <a:normAutofit/>
          </a:bodyPr>
          <a:lstStyle/>
          <a:p>
            <a:pPr>
              <a:spcAft>
                <a:spcPts val="600"/>
              </a:spcAft>
            </a:pPr>
            <a:fld id="{8A278C13-F8B8-4237-9811-6A882F130BDA}" type="datetime1">
              <a:rPr lang="en-US" smtClean="0"/>
              <a:pPr>
                <a:spcAft>
                  <a:spcPts val="600"/>
                </a:spcAft>
              </a:pPr>
              <a:t>11/6/2025</a:t>
            </a:fld>
            <a:endParaRPr lang="en-US"/>
          </a:p>
        </p:txBody>
      </p:sp>
    </p:spTree>
    <p:extLst>
      <p:ext uri="{BB962C8B-B14F-4D97-AF65-F5344CB8AC3E}">
        <p14:creationId xmlns:p14="http://schemas.microsoft.com/office/powerpoint/2010/main" val="96969806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CC0102-B675-ECB3-EEB5-5FDB34E3D6A6}"/>
              </a:ext>
            </a:extLst>
          </p:cNvPr>
          <p:cNvSpPr>
            <a:spLocks noGrp="1"/>
          </p:cNvSpPr>
          <p:nvPr>
            <p:ph type="title"/>
          </p:nvPr>
        </p:nvSpPr>
        <p:spPr/>
        <p:txBody>
          <a:bodyPr anchor="t">
            <a:normAutofit fontScale="90000"/>
          </a:bodyPr>
          <a:lstStyle/>
          <a:p>
            <a:r>
              <a:rPr lang="en-US"/>
              <a:t>Addressable Market and Growth Forecast</a:t>
            </a:r>
          </a:p>
        </p:txBody>
      </p:sp>
      <p:pic>
        <p:nvPicPr>
          <p:cNvPr id="8" name="Content Placeholder 7" descr="Man using phone while waiting for transportation at roadside during rush hour">
            <a:extLst>
              <a:ext uri="{FF2B5EF4-FFF2-40B4-BE49-F238E27FC236}">
                <a16:creationId xmlns:a16="http://schemas.microsoft.com/office/drawing/2014/main" id="{E8269DBC-ED31-4FAD-8190-381FAA0F1573}"/>
              </a:ext>
            </a:extLst>
          </p:cNvPr>
          <p:cNvPicPr>
            <a:picLocks noGrp="1" noChangeAspect="1"/>
          </p:cNvPicPr>
          <p:nvPr>
            <p:ph type="pic" sz="quarter" idx="13"/>
          </p:nvPr>
        </p:nvPicPr>
        <p:blipFill>
          <a:blip r:embed="rId3"/>
          <a:srcRect l="6653" r="6653"/>
          <a:stretch>
            <a:fillRect/>
          </a:stretch>
        </p:blipFill>
        <p:spPr>
          <a:prstGeom prst="rect">
            <a:avLst/>
          </a:prstGeom>
          <a:noFill/>
        </p:spPr>
      </p:pic>
      <p:sp>
        <p:nvSpPr>
          <p:cNvPr id="4" name="Content Placeholder 3">
            <a:extLst>
              <a:ext uri="{FF2B5EF4-FFF2-40B4-BE49-F238E27FC236}">
                <a16:creationId xmlns:a16="http://schemas.microsoft.com/office/drawing/2014/main" id="{7A1C4BF6-9DC7-DAF5-15D6-F9E7E9D8C3E9}"/>
              </a:ext>
            </a:extLst>
          </p:cNvPr>
          <p:cNvSpPr>
            <a:spLocks noGrp="1"/>
          </p:cNvSpPr>
          <p:nvPr>
            <p:ph idx="1"/>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p:txBody>
          <a:bodyPr>
            <a:normAutofit/>
          </a:bodyPr>
          <a:lstStyle/>
          <a:p>
            <a:pPr marL="0" indent="0">
              <a:spcBef>
                <a:spcPts val="2500"/>
              </a:spcBef>
              <a:buFont typeface="Arial" panose="020B0604020202020204" pitchFamily="34" charset="0"/>
              <a:buNone/>
            </a:pPr>
            <a:r>
              <a:rPr lang="en-US" sz="1400" b="1"/>
              <a:t>Market Size Overview</a:t>
            </a:r>
          </a:p>
          <a:p>
            <a:pPr marL="0" lvl="1" indent="0">
              <a:buFont typeface="Arial" panose="020B0604020202020204" pitchFamily="34" charset="0"/>
              <a:buNone/>
            </a:pPr>
            <a:r>
              <a:rPr lang="en-US" sz="1400"/>
              <a:t>PragatiDhara targets a ₹55,000 Crore urban mobility market covering commuters and corporate solutions in India.</a:t>
            </a:r>
          </a:p>
          <a:p>
            <a:pPr marL="0" indent="0">
              <a:spcBef>
                <a:spcPts val="2500"/>
              </a:spcBef>
              <a:buFont typeface="Arial" panose="020B0604020202020204" pitchFamily="34" charset="0"/>
              <a:buNone/>
            </a:pPr>
            <a:r>
              <a:rPr lang="en-US" sz="1400" b="1"/>
              <a:t>Focused Market Segments</a:t>
            </a:r>
          </a:p>
          <a:p>
            <a:pPr marL="0" lvl="1" indent="0">
              <a:buFont typeface="Arial" panose="020B0604020202020204" pitchFamily="34" charset="0"/>
              <a:buNone/>
            </a:pPr>
            <a:r>
              <a:rPr lang="en-US" sz="1400"/>
              <a:t>SAM focuses on smartphone users in Tier-1 and Tier-2 cities, valued at ₹15,000 Crore with growth potential.</a:t>
            </a:r>
          </a:p>
          <a:p>
            <a:pPr marL="0" indent="0">
              <a:spcBef>
                <a:spcPts val="2500"/>
              </a:spcBef>
              <a:buFont typeface="Arial" panose="020B0604020202020204" pitchFamily="34" charset="0"/>
              <a:buNone/>
            </a:pPr>
            <a:r>
              <a:rPr lang="en-US" sz="1400" b="1"/>
              <a:t>Growth and Impact Goals</a:t>
            </a:r>
          </a:p>
          <a:p>
            <a:pPr marL="0" lvl="1" indent="0">
              <a:buFont typeface="Arial" panose="020B0604020202020204" pitchFamily="34" charset="0"/>
              <a:buNone/>
            </a:pPr>
            <a:r>
              <a:rPr lang="en-US" sz="1400"/>
              <a:t>PragatiDhara aims to capture ₹500 Crore by acquiring 2 million users in ten cities over three years.</a:t>
            </a:r>
          </a:p>
          <a:p>
            <a:pPr marL="0" indent="0">
              <a:spcBef>
                <a:spcPts val="2500"/>
              </a:spcBef>
              <a:buFont typeface="Arial" panose="020B0604020202020204" pitchFamily="34" charset="0"/>
              <a:buNone/>
            </a:pPr>
            <a:r>
              <a:rPr lang="en-US" sz="1400" b="1"/>
              <a:t>Sustainability Benefits</a:t>
            </a:r>
          </a:p>
          <a:p>
            <a:pPr marL="0" lvl="1" indent="0">
              <a:buFont typeface="Arial" panose="020B0604020202020204" pitchFamily="34" charset="0"/>
              <a:buNone/>
            </a:pPr>
            <a:r>
              <a:rPr lang="en-US" sz="1400"/>
              <a:t>The initiative supports reduced fuel use, lower CO₂ emissions, and improved traffic flow for economic benefits.</a:t>
            </a:r>
          </a:p>
        </p:txBody>
      </p:sp>
      <p:sp>
        <p:nvSpPr>
          <p:cNvPr id="6" name="Date Placeholder 5">
            <a:extLst>
              <a:ext uri="{FF2B5EF4-FFF2-40B4-BE49-F238E27FC236}">
                <a16:creationId xmlns:a16="http://schemas.microsoft.com/office/drawing/2014/main" id="{BE3ED46B-DA65-11F6-722F-1C7DCA9029BD}"/>
              </a:ext>
            </a:extLst>
          </p:cNvPr>
          <p:cNvSpPr>
            <a:spLocks noGrp="1"/>
          </p:cNvSpPr>
          <p:nvPr>
            <p:ph type="dt" sz="half" idx="4294967295"/>
          </p:nvPr>
        </p:nvSpPr>
        <p:spPr>
          <a:xfrm>
            <a:off x="10350500" y="6445250"/>
            <a:ext cx="1841500" cy="365125"/>
          </a:xfrm>
        </p:spPr>
        <p:txBody>
          <a:bodyPr anchor="ctr">
            <a:normAutofit/>
          </a:bodyPr>
          <a:lstStyle/>
          <a:p>
            <a:pPr>
              <a:spcAft>
                <a:spcPts val="600"/>
              </a:spcAft>
            </a:pPr>
            <a:fld id="{B20F022F-161E-41B9-A1BC-CC85E43B1AF4}" type="datetime1">
              <a:rPr lang="en-US" smtClean="0"/>
              <a:pPr>
                <a:spcAft>
                  <a:spcPts val="600"/>
                </a:spcAft>
              </a:pPr>
              <a:t>11/6/2025</a:t>
            </a:fld>
            <a:endParaRPr lang="en-US"/>
          </a:p>
        </p:txBody>
      </p:sp>
      <p:sp>
        <p:nvSpPr>
          <p:cNvPr id="7" name="Slide Number Placeholder 6">
            <a:extLst>
              <a:ext uri="{FF2B5EF4-FFF2-40B4-BE49-F238E27FC236}">
                <a16:creationId xmlns:a16="http://schemas.microsoft.com/office/drawing/2014/main" id="{2449F7A8-9D78-8ECC-4A20-51D04E7C5869}"/>
              </a:ext>
            </a:extLst>
          </p:cNvPr>
          <p:cNvSpPr>
            <a:spLocks noGrp="1"/>
          </p:cNvSpPr>
          <p:nvPr>
            <p:ph type="sldNum" sz="quarter" idx="4294967295"/>
          </p:nvPr>
        </p:nvSpPr>
        <p:spPr>
          <a:xfrm>
            <a:off x="11734800" y="6445250"/>
            <a:ext cx="457200" cy="365125"/>
          </a:xfrm>
        </p:spPr>
        <p:txBody>
          <a:bodyPr anchor="ctr">
            <a:normAutofit fontScale="62500" lnSpcReduction="20000"/>
          </a:bodyPr>
          <a:lstStyle/>
          <a:p>
            <a:pPr>
              <a:spcAft>
                <a:spcPts val="600"/>
              </a:spcAft>
            </a:pPr>
            <a:fld id="{DDF60B60-82CA-4BB9-BA6E-A62FADF2374B}" type="slidenum">
              <a:rPr lang="en-US" smtClean="0"/>
              <a:pPr>
                <a:spcAft>
                  <a:spcPts val="600"/>
                </a:spcAft>
              </a:pPr>
              <a:t>13</a:t>
            </a:fld>
            <a:endParaRPr lang="en-US"/>
          </a:p>
        </p:txBody>
      </p:sp>
    </p:spTree>
    <p:extLst>
      <p:ext uri="{BB962C8B-B14F-4D97-AF65-F5344CB8AC3E}">
        <p14:creationId xmlns:p14="http://schemas.microsoft.com/office/powerpoint/2010/main" val="98148939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DDCC98D-8A5B-4177-9C60-D4A9C8723FD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0070BEB4-FB24-4E84-B3BB-971EAA4E97D2}">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89D41049-A82A-4B5B-8ABC-9F045EF9F078}">
  <ds:schemaRefs>
    <ds:schemaRef ds:uri="http://schemas.microsoft.com/sharepoint/v3/contenttype/forms"/>
  </ds:schemaRefs>
</ds:datastoreItem>
</file>

<file path=docMetadata/LabelInfo.xml><?xml version="1.0" encoding="utf-8"?>
<clbl:labelList xmlns:clbl="http://schemas.microsoft.com/office/2020/mipLabelMetadata">
  <clbl:label id="{a0819fa7-4367-4500-ba88-dd630d977609}" enabled="1" method="Standard" siteId="{63ce7d59-2f3e-42cd-a8cc-be764cff5eb6}" removed="0"/>
</clbl:labelList>
</file>

<file path=docProps/app.xml><?xml version="1.0" encoding="utf-8"?>
<Properties xmlns="http://schemas.openxmlformats.org/officeDocument/2006/extended-properties" xmlns:vt="http://schemas.openxmlformats.org/officeDocument/2006/docPropsVTypes">
  <Template>Ion</Template>
  <TotalTime>33</TotalTime>
  <Words>2153</Words>
  <Application>Microsoft Office PowerPoint</Application>
  <PresentationFormat>Widescreen</PresentationFormat>
  <Paragraphs>110</Paragraphs>
  <Slides>13</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Arial</vt:lpstr>
      <vt:lpstr>Calibri</vt:lpstr>
      <vt:lpstr>Century Gothic</vt:lpstr>
      <vt:lpstr>Wingdings 3</vt:lpstr>
      <vt:lpstr>Ion</vt:lpstr>
      <vt:lpstr>PragatiDhara App Pitch Deck</vt:lpstr>
      <vt:lpstr>Vision &amp; Mission</vt:lpstr>
      <vt:lpstr>Transforming Urban Mobility in India</vt:lpstr>
      <vt:lpstr>Solution Architecture and Design</vt:lpstr>
      <vt:lpstr>Crowdsourced AI-Powered Traffic Optimization</vt:lpstr>
      <vt:lpstr>Sustainable AI Implementation</vt:lpstr>
      <vt:lpstr>Eco-Friendly Routing and Emission Reduction</vt:lpstr>
      <vt:lpstr>Innovation and Differentiation</vt:lpstr>
      <vt:lpstr>Gamified Engagement &amp; Hyperlocal Intelligence</vt:lpstr>
      <vt:lpstr>Implementation and Roadmap</vt:lpstr>
      <vt:lpstr>Phased Rollout Strategy</vt:lpstr>
      <vt:lpstr>Market Validation and Impact Potential</vt:lpstr>
      <vt:lpstr>Addressable Market and Growth Forecast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cp:lastModifiedBy>Ritika Mathur</cp:lastModifiedBy>
  <cp:revision>8</cp:revision>
  <dcterms:created xsi:type="dcterms:W3CDTF">2025-08-04T19:19:33Z</dcterms:created>
  <dcterms:modified xsi:type="dcterms:W3CDTF">2025-11-06T00:27:17Z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