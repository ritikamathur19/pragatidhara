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Lst>
  <p:notesMasterIdLst>
    <p:notesMasterId r:id="rId22"/>
  </p:notesMasterIdLst>
  <p:sldIdLst>
    <p:sldId id="2561" r:id="rId5"/>
    <p:sldId id="2562" r:id="rId6"/>
    <p:sldId id="2563" r:id="rId7"/>
    <p:sldId id="2564" r:id="rId8"/>
    <p:sldId id="2565" r:id="rId9"/>
    <p:sldId id="2575" r:id="rId10"/>
    <p:sldId id="2577" r:id="rId11"/>
    <p:sldId id="2576" r:id="rId12"/>
    <p:sldId id="2566" r:id="rId13"/>
    <p:sldId id="2567" r:id="rId14"/>
    <p:sldId id="2568" r:id="rId15"/>
    <p:sldId id="2569" r:id="rId16"/>
    <p:sldId id="2570" r:id="rId17"/>
    <p:sldId id="2571" r:id="rId18"/>
    <p:sldId id="2572" r:id="rId19"/>
    <p:sldId id="2573" r:id="rId20"/>
    <p:sldId id="25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agatiDhara App Pitch Deck" id="{2E70C052-DD07-491C-9290-CB822C00658D}">
          <p14:sldIdLst>
            <p14:sldId id="2561"/>
          </p14:sldIdLst>
        </p14:section>
        <p14:section name="Vision &amp; Mission" id="{DA6FC828-8AB5-4F1E-BF53-B67D83BB1649}">
          <p14:sldIdLst>
            <p14:sldId id="2562"/>
            <p14:sldId id="2563"/>
          </p14:sldIdLst>
        </p14:section>
        <p14:section name="Solution Architecture and Design" id="{C052A579-56D3-4535-830C-03D37A1CE032}">
          <p14:sldIdLst>
            <p14:sldId id="2564"/>
            <p14:sldId id="2565"/>
            <p14:sldId id="2575"/>
            <p14:sldId id="2577"/>
            <p14:sldId id="2576"/>
          </p14:sldIdLst>
        </p14:section>
        <p14:section name="Sustainable AI Implementation" id="{8D6EC7CF-1D3B-4CE7-A768-EFDA1487E8BF}">
          <p14:sldIdLst>
            <p14:sldId id="2566"/>
            <p14:sldId id="2567"/>
          </p14:sldIdLst>
        </p14:section>
        <p14:section name="Innovation and Differentiation" id="{59368A34-FF12-45A2-B348-A34D981ED778}">
          <p14:sldIdLst>
            <p14:sldId id="2568"/>
            <p14:sldId id="2569"/>
          </p14:sldIdLst>
        </p14:section>
        <p14:section name="Implementation and Roadmap" id="{37E98D42-8C5D-427A-88B9-02B1FFC952FE}">
          <p14:sldIdLst>
            <p14:sldId id="2570"/>
            <p14:sldId id="2571"/>
          </p14:sldIdLst>
        </p14:section>
        <p14:section name="Market Validation and Impact Potential" id="{228B8BD2-4211-4C52-8A9E-3C918BF9D5B0}">
          <p14:sldIdLst>
            <p14:sldId id="2572"/>
            <p14:sldId id="2573"/>
            <p14:sldId id="2574"/>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788BE3-B623-4E1E-A692-87B7A6CDDFE6}" v="16" dt="2025-11-05T13:28:45.672"/>
  </p1510:revLst>
</p1510:revInfo>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66" d="100"/>
          <a:sy n="66" d="100"/>
        </p:scale>
        <p:origin x="668" y="-2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2D51F-4246-4CFA-9CD7-1AE829ED7A4D}" type="datetimeFigureOut">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14EAC2-167D-4F30-8707-850131E2B384}" type="slidenum">
              <a:t>‹#›</a:t>
            </a:fld>
            <a:endParaRPr lang="en-US"/>
          </a:p>
        </p:txBody>
      </p:sp>
    </p:spTree>
    <p:extLst>
      <p:ext uri="{BB962C8B-B14F-4D97-AF65-F5344CB8AC3E}">
        <p14:creationId xmlns:p14="http://schemas.microsoft.com/office/powerpoint/2010/main" val="1302819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CE053CC-5B21-4864-ABCC-AE6A8B57EED9}" type="slidenum">
              <a:t>1</a:t>
            </a:fld>
            <a:endParaRPr lang="en-US"/>
          </a:p>
        </p:txBody>
      </p:sp>
    </p:spTree>
    <p:extLst>
      <p:ext uri="{BB962C8B-B14F-4D97-AF65-F5344CB8AC3E}">
        <p14:creationId xmlns:p14="http://schemas.microsoft.com/office/powerpoint/2010/main" val="182915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Transforming Urban Mobility in India
</a:t>
            </a:r>
          </a:p>
        </p:txBody>
      </p:sp>
      <p:sp>
        <p:nvSpPr>
          <p:cNvPr id="4" name="Slide Number Placeholder 3"/>
          <p:cNvSpPr>
            <a:spLocks noGrp="1"/>
          </p:cNvSpPr>
          <p:nvPr>
            <p:ph type="sldNum" sz="quarter" idx="5"/>
          </p:nvPr>
        </p:nvSpPr>
        <p:spPr/>
        <p:txBody>
          <a:bodyPr/>
          <a:lstStyle/>
          <a:p>
            <a:fld id="{CCE053CC-5B21-4864-ABCC-AE6A8B57EED9}" type="slidenum">
              <a:t>2</a:t>
            </a:fld>
            <a:endParaRPr lang="en-US"/>
          </a:p>
        </p:txBody>
      </p:sp>
    </p:spTree>
    <p:extLst>
      <p:ext uri="{BB962C8B-B14F-4D97-AF65-F5344CB8AC3E}">
        <p14:creationId xmlns:p14="http://schemas.microsoft.com/office/powerpoint/2010/main" val="1518186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
This slide references information from the following file: https://infosystechnologies-my.sharepoint.com/personal/ritika_mathur01_ad_infosys_com/Documents/Microsoft%20Copilot%20Chat%20Files/GreenFlow%20%E2%80%93%20Business%20Plan.md
The PragatiDhara app envisions a future where Indian cities are cleaner, smarter, and more sustainable through citizen-driven traffic management. Its mission is to build an intelligent mobility ecosystem that empowers every commuter to contribute to reducing congestion and emissions. By leveraging real-time data from users and integrating green AI models, PragatiDhara aims to revolutionize urban transportation. The platform encourages active participation from citizens, turning them into contributors rather than passive users. This vision aligns with national sustainability goals and supports initiatives like the Smart City Mission and Green Credit Program. The mission is not only technological but also behavioral—fostering a culture of responsible commuting and environmental stewardship.
</a:t>
            </a:r>
          </a:p>
        </p:txBody>
      </p:sp>
      <p:sp>
        <p:nvSpPr>
          <p:cNvPr id="4" name="Slide Number Placeholder 3"/>
          <p:cNvSpPr>
            <a:spLocks noGrp="1"/>
          </p:cNvSpPr>
          <p:nvPr>
            <p:ph type="sldNum" sz="quarter" idx="5"/>
          </p:nvPr>
        </p:nvSpPr>
        <p:spPr/>
        <p:txBody>
          <a:bodyPr/>
          <a:lstStyle/>
          <a:p>
            <a:fld id="{CCE053CC-5B21-4864-ABCC-AE6A8B57EED9}" type="slidenum">
              <a:t>3</a:t>
            </a:fld>
            <a:endParaRPr lang="en-US"/>
          </a:p>
        </p:txBody>
      </p:sp>
    </p:spTree>
    <p:extLst>
      <p:ext uri="{BB962C8B-B14F-4D97-AF65-F5344CB8AC3E}">
        <p14:creationId xmlns:p14="http://schemas.microsoft.com/office/powerpoint/2010/main" val="3002562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Crowdsourced AI-Powered Traffic Optimization
</a:t>
            </a:r>
          </a:p>
        </p:txBody>
      </p:sp>
      <p:sp>
        <p:nvSpPr>
          <p:cNvPr id="4" name="Slide Number Placeholder 3"/>
          <p:cNvSpPr>
            <a:spLocks noGrp="1"/>
          </p:cNvSpPr>
          <p:nvPr>
            <p:ph type="sldNum" sz="quarter" idx="5"/>
          </p:nvPr>
        </p:nvSpPr>
        <p:spPr/>
        <p:txBody>
          <a:bodyPr/>
          <a:lstStyle/>
          <a:p>
            <a:fld id="{CCE053CC-5B21-4864-ABCC-AE6A8B57EED9}" type="slidenum">
              <a:t>4</a:t>
            </a:fld>
            <a:endParaRPr lang="en-US"/>
          </a:p>
        </p:txBody>
      </p:sp>
    </p:spTree>
    <p:extLst>
      <p:ext uri="{BB962C8B-B14F-4D97-AF65-F5344CB8AC3E}">
        <p14:creationId xmlns:p14="http://schemas.microsoft.com/office/powerpoint/2010/main" val="2695146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
This slide references information from the following file: https://infosystechnologies-my.sharepoint.com/personal/ritika_mathur01_ad_infosys_com/Documents/Microsoft%20Copilot%20Chat%20Files/GreenFlow%20%E2%80%93%20Business%20Plan.md
</a:t>
            </a:r>
            <a:r>
              <a:rPr lang="en-US" dirty="0" err="1"/>
              <a:t>PragatiDhara’s</a:t>
            </a:r>
            <a:r>
              <a:rPr lang="en-US" dirty="0"/>
              <a:t> architecture is built on a cloud-native, modular framework that enables scalable and secure traffic optimization. The solution collects real-time traffic data directly from commuters, using mobile telemetry to predict congestion and suggest eco-friendly routes. It employs federated learning to ensure user privacy while analyzing patterns for dynamic rerouting. The system integrates REST and WebSocket APIs for seamless connectivity with smart city infrastructure, ride-hailing platforms, and navigation services. This design allows for interoperability and rapid deployment across urban centers. The architecture also supports vernacular AI voice interfaces, making it accessible to a diverse user base. By combining citizen-sourced data with advanced AI, PragatiDhara creates a responsive and adaptive traffic management system.
</a:t>
            </a:r>
          </a:p>
        </p:txBody>
      </p:sp>
      <p:sp>
        <p:nvSpPr>
          <p:cNvPr id="4" name="Slide Number Placeholder 3"/>
          <p:cNvSpPr>
            <a:spLocks noGrp="1"/>
          </p:cNvSpPr>
          <p:nvPr>
            <p:ph type="sldNum" sz="quarter" idx="5"/>
          </p:nvPr>
        </p:nvSpPr>
        <p:spPr/>
        <p:txBody>
          <a:bodyPr/>
          <a:lstStyle/>
          <a:p>
            <a:fld id="{CCE053CC-5B21-4864-ABCC-AE6A8B57EED9}" type="slidenum">
              <a:t>5</a:t>
            </a:fld>
            <a:endParaRPr lang="en-US"/>
          </a:p>
        </p:txBody>
      </p:sp>
    </p:spTree>
    <p:extLst>
      <p:ext uri="{BB962C8B-B14F-4D97-AF65-F5344CB8AC3E}">
        <p14:creationId xmlns:p14="http://schemas.microsoft.com/office/powerpoint/2010/main" val="2326564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
This slide references information from the following file: https://infosystechnologies-my.sharepoint.com/personal/ritika_mathur01_ad_infosys_com/Documents/Microsoft%20Copilot%20Chat%20Files/GreenFlow%20%E2%80%93%20Business%20Plan.md
</a:t>
            </a:r>
            <a:r>
              <a:rPr lang="en-US" dirty="0" err="1"/>
              <a:t>PragatiDhara’s</a:t>
            </a:r>
            <a:r>
              <a:rPr lang="en-US" dirty="0"/>
              <a:t> architecture is built on a cloud-native, modular framework that enables scalable and secure traffic optimization. The solution collects real-time traffic data directly from commuters, using mobile telemetry to predict congestion and suggest eco-friendly routes. It employs federated learning to ensure user privacy while analyzing patterns for dynamic rerouting. The system integrates REST and WebSocket APIs for seamless connectivity with smart city infrastructure, ride-hailing platforms, and navigation services. This design allows for interoperability and rapid deployment across urban centers. The architecture also supports vernacular AI voice interfaces, making it accessible to a diverse user base. By combining citizen-sourced data with advanced AI, PragatiDhara creates a responsive and adaptive traffic management system.
</a:t>
            </a:r>
          </a:p>
        </p:txBody>
      </p:sp>
      <p:sp>
        <p:nvSpPr>
          <p:cNvPr id="4" name="Slide Number Placeholder 3"/>
          <p:cNvSpPr>
            <a:spLocks noGrp="1"/>
          </p:cNvSpPr>
          <p:nvPr>
            <p:ph type="sldNum" sz="quarter" idx="5"/>
          </p:nvPr>
        </p:nvSpPr>
        <p:spPr/>
        <p:txBody>
          <a:bodyPr/>
          <a:lstStyle/>
          <a:p>
            <a:fld id="{CCE053CC-5B21-4864-ABCC-AE6A8B57EED9}" type="slidenum">
              <a:t>6</a:t>
            </a:fld>
            <a:endParaRPr lang="en-US"/>
          </a:p>
        </p:txBody>
      </p:sp>
    </p:spTree>
    <p:extLst>
      <p:ext uri="{BB962C8B-B14F-4D97-AF65-F5344CB8AC3E}">
        <p14:creationId xmlns:p14="http://schemas.microsoft.com/office/powerpoint/2010/main" val="2326564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B6B7B-40AD-D8C4-C14E-77CDB1D1A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0203D-4931-4090-1E69-D463C886ECF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80E49B1-7B10-11B2-7BD2-F76449F4A9F1}"/>
              </a:ext>
            </a:extLst>
          </p:cNvPr>
          <p:cNvSpPr>
            <a:spLocks noGrp="1"/>
          </p:cNvSpPr>
          <p:nvPr>
            <p:ph type="body" idx="1"/>
          </p:nvPr>
        </p:nvSpPr>
        <p:spPr/>
        <p:txBody>
          <a:bodyPr/>
          <a:lstStyle/>
          <a:p>
            <a:r>
              <a:rPr lang="en-US" dirty="0"/>
              <a:t>
---
This slide references information from the following file: https://infosystechnologies-my.sharepoint.com/personal/ritika_mathur01_ad_infosys_com/Documents/Microsoft%20Copilot%20Chat%20Files/GreenFlow%20%E2%80%93%20Business%20Plan.md
</a:t>
            </a:r>
            <a:r>
              <a:rPr lang="en-US" dirty="0" err="1"/>
              <a:t>PragatiDhara’s</a:t>
            </a:r>
            <a:r>
              <a:rPr lang="en-US" dirty="0"/>
              <a:t> architecture is built on a cloud-native, modular framework that enables scalable and secure traffic optimization. The solution collects real-time traffic data directly from commuters, using mobile telemetry to predict congestion and suggest eco-friendly routes. It employs federated learning to ensure user privacy while analyzing patterns for dynamic rerouting. The system integrates REST and WebSocket APIs for seamless connectivity with smart city infrastructure, ride-hailing platforms, and navigation services. This design allows for interoperability and rapid deployment across urban centers. The architecture also supports vernacular AI voice interfaces, making it accessible to a diverse user base. By combining citizen-sourced data with advanced AI, PragatiDhara creates a responsive and adaptive traffic management system.
</a:t>
            </a:r>
          </a:p>
        </p:txBody>
      </p:sp>
      <p:sp>
        <p:nvSpPr>
          <p:cNvPr id="4" name="Slide Number Placeholder 3">
            <a:extLst>
              <a:ext uri="{FF2B5EF4-FFF2-40B4-BE49-F238E27FC236}">
                <a16:creationId xmlns:a16="http://schemas.microsoft.com/office/drawing/2014/main" id="{AF3C2BD8-E19E-4608-6060-831DAE456884}"/>
              </a:ext>
            </a:extLst>
          </p:cNvPr>
          <p:cNvSpPr>
            <a:spLocks noGrp="1"/>
          </p:cNvSpPr>
          <p:nvPr>
            <p:ph type="sldNum" sz="quarter" idx="5"/>
          </p:nvPr>
        </p:nvSpPr>
        <p:spPr/>
        <p:txBody>
          <a:bodyPr/>
          <a:lstStyle/>
          <a:p>
            <a:fld id="{CCE053CC-5B21-4864-ABCC-AE6A8B57EED9}" type="slidenum">
              <a:t>7</a:t>
            </a:fld>
            <a:endParaRPr lang="en-US"/>
          </a:p>
        </p:txBody>
      </p:sp>
    </p:spTree>
    <p:extLst>
      <p:ext uri="{BB962C8B-B14F-4D97-AF65-F5344CB8AC3E}">
        <p14:creationId xmlns:p14="http://schemas.microsoft.com/office/powerpoint/2010/main" val="1516659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8572D-118B-E1CF-08F3-E0AAD0C386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7F3843-021E-06BA-39ED-93BCF2A8B83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18CD06E-4459-5691-35E3-BD7E9E7BE1D9}"/>
              </a:ext>
            </a:extLst>
          </p:cNvPr>
          <p:cNvSpPr>
            <a:spLocks noGrp="1"/>
          </p:cNvSpPr>
          <p:nvPr>
            <p:ph type="body" idx="1"/>
          </p:nvPr>
        </p:nvSpPr>
        <p:spPr/>
        <p:txBody>
          <a:bodyPr/>
          <a:lstStyle/>
          <a:p>
            <a:r>
              <a:rPr lang="en-US" dirty="0"/>
              <a:t>
---
This slide references information from the following file: https://infosystechnologies-my.sharepoint.com/personal/ritika_mathur01_ad_infosys_com/Documents/Microsoft%20Copilot%20Chat%20Files/GreenFlow%20%E2%80%93%20Business%20Plan.md
</a:t>
            </a:r>
            <a:r>
              <a:rPr lang="en-US" dirty="0" err="1"/>
              <a:t>PragatiDhara’s</a:t>
            </a:r>
            <a:r>
              <a:rPr lang="en-US" dirty="0"/>
              <a:t> architecture is built on a cloud-native, modular framework that enables scalable and secure traffic optimization. The solution collects real-time traffic data directly from commuters, using mobile telemetry to predict congestion and suggest eco-friendly routes. It employs federated learning to ensure user privacy while analyzing patterns for dynamic rerouting. The system integrates REST and WebSocket APIs for seamless connectivity with smart city infrastructure, ride-hailing platforms, and navigation services. This design allows for interoperability and rapid deployment across urban centers. The architecture also supports vernacular AI voice interfaces, making it accessible to a diverse user base. By combining citizen-sourced data with advanced AI, PragatiDhara creates a responsive and adaptive traffic management system.
</a:t>
            </a:r>
          </a:p>
        </p:txBody>
      </p:sp>
      <p:sp>
        <p:nvSpPr>
          <p:cNvPr id="4" name="Slide Number Placeholder 3">
            <a:extLst>
              <a:ext uri="{FF2B5EF4-FFF2-40B4-BE49-F238E27FC236}">
                <a16:creationId xmlns:a16="http://schemas.microsoft.com/office/drawing/2014/main" id="{82A97256-0D86-7CE2-A34D-EB90B8D0C3CB}"/>
              </a:ext>
            </a:extLst>
          </p:cNvPr>
          <p:cNvSpPr>
            <a:spLocks noGrp="1"/>
          </p:cNvSpPr>
          <p:nvPr>
            <p:ph type="sldNum" sz="quarter" idx="5"/>
          </p:nvPr>
        </p:nvSpPr>
        <p:spPr/>
        <p:txBody>
          <a:bodyPr/>
          <a:lstStyle/>
          <a:p>
            <a:fld id="{CCE053CC-5B21-4864-ABCC-AE6A8B57EED9}" type="slidenum">
              <a:t>8</a:t>
            </a:fld>
            <a:endParaRPr lang="en-US"/>
          </a:p>
        </p:txBody>
      </p:sp>
    </p:spTree>
    <p:extLst>
      <p:ext uri="{BB962C8B-B14F-4D97-AF65-F5344CB8AC3E}">
        <p14:creationId xmlns:p14="http://schemas.microsoft.com/office/powerpoint/2010/main" val="2970152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Eco-Friendly Routing and Emission Reduction
</a:t>
            </a:r>
          </a:p>
        </p:txBody>
      </p:sp>
      <p:sp>
        <p:nvSpPr>
          <p:cNvPr id="4" name="Slide Number Placeholder 3"/>
          <p:cNvSpPr>
            <a:spLocks noGrp="1"/>
          </p:cNvSpPr>
          <p:nvPr>
            <p:ph type="sldNum" sz="quarter" idx="5"/>
          </p:nvPr>
        </p:nvSpPr>
        <p:spPr/>
        <p:txBody>
          <a:bodyPr/>
          <a:lstStyle/>
          <a:p>
            <a:fld id="{CCE053CC-5B21-4864-ABCC-AE6A8B57EED9}" type="slidenum">
              <a:t>9</a:t>
            </a:fld>
            <a:endParaRPr lang="en-US"/>
          </a:p>
        </p:txBody>
      </p:sp>
    </p:spTree>
    <p:extLst>
      <p:ext uri="{BB962C8B-B14F-4D97-AF65-F5344CB8AC3E}">
        <p14:creationId xmlns:p14="http://schemas.microsoft.com/office/powerpoint/2010/main" val="3841381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
This slide references information from the following file: https://infosystechnologies-my.sharepoint.com/personal/ritika_mathur01_ad_infosys_com/Documents/Microsoft%20Copilot%20Chat%20Files/GreenFlow%20%E2%80%93%20Business%20Plan.md
PragatiDhara integrates sustainable AI practices to minimize environmental impact. It uses federated learning to process data locally on user devices, reducing cloud dependency and preserving privacy. The app calculates CO₂ savings for each route and visualizes the environmental benefits of eco-routing. Users are incentivized through </a:t>
            </a:r>
            <a:r>
              <a:rPr lang="en-US" dirty="0" err="1"/>
              <a:t>GreenPoints</a:t>
            </a:r>
            <a:r>
              <a:rPr lang="en-US" dirty="0"/>
              <a:t>, which can be redeemed for fuel discounts, EV charging credits, or retail coupons. This gamified approach encourages sustainable behavior and aligns with India’s Green Credit Program. The AI models also support predictive traffic analysis, helping users avoid congestion and reduce fuel consumption. </a:t>
            </a:r>
            <a:r>
              <a:rPr lang="en-US" dirty="0" err="1"/>
              <a:t>PragatiDhara’s</a:t>
            </a:r>
            <a:r>
              <a:rPr lang="en-US" dirty="0"/>
              <a:t> commitment to sustainability extends to its support for SDG 11—Sustainable Cities and Communities—by promoting green mobility and citizen engagement.
</a:t>
            </a:r>
          </a:p>
        </p:txBody>
      </p:sp>
      <p:sp>
        <p:nvSpPr>
          <p:cNvPr id="4" name="Slide Number Placeholder 3"/>
          <p:cNvSpPr>
            <a:spLocks noGrp="1"/>
          </p:cNvSpPr>
          <p:nvPr>
            <p:ph type="sldNum" sz="quarter" idx="5"/>
          </p:nvPr>
        </p:nvSpPr>
        <p:spPr/>
        <p:txBody>
          <a:bodyPr/>
          <a:lstStyle/>
          <a:p>
            <a:fld id="{CCE053CC-5B21-4864-ABCC-AE6A8B57EED9}" type="slidenum">
              <a:t>10</a:t>
            </a:fld>
            <a:endParaRPr lang="en-US"/>
          </a:p>
        </p:txBody>
      </p:sp>
    </p:spTree>
    <p:extLst>
      <p:ext uri="{BB962C8B-B14F-4D97-AF65-F5344CB8AC3E}">
        <p14:creationId xmlns:p14="http://schemas.microsoft.com/office/powerpoint/2010/main" val="1791424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https://infosystechnologies-my.sharepoint.com/personal/ritika_mathur01_ad_infosys_com/_layouts/15/Doc.aspx?sourcedoc=%7B6016006D-88A3-4714-9424-A4CBD25946EA%7D&amp;file=Our%20USP.docx&amp;action=default&amp;mobileredirect=true
Unique Features and Competitive Edge
</a:t>
            </a:r>
          </a:p>
        </p:txBody>
      </p:sp>
      <p:sp>
        <p:nvSpPr>
          <p:cNvPr id="4" name="Slide Number Placeholder 3"/>
          <p:cNvSpPr>
            <a:spLocks noGrp="1"/>
          </p:cNvSpPr>
          <p:nvPr>
            <p:ph type="sldNum" sz="quarter" idx="5"/>
          </p:nvPr>
        </p:nvSpPr>
        <p:spPr/>
        <p:txBody>
          <a:bodyPr/>
          <a:lstStyle/>
          <a:p>
            <a:fld id="{CCE053CC-5B21-4864-ABCC-AE6A8B57EED9}" type="slidenum">
              <a:t>11</a:t>
            </a:fld>
            <a:endParaRPr lang="en-US"/>
          </a:p>
        </p:txBody>
      </p:sp>
    </p:spTree>
    <p:extLst>
      <p:ext uri="{BB962C8B-B14F-4D97-AF65-F5344CB8AC3E}">
        <p14:creationId xmlns:p14="http://schemas.microsoft.com/office/powerpoint/2010/main" val="3879296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
This slide references information from the following file: https://infosystechnologies-my.sharepoint.com/personal/ritika_mathur01_ad_infosys_com/Documents/Microsoft%20Copilot%20Chat%20Files/GreenFlow%20%E2%80%93%20Business%20Plan.md,https://infosystechnologies-my.sharepoint.com/personal/ritika_mathur01_ad_infosys_com/_layouts/15/Doc.aspx?sourcedoc=%7B6016006D-88A3-4714-9424-A4CBD25946EA%7D&amp;file=Our%20USP.docx&amp;action=default&amp;mobileredirect=true
PragatiDhara stands out through its innovative features and user-centric design. Unlike traditional navigation apps, it offers real-time crowd-sourced traffic insights and green route recommendations. The app includes vernacular AI for regional language support, enhancing accessibility and engagement. Users earn </a:t>
            </a:r>
            <a:r>
              <a:rPr lang="en-US" dirty="0" err="1"/>
              <a:t>GreenPoints</a:t>
            </a:r>
            <a:r>
              <a:rPr lang="en-US" dirty="0"/>
              <a:t> for eco-friendly actions, creating a gamified ecosystem that rewards sustainable behavior. PragatiDhara integrates seamlessly with Google Maps, ride-hailing apps like Ola and Uber, and smart city ATCS systems. Its API-ready architecture allows for easy integration with ESG dashboards and corporate mobility solutions. These differentiators position PragatiDhara as a complementary platform that enhances existing systems while promoting sustainability and civic participation.
</a:t>
            </a:r>
          </a:p>
        </p:txBody>
      </p:sp>
      <p:sp>
        <p:nvSpPr>
          <p:cNvPr id="4" name="Slide Number Placeholder 3"/>
          <p:cNvSpPr>
            <a:spLocks noGrp="1"/>
          </p:cNvSpPr>
          <p:nvPr>
            <p:ph type="sldNum" sz="quarter" idx="5"/>
          </p:nvPr>
        </p:nvSpPr>
        <p:spPr/>
        <p:txBody>
          <a:bodyPr/>
          <a:lstStyle/>
          <a:p>
            <a:fld id="{CCE053CC-5B21-4864-ABCC-AE6A8B57EED9}" type="slidenum">
              <a:t>12</a:t>
            </a:fld>
            <a:endParaRPr lang="en-US"/>
          </a:p>
        </p:txBody>
      </p:sp>
    </p:spTree>
    <p:extLst>
      <p:ext uri="{BB962C8B-B14F-4D97-AF65-F5344CB8AC3E}">
        <p14:creationId xmlns:p14="http://schemas.microsoft.com/office/powerpoint/2010/main" val="32942540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Phased Rollout Strategy
</a:t>
            </a:r>
          </a:p>
        </p:txBody>
      </p:sp>
      <p:sp>
        <p:nvSpPr>
          <p:cNvPr id="4" name="Slide Number Placeholder 3"/>
          <p:cNvSpPr>
            <a:spLocks noGrp="1"/>
          </p:cNvSpPr>
          <p:nvPr>
            <p:ph type="sldNum" sz="quarter" idx="5"/>
          </p:nvPr>
        </p:nvSpPr>
        <p:spPr/>
        <p:txBody>
          <a:bodyPr/>
          <a:lstStyle/>
          <a:p>
            <a:fld id="{CCE053CC-5B21-4864-ABCC-AE6A8B57EED9}" type="slidenum">
              <a:t>13</a:t>
            </a:fld>
            <a:endParaRPr lang="en-US"/>
          </a:p>
        </p:txBody>
      </p:sp>
    </p:spTree>
    <p:extLst>
      <p:ext uri="{BB962C8B-B14F-4D97-AF65-F5344CB8AC3E}">
        <p14:creationId xmlns:p14="http://schemas.microsoft.com/office/powerpoint/2010/main" val="30111425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
This slide references information from the following file: https://infosystechnologies-my.sharepoint.com/personal/ritika_mathur01_ad_infosys_com/Documents/Microsoft%20Copilot%20Chat%20Files/GreenFlow%20%E2%80%93%20Business%20Plan.md
</a:t>
            </a:r>
            <a:r>
              <a:rPr lang="en-US" dirty="0" err="1"/>
              <a:t>PragatiDhara’s</a:t>
            </a:r>
            <a:r>
              <a:rPr lang="en-US" dirty="0"/>
              <a:t> implementation plan is structured into three phases to ensure effective deployment and scalability. Phase 1 focuses on launching a prototype and pilot in Pune and Hyderabad, targeting 50,000 users and forming partnerships with fuel companies and traffic departments. Phase 2 expands the app to five major metros and introduces the </a:t>
            </a:r>
            <a:r>
              <a:rPr lang="en-US" dirty="0" err="1"/>
              <a:t>GreenPoints</a:t>
            </a:r>
            <a:r>
              <a:rPr lang="en-US" dirty="0"/>
              <a:t> rewards marketplace. Phase 3 scales the platform to ten cities, integrating with Smart City ATCS systems and enhancing ESG analytics capabilities. This roadmap is designed to build momentum, validate the solution in diverse urban contexts, and establish a robust ecosystem of partners and users. The phased approach ensures that each stage delivers measurable impact and prepares the platform for national adoption.
</a:t>
            </a:r>
          </a:p>
        </p:txBody>
      </p:sp>
      <p:sp>
        <p:nvSpPr>
          <p:cNvPr id="4" name="Slide Number Placeholder 3"/>
          <p:cNvSpPr>
            <a:spLocks noGrp="1"/>
          </p:cNvSpPr>
          <p:nvPr>
            <p:ph type="sldNum" sz="quarter" idx="5"/>
          </p:nvPr>
        </p:nvSpPr>
        <p:spPr/>
        <p:txBody>
          <a:bodyPr/>
          <a:lstStyle/>
          <a:p>
            <a:fld id="{CCE053CC-5B21-4864-ABCC-AE6A8B57EED9}" type="slidenum">
              <a:t>14</a:t>
            </a:fld>
            <a:endParaRPr lang="en-US"/>
          </a:p>
        </p:txBody>
      </p:sp>
    </p:spTree>
    <p:extLst>
      <p:ext uri="{BB962C8B-B14F-4D97-AF65-F5344CB8AC3E}">
        <p14:creationId xmlns:p14="http://schemas.microsoft.com/office/powerpoint/2010/main" val="3483284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
---
This slide references information from the following file: https://infosystechnologies-my.sharepoint.com/personal/ritika_mathur01_ad_infosys_com/Documents/Microsoft%20Copilot%20Chat%20Files/GreenFlow%20%E2%80%93%20Business%20Plan.md
Addressable Market and Growth Forecast
</a:t>
            </a:r>
          </a:p>
        </p:txBody>
      </p:sp>
      <p:sp>
        <p:nvSpPr>
          <p:cNvPr id="4" name="Slide Number Placeholder 3"/>
          <p:cNvSpPr>
            <a:spLocks noGrp="1"/>
          </p:cNvSpPr>
          <p:nvPr>
            <p:ph type="sldNum" sz="quarter" idx="5"/>
          </p:nvPr>
        </p:nvSpPr>
        <p:spPr/>
        <p:txBody>
          <a:bodyPr/>
          <a:lstStyle/>
          <a:p>
            <a:fld id="{CCE053CC-5B21-4864-ABCC-AE6A8B57EED9}" type="slidenum">
              <a:t>15</a:t>
            </a:fld>
            <a:endParaRPr lang="en-US"/>
          </a:p>
        </p:txBody>
      </p:sp>
    </p:spTree>
    <p:extLst>
      <p:ext uri="{BB962C8B-B14F-4D97-AF65-F5344CB8AC3E}">
        <p14:creationId xmlns:p14="http://schemas.microsoft.com/office/powerpoint/2010/main" val="2354849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
This slide references information from the following file: https://infosystechnologies-my.sharepoint.com/personal/ritika_mathur01_ad_infosys_com/Documents/Microsoft%20Copilot%20Chat%20Files/GreenFlow%20%E2%80%93%20Business%20Plan.md
PragatiDhara targets a substantial market opportunity in India’s urban mobility sector. The Total Addressable Market (TAM) is estimated at ₹55,000 Crore (~$6.6B), encompassing all urban commuters and corporate mobility solutions. The Serviceable Available Market (SAM) focuses on smartphone users in Tier-1 and Tier-2 cities, valued at ₹15,000 Crore (~$1.8B). The Serviceable Obtainable Market (SOM) aims to capture ₹500 Crore (~$60M) by acquiring 2 million active users across ten cities within three years. This market validation is supported by India’s increasing smartphone penetration, urbanization, and policy support for sustainable mobility. </a:t>
            </a:r>
            <a:r>
              <a:rPr lang="en-US" dirty="0" err="1"/>
              <a:t>PragatiDhara’s</a:t>
            </a:r>
            <a:r>
              <a:rPr lang="en-US" dirty="0"/>
              <a:t> impact potential includes reduced fuel consumption, lower CO₂ emissions, and improved traffic flow, contributing to economic and environmental benefits.
</a:t>
            </a:r>
          </a:p>
        </p:txBody>
      </p:sp>
      <p:sp>
        <p:nvSpPr>
          <p:cNvPr id="4" name="Slide Number Placeholder 3"/>
          <p:cNvSpPr>
            <a:spLocks noGrp="1"/>
          </p:cNvSpPr>
          <p:nvPr>
            <p:ph type="sldNum" sz="quarter" idx="5"/>
          </p:nvPr>
        </p:nvSpPr>
        <p:spPr/>
        <p:txBody>
          <a:bodyPr/>
          <a:lstStyle/>
          <a:p>
            <a:fld id="{CCE053CC-5B21-4864-ABCC-AE6A8B57EED9}" type="slidenum">
              <a:t>16</a:t>
            </a:fld>
            <a:endParaRPr lang="en-US"/>
          </a:p>
        </p:txBody>
      </p:sp>
    </p:spTree>
    <p:extLst>
      <p:ext uri="{BB962C8B-B14F-4D97-AF65-F5344CB8AC3E}">
        <p14:creationId xmlns:p14="http://schemas.microsoft.com/office/powerpoint/2010/main" val="3379330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
---
This slide references information from the following file: https://infosystechnologies-my.sharepoint.com/personal/ritika_mathur01_ad_infosys_com/Documents/Microsoft%20Copilot%20Chat%20Files/GreenFlow%20%E2%80%93%20Business%20Plan.md
PragatiDhara targets a substantial market opportunity in India’s urban mobility sector. The Total Addressable Market (TAM) is estimated at ₹55,000 Crore (~$6.6B), encompassing all urban commuters and corporate mobility solutions. The Serviceable Available Market (SAM) focuses on smartphone users in Tier-1 and Tier-2 cities, valued at ₹15,000 Crore (~$1.8B). The Serviceable Obtainable Market (SOM) aims to capture ₹500 Crore (~$60M) by acquiring 2 million active users across ten cities within three years. This market validation is supported by India’s increasing smartphone penetration, urbanization, and policy support for sustainable mobility. </a:t>
            </a:r>
            <a:r>
              <a:rPr lang="en-US" dirty="0" err="1"/>
              <a:t>PragatiDhara’s</a:t>
            </a:r>
            <a:r>
              <a:rPr lang="en-US" dirty="0"/>
              <a:t> impact potential includes reduced fuel consumption, lower CO₂ emissions, and improved traffic flow, contributing to economic and environmental benefits.
</a:t>
            </a:r>
          </a:p>
        </p:txBody>
      </p:sp>
      <p:sp>
        <p:nvSpPr>
          <p:cNvPr id="4" name="Slide Number Placeholder 3"/>
          <p:cNvSpPr>
            <a:spLocks noGrp="1"/>
          </p:cNvSpPr>
          <p:nvPr>
            <p:ph type="sldNum" sz="quarter" idx="5"/>
          </p:nvPr>
        </p:nvSpPr>
        <p:spPr/>
        <p:txBody>
          <a:bodyPr/>
          <a:lstStyle/>
          <a:p>
            <a:fld id="{CCE053CC-5B21-4864-ABCC-AE6A8B57EED9}" type="slidenum">
              <a:t>17</a:t>
            </a:fld>
            <a:endParaRPr lang="en-US"/>
          </a:p>
        </p:txBody>
      </p:sp>
    </p:spTree>
    <p:extLst>
      <p:ext uri="{BB962C8B-B14F-4D97-AF65-F5344CB8AC3E}">
        <p14:creationId xmlns:p14="http://schemas.microsoft.com/office/powerpoint/2010/main" val="3379330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3205562466"/>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563056262"/>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C6904D-FBDC-4E1E-863E-C45FAD9DD85B}" type="datetime1">
              <a:rPr lang="en-US" smtClean="0"/>
              <a:t>11/6/2025</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194500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D64244-A3D4-4B68-87F0-779EEA0C37FE}" type="datetime1">
              <a:rPr lang="en-US" smtClean="0"/>
              <a:t>11/6/2025</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2869251943"/>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D64244-A3D4-4B68-87F0-779EEA0C37FE}" type="datetime1">
              <a:rPr lang="en-US" smtClean="0"/>
              <a:t>11/6/2025</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837760259"/>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1E57D35-FD3E-408B-A06E-7ED09E94C083}" type="datetime1">
              <a:rPr lang="en-US" smtClean="0"/>
              <a:t>11/6/2025</a:t>
            </a:fld>
            <a:endParaRPr lang="en-US" dirty="0"/>
          </a:p>
        </p:txBody>
      </p:sp>
      <p:sp>
        <p:nvSpPr>
          <p:cNvPr id="5" name="Footer Placeholder 3"/>
          <p:cNvSpPr>
            <a:spLocks noGrp="1"/>
          </p:cNvSpPr>
          <p:nvPr>
            <p:ph type="ftr" sz="quarter" idx="11"/>
          </p:nvPr>
        </p:nvSpPr>
        <p:spPr/>
        <p:txBody>
          <a:bodyPr/>
          <a:lstStyle/>
          <a:p>
            <a:r>
              <a:rPr lang="en-US"/>
              <a:t>Sample Footer Text</a:t>
            </a:r>
            <a:endParaRPr lang="en-US" dirty="0"/>
          </a:p>
        </p:txBody>
      </p:sp>
      <p:sp>
        <p:nvSpPr>
          <p:cNvPr id="6" name="Slide Number Placeholder 4"/>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2574337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2"/>
          <p:cNvSpPr>
            <a:spLocks noGrp="1"/>
          </p:cNvSpPr>
          <p:nvPr>
            <p:ph type="ftr" sz="quarter" idx="11"/>
          </p:nvPr>
        </p:nvSpPr>
        <p:spPr/>
        <p:txBody>
          <a:bodyPr/>
          <a:lstStyle/>
          <a:p>
            <a:r>
              <a:rPr lang="en-US"/>
              <a:t>Sample Footer Text</a:t>
            </a:r>
          </a:p>
        </p:txBody>
      </p:sp>
      <p:sp>
        <p:nvSpPr>
          <p:cNvPr id="6" name="Slide Number Placeholder 3"/>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9854698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3E7E953-C3C8-4A4B-8817-BB1E8DE8DAD2}" type="datetime1">
              <a:rPr lang="en-US" smtClean="0"/>
              <a:t>11/6/2025</a:t>
            </a:fld>
            <a:endParaRPr lang="en-US" dirty="0"/>
          </a:p>
        </p:txBody>
      </p:sp>
      <p:sp>
        <p:nvSpPr>
          <p:cNvPr id="5" name="Footer Placeholder 5"/>
          <p:cNvSpPr>
            <a:spLocks noGrp="1"/>
          </p:cNvSpPr>
          <p:nvPr>
            <p:ph type="ftr" sz="quarter" idx="11"/>
          </p:nvPr>
        </p:nvSpPr>
        <p:spPr/>
        <p:txBody>
          <a:bodyPr/>
          <a:lstStyle/>
          <a:p>
            <a:r>
              <a:rPr lang="en-US"/>
              <a:t>Sample Footer Text</a:t>
            </a:r>
            <a:endParaRPr lang="en-US" dirty="0"/>
          </a:p>
        </p:txBody>
      </p:sp>
      <p:sp>
        <p:nvSpPr>
          <p:cNvPr id="6" name="Slide Number Placeholder 6"/>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1387076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4969BF-940B-4FBC-8397-235C5A271474}" type="datetime1">
              <a:rPr lang="en-US" smtClean="0"/>
              <a:t>11/6/2025</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2894263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D64244-A3D4-4B68-87F0-779EEA0C37FE}" type="datetime1">
              <a:rPr lang="en-US" smtClean="0"/>
              <a:t>11/6/2025</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879654983"/>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11517613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07659429"/>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695537727"/>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4"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666594579"/>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4"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2077908497"/>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895023307"/>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D64244-A3D4-4B68-87F0-779EEA0C37FE}" type="datetime1">
              <a:rPr lang="en-US" smtClean="0"/>
              <a:t>11/6/2025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128821485"/>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10824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6D64244-A3D4-4B68-87F0-779EEA0C37FE}" type="datetime1">
              <a:rPr lang="en-US" smtClean="0"/>
              <a:t>11/6/2025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Sample Footer Text</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2107575019"/>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Lst>
  <p:hf hdr="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48E0-FBC1-AF97-5CA3-325F2B93C113}"/>
              </a:ext>
            </a:extLst>
          </p:cNvPr>
          <p:cNvSpPr>
            <a:spLocks noGrp="1"/>
          </p:cNvSpPr>
          <p:nvPr>
            <p:ph type="ctrTitle"/>
          </p:nvPr>
        </p:nvSpPr>
        <p:spPr/>
        <p:txBody>
          <a:bodyPr anchor="ctr">
            <a:normAutofit/>
          </a:bodyPr>
          <a:lstStyle/>
          <a:p>
            <a:r>
              <a:rPr lang="en-US" dirty="0"/>
              <a:t>PragatiDhara App Pitch Deck</a:t>
            </a:r>
          </a:p>
        </p:txBody>
      </p:sp>
      <p:sp>
        <p:nvSpPr>
          <p:cNvPr id="3" name="Subtitle 2">
            <a:extLst>
              <a:ext uri="{FF2B5EF4-FFF2-40B4-BE49-F238E27FC236}">
                <a16:creationId xmlns:a16="http://schemas.microsoft.com/office/drawing/2014/main" id="{C74F27F7-D9BB-95C2-7D74-934C000DA0B7}"/>
              </a:ext>
            </a:extLst>
          </p:cNvPr>
          <p:cNvSpPr>
            <a:spLocks noGrp="1"/>
          </p:cNvSpPr>
          <p:nvPr>
            <p:ph type="subTitle" idx="1"/>
          </p:nvPr>
        </p:nvSpPr>
        <p:spPr/>
        <p:txBody>
          <a:bodyPr anchor="ctr">
            <a:normAutofit/>
          </a:bodyPr>
          <a:lstStyle/>
          <a:p>
            <a:r>
              <a:rPr lang="en-US"/>
              <a:t>Innovative solutions driving progress and growth</a:t>
            </a:r>
          </a:p>
        </p:txBody>
      </p:sp>
      <p:sp>
        <p:nvSpPr>
          <p:cNvPr id="5" name="Date Placeholder 4">
            <a:extLst>
              <a:ext uri="{FF2B5EF4-FFF2-40B4-BE49-F238E27FC236}">
                <a16:creationId xmlns:a16="http://schemas.microsoft.com/office/drawing/2014/main" id="{FBBA30ED-D958-E175-2296-61FCC6A3CA1F}"/>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333144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B9E84-A594-9304-B731-34A19C9AECD5}"/>
              </a:ext>
            </a:extLst>
          </p:cNvPr>
          <p:cNvSpPr>
            <a:spLocks noGrp="1"/>
          </p:cNvSpPr>
          <p:nvPr>
            <p:ph type="title"/>
          </p:nvPr>
        </p:nvSpPr>
        <p:spPr/>
        <p:txBody>
          <a:bodyPr anchor="b">
            <a:normAutofit/>
          </a:bodyPr>
          <a:lstStyle/>
          <a:p>
            <a:r>
              <a:rPr lang="en-US"/>
              <a:t>Vision &amp; Mission</a:t>
            </a:r>
          </a:p>
        </p:txBody>
      </p:sp>
      <p:sp>
        <p:nvSpPr>
          <p:cNvPr id="5" name="Date Placeholder 4">
            <a:extLst>
              <a:ext uri="{FF2B5EF4-FFF2-40B4-BE49-F238E27FC236}">
                <a16:creationId xmlns:a16="http://schemas.microsoft.com/office/drawing/2014/main" id="{65A229F9-74A6-2083-ADEC-816263CB0488}"/>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37490604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2F0EC-FA32-F4DB-91AF-7162C0FF2345}"/>
              </a:ext>
            </a:extLst>
          </p:cNvPr>
          <p:cNvSpPr>
            <a:spLocks noGrp="1"/>
          </p:cNvSpPr>
          <p:nvPr>
            <p:ph type="title"/>
          </p:nvPr>
        </p:nvSpPr>
        <p:spPr/>
        <p:txBody>
          <a:bodyPr anchor="t">
            <a:normAutofit fontScale="90000"/>
          </a:bodyPr>
          <a:lstStyle/>
          <a:p>
            <a:r>
              <a:rPr lang="en-US"/>
              <a:t>Transforming Urban Mobility in India</a:t>
            </a:r>
          </a:p>
        </p:txBody>
      </p:sp>
      <p:pic>
        <p:nvPicPr>
          <p:cNvPr id="8" name="Content Placeholder 7" descr="close up Artificial Intelligence technology city for backgroundsFuturistic eye, Artificial Intelligence, Globe - Navigational Equipment, DataBrain Wave, Artificial Intelligence, city.Data,Face recognition">
            <a:extLst>
              <a:ext uri="{FF2B5EF4-FFF2-40B4-BE49-F238E27FC236}">
                <a16:creationId xmlns:a16="http://schemas.microsoft.com/office/drawing/2014/main" id="{33F48728-BFDE-4497-95FC-D8103AFE48F9}"/>
              </a:ext>
            </a:extLst>
          </p:cNvPr>
          <p:cNvPicPr>
            <a:picLocks noGrp="1" noChangeAspect="1"/>
          </p:cNvPicPr>
          <p:nvPr>
            <p:ph type="pic" sz="quarter" idx="13"/>
          </p:nvPr>
        </p:nvPicPr>
        <p:blipFill>
          <a:blip r:embed="rId3"/>
          <a:srcRect l="7797" r="7797"/>
          <a:stretch>
            <a:fillRect/>
          </a:stretch>
        </p:blipFill>
        <p:spPr>
          <a:prstGeom prst="rect">
            <a:avLst/>
          </a:prstGeom>
          <a:noFill/>
        </p:spPr>
      </p:pic>
      <p:sp>
        <p:nvSpPr>
          <p:cNvPr id="4" name="Content Placeholder 3">
            <a:extLst>
              <a:ext uri="{FF2B5EF4-FFF2-40B4-BE49-F238E27FC236}">
                <a16:creationId xmlns:a16="http://schemas.microsoft.com/office/drawing/2014/main" id="{02AC757D-1292-ACBF-5224-2430E785A9B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sz="1400" b="1" dirty="0"/>
              <a:t>Citizen-Driven Traffic Management</a:t>
            </a:r>
          </a:p>
          <a:p>
            <a:pPr marL="0" lvl="1" indent="0">
              <a:buFont typeface="Arial" panose="020B0604020202020204" pitchFamily="34" charset="0"/>
              <a:buNone/>
            </a:pPr>
            <a:r>
              <a:rPr lang="en-US" sz="1400" dirty="0"/>
              <a:t>Citizens move from passive drivers to </a:t>
            </a:r>
            <a:r>
              <a:rPr lang="en-US" sz="1400" b="1" dirty="0"/>
              <a:t>active data contributors</a:t>
            </a:r>
            <a:r>
              <a:rPr lang="en-US" sz="1400" dirty="0"/>
              <a:t>, sharing real-time telemetry to directly </a:t>
            </a:r>
            <a:r>
              <a:rPr lang="en-US" sz="1400" b="1" dirty="0"/>
              <a:t>alleviate congestion and emissions.</a:t>
            </a:r>
            <a:endParaRPr lang="en-US" sz="1400" dirty="0"/>
          </a:p>
          <a:p>
            <a:pPr marL="0" indent="0">
              <a:spcBef>
                <a:spcPts val="2500"/>
              </a:spcBef>
              <a:buFont typeface="Arial" panose="020B0604020202020204" pitchFamily="34" charset="0"/>
              <a:buNone/>
            </a:pPr>
            <a:r>
              <a:rPr lang="en-US" sz="1400" b="1" dirty="0"/>
              <a:t>Integration of Green AI Models</a:t>
            </a:r>
          </a:p>
          <a:p>
            <a:pPr marL="0" lvl="1" indent="0">
              <a:buFont typeface="Arial" panose="020B0604020202020204" pitchFamily="34" charset="0"/>
              <a:buNone/>
            </a:pPr>
            <a:r>
              <a:rPr lang="en-US" sz="1400" dirty="0"/>
              <a:t>PragatiDhara leverages green AI technologies to optimize urban traffic for sustainability and smarter mobility solutions.</a:t>
            </a:r>
          </a:p>
          <a:p>
            <a:pPr marL="0" lvl="1" indent="0">
              <a:buFont typeface="Arial" panose="020B0604020202020204" pitchFamily="34" charset="0"/>
              <a:buNone/>
            </a:pPr>
            <a:r>
              <a:rPr lang="en-US" sz="1400" b="1" dirty="0"/>
              <a:t>Green AI</a:t>
            </a:r>
            <a:r>
              <a:rPr lang="en-US" sz="1400" dirty="0"/>
              <a:t> (Federated &amp; Low-Carbon) delivers real-time route optimization, ensuring every decision is </a:t>
            </a:r>
            <a:r>
              <a:rPr lang="en-US" sz="1400" b="1" dirty="0"/>
              <a:t>smarter, faster, and cleaner.</a:t>
            </a:r>
            <a:endParaRPr lang="en-US" sz="1400" dirty="0"/>
          </a:p>
          <a:p>
            <a:pPr marL="0" indent="0">
              <a:spcBef>
                <a:spcPts val="2500"/>
              </a:spcBef>
              <a:buFont typeface="Arial" panose="020B0604020202020204" pitchFamily="34" charset="0"/>
              <a:buNone/>
            </a:pPr>
            <a:r>
              <a:rPr lang="en-US" sz="1400" b="1" dirty="0"/>
              <a:t>Alignment with National Sustainability Goals</a:t>
            </a:r>
          </a:p>
          <a:p>
            <a:pPr marL="0" lvl="1" indent="0">
              <a:buFont typeface="Arial" panose="020B0604020202020204" pitchFamily="34" charset="0"/>
              <a:buNone/>
            </a:pPr>
            <a:r>
              <a:rPr lang="en-US" sz="1400" dirty="0"/>
              <a:t>Directly supports </a:t>
            </a:r>
            <a:r>
              <a:rPr lang="en-US" sz="1400" b="1" dirty="0"/>
              <a:t>India’s Smart City Mission</a:t>
            </a:r>
            <a:r>
              <a:rPr lang="en-US" sz="1400" dirty="0"/>
              <a:t> and </a:t>
            </a:r>
            <a:r>
              <a:rPr lang="en-US" sz="1400" b="1" dirty="0"/>
              <a:t>Green Credit Program,</a:t>
            </a:r>
            <a:r>
              <a:rPr lang="en-US" sz="1400" dirty="0"/>
              <a:t> making us a strategic partner in achieving national sustainability targets.</a:t>
            </a:r>
          </a:p>
          <a:p>
            <a:pPr marL="0" lvl="1" indent="0">
              <a:buFont typeface="Arial" panose="020B0604020202020204" pitchFamily="34" charset="0"/>
              <a:buNone/>
            </a:pPr>
            <a:r>
              <a:rPr lang="en-US" sz="1400" b="1" dirty="0"/>
              <a:t>Behavioral Change and Environmental Stewardship</a:t>
            </a:r>
          </a:p>
          <a:p>
            <a:pPr marL="0" lvl="1" indent="0">
              <a:buFont typeface="Arial" panose="020B0604020202020204" pitchFamily="34" charset="0"/>
              <a:buNone/>
            </a:pPr>
            <a:r>
              <a:rPr lang="en-US" sz="1400" dirty="0"/>
              <a:t>We foster a culture of </a:t>
            </a:r>
            <a:r>
              <a:rPr lang="en-US" sz="1400" b="1" dirty="0"/>
              <a:t>Environmental Stewardship</a:t>
            </a:r>
            <a:r>
              <a:rPr lang="en-US" sz="1400" dirty="0"/>
              <a:t> by rewarding eco-conscious choices, turning commuters into </a:t>
            </a:r>
            <a:r>
              <a:rPr lang="en-US" sz="1400" b="1" dirty="0"/>
              <a:t>urban environmentalists.</a:t>
            </a:r>
            <a:endParaRPr lang="en-US" sz="1400" dirty="0"/>
          </a:p>
        </p:txBody>
      </p:sp>
      <p:sp>
        <p:nvSpPr>
          <p:cNvPr id="6" name="Date Placeholder 5">
            <a:extLst>
              <a:ext uri="{FF2B5EF4-FFF2-40B4-BE49-F238E27FC236}">
                <a16:creationId xmlns:a16="http://schemas.microsoft.com/office/drawing/2014/main" id="{34184484-75A6-CD6E-D2B0-DF050BC75DA8}"/>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
        <p:nvSpPr>
          <p:cNvPr id="7" name="Slide Number Placeholder 6">
            <a:extLst>
              <a:ext uri="{FF2B5EF4-FFF2-40B4-BE49-F238E27FC236}">
                <a16:creationId xmlns:a16="http://schemas.microsoft.com/office/drawing/2014/main" id="{C4D9DB0F-0754-F476-D75F-264001303DFC}"/>
              </a:ext>
            </a:extLst>
          </p:cNvPr>
          <p:cNvSpPr>
            <a:spLocks noGrp="1"/>
          </p:cNvSpPr>
          <p:nvPr>
            <p:ph type="sldNum" sz="quarter" idx="4294967295"/>
          </p:nvPr>
        </p:nvSpPr>
        <p:spPr>
          <a:xfrm>
            <a:off x="11734800" y="6445250"/>
            <a:ext cx="457200" cy="365125"/>
          </a:xfrm>
        </p:spPr>
        <p:txBody>
          <a:bodyPr anchor="ctr">
            <a:normAutofit fontScale="77500" lnSpcReduction="20000"/>
          </a:bodyPr>
          <a:lstStyle/>
          <a:p>
            <a:pPr>
              <a:spcAft>
                <a:spcPts val="600"/>
              </a:spcAft>
            </a:pPr>
            <a:fld id="{DDF60B60-82CA-4BB9-BA6E-A62FADF2374B}" type="slidenum">
              <a:rPr lang="en-US" smtClean="0"/>
              <a:pPr>
                <a:spcAft>
                  <a:spcPts val="600"/>
                </a:spcAft>
              </a:pPr>
              <a:t>3</a:t>
            </a:fld>
            <a:endParaRPr lang="en-US"/>
          </a:p>
        </p:txBody>
      </p:sp>
    </p:spTree>
    <p:extLst>
      <p:ext uri="{BB962C8B-B14F-4D97-AF65-F5344CB8AC3E}">
        <p14:creationId xmlns:p14="http://schemas.microsoft.com/office/powerpoint/2010/main" val="30162563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8AC6B-8070-9F28-CF11-C79D597B484A}"/>
              </a:ext>
            </a:extLst>
          </p:cNvPr>
          <p:cNvSpPr>
            <a:spLocks noGrp="1"/>
          </p:cNvSpPr>
          <p:nvPr>
            <p:ph type="title"/>
          </p:nvPr>
        </p:nvSpPr>
        <p:spPr/>
        <p:txBody>
          <a:bodyPr anchor="b">
            <a:normAutofit/>
          </a:bodyPr>
          <a:lstStyle/>
          <a:p>
            <a:r>
              <a:rPr lang="en-US"/>
              <a:t>Solution Architecture and Design</a:t>
            </a:r>
          </a:p>
        </p:txBody>
      </p:sp>
    </p:spTree>
    <p:extLst>
      <p:ext uri="{BB962C8B-B14F-4D97-AF65-F5344CB8AC3E}">
        <p14:creationId xmlns:p14="http://schemas.microsoft.com/office/powerpoint/2010/main" val="160832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BBBE2-B2C9-0A8D-AD37-9E6FFB2F7F28}"/>
              </a:ext>
            </a:extLst>
          </p:cNvPr>
          <p:cNvSpPr>
            <a:spLocks noGrp="1"/>
          </p:cNvSpPr>
          <p:nvPr>
            <p:ph type="title"/>
          </p:nvPr>
        </p:nvSpPr>
        <p:spPr>
          <a:xfrm>
            <a:off x="152400" y="228600"/>
            <a:ext cx="5943600" cy="1373957"/>
          </a:xfrm>
        </p:spPr>
        <p:txBody>
          <a:bodyPr anchor="t">
            <a:noAutofit/>
          </a:bodyPr>
          <a:lstStyle/>
          <a:p>
            <a:r>
              <a:rPr lang="en-US" sz="3600" dirty="0" err="1"/>
              <a:t>CrowdSourced</a:t>
            </a:r>
            <a:r>
              <a:rPr lang="en-US" sz="3600" dirty="0"/>
              <a:t> Intelligence Meets Scalable AI</a:t>
            </a:r>
          </a:p>
        </p:txBody>
      </p:sp>
      <p:pic>
        <p:nvPicPr>
          <p:cNvPr id="8" name="Content Placeholder 7" descr="Global world travel airplane flight network connection&#10;&#10;++The World map texture derived from public domain NASA: http://visibleearth.nasa.gov.&#10;Traced in Illustrator.File created on November 29, 2018++">
            <a:extLst>
              <a:ext uri="{FF2B5EF4-FFF2-40B4-BE49-F238E27FC236}">
                <a16:creationId xmlns:a16="http://schemas.microsoft.com/office/drawing/2014/main" id="{7E8677F3-2EDA-4A35-8F59-540AA97A578F}"/>
              </a:ext>
            </a:extLst>
          </p:cNvPr>
          <p:cNvPicPr>
            <a:picLocks noGrp="1" noChangeAspect="1"/>
          </p:cNvPicPr>
          <p:nvPr>
            <p:ph type="pic" sz="quarter" idx="13"/>
          </p:nvPr>
        </p:nvPicPr>
        <p:blipFill>
          <a:blip r:embed="rId3"/>
          <a:srcRect l="7797" r="7797"/>
          <a:stretch>
            <a:fillRect/>
          </a:stretch>
        </p:blipFill>
        <p:spPr>
          <a:xfrm>
            <a:off x="76200" y="2133600"/>
            <a:ext cx="5758172" cy="4546457"/>
          </a:xfrm>
          <a:prstGeom prst="rect">
            <a:avLst/>
          </a:prstGeom>
          <a:noFill/>
        </p:spPr>
      </p:pic>
      <p:sp>
        <p:nvSpPr>
          <p:cNvPr id="4" name="Content Placeholder 3">
            <a:extLst>
              <a:ext uri="{FF2B5EF4-FFF2-40B4-BE49-F238E27FC236}">
                <a16:creationId xmlns:a16="http://schemas.microsoft.com/office/drawing/2014/main" id="{2193CFEA-42B9-8F28-E466-B5E29E649A3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762000"/>
            <a:ext cx="5558655" cy="5797484"/>
          </a:xfrm>
        </p:spPr>
        <p:txBody>
          <a:bodyPr>
            <a:normAutofit fontScale="85000" lnSpcReduction="10000"/>
          </a:bodyPr>
          <a:lstStyle/>
          <a:p>
            <a:pPr marL="0" indent="0">
              <a:buNone/>
            </a:pPr>
            <a:r>
              <a:rPr lang="en-US" sz="1400" b="1" dirty="0"/>
              <a:t> Cloud-Native Modular Framework</a:t>
            </a:r>
          </a:p>
          <a:p>
            <a:r>
              <a:rPr lang="en-US" sz="1400" b="1" dirty="0"/>
              <a:t>Dynamic Scalability:</a:t>
            </a:r>
            <a:r>
              <a:rPr lang="en-US" sz="1400" dirty="0"/>
              <a:t> Utilizes a modern, secure </a:t>
            </a:r>
            <a:r>
              <a:rPr lang="en-US" sz="1400" b="1" dirty="0"/>
              <a:t>Cloud-Native architecture</a:t>
            </a:r>
            <a:r>
              <a:rPr lang="en-US" sz="1400" dirty="0"/>
              <a:t> for elastic scaling, managing millions of dynamic data streams simultaneously.</a:t>
            </a:r>
          </a:p>
          <a:p>
            <a:r>
              <a:rPr lang="en-US" sz="1400" b="1" dirty="0"/>
              <a:t>Modular API Design:</a:t>
            </a:r>
            <a:r>
              <a:rPr lang="en-US" sz="1400" dirty="0"/>
              <a:t> Enables rapid integration and deployment across various </a:t>
            </a:r>
            <a:r>
              <a:rPr lang="en-US" sz="1400" b="1" dirty="0"/>
              <a:t>Smart City systems</a:t>
            </a:r>
            <a:r>
              <a:rPr lang="en-US" sz="1400" dirty="0"/>
              <a:t> and partner platforms.</a:t>
            </a:r>
          </a:p>
          <a:p>
            <a:pPr marL="0" indent="0">
              <a:buNone/>
            </a:pPr>
            <a:r>
              <a:rPr lang="en-US" sz="1400" b="1" dirty="0"/>
              <a:t>Real-Time Data Collection</a:t>
            </a:r>
          </a:p>
          <a:p>
            <a:r>
              <a:rPr lang="en-US" sz="1400" b="1" dirty="0"/>
              <a:t>Instant Traffic Visibility:</a:t>
            </a:r>
            <a:r>
              <a:rPr lang="en-US" sz="1400" dirty="0"/>
              <a:t> Collects precise, </a:t>
            </a:r>
            <a:r>
              <a:rPr lang="en-US" sz="1400" b="1" dirty="0"/>
              <a:t>real-time mobile telemetry</a:t>
            </a:r>
            <a:r>
              <a:rPr lang="en-US" sz="1400" dirty="0"/>
              <a:t> from commuters, transforming every phone into a dynamic sensor.</a:t>
            </a:r>
          </a:p>
          <a:p>
            <a:r>
              <a:rPr lang="en-US" sz="1400" b="1" dirty="0"/>
              <a:t>Proactive Prediction:</a:t>
            </a:r>
            <a:r>
              <a:rPr lang="en-US" sz="1400" dirty="0"/>
              <a:t> Moves beyond simple reporting to </a:t>
            </a:r>
            <a:r>
              <a:rPr lang="en-US" sz="1400" b="1" dirty="0"/>
              <a:t>predict congestion minutes in advance</a:t>
            </a:r>
            <a:r>
              <a:rPr lang="en-US" sz="1400" dirty="0"/>
              <a:t>, enabling true proactive traffic optimization</a:t>
            </a:r>
          </a:p>
          <a:p>
            <a:pPr marL="0" indent="0">
              <a:buNone/>
            </a:pPr>
            <a:r>
              <a:rPr lang="en-US" sz="1400" b="1" dirty="0"/>
              <a:t> Privacy-Preserving Federated Learning</a:t>
            </a:r>
          </a:p>
          <a:p>
            <a:r>
              <a:rPr lang="en-US" sz="1400" b="1" dirty="0"/>
              <a:t>Privacy by Design:</a:t>
            </a:r>
            <a:r>
              <a:rPr lang="en-US" sz="1400" dirty="0"/>
              <a:t> Uses cutting-edge </a:t>
            </a:r>
            <a:r>
              <a:rPr lang="en-US" sz="1400" b="1" dirty="0"/>
              <a:t>Federated Learning</a:t>
            </a:r>
            <a:r>
              <a:rPr lang="en-US" sz="1400" dirty="0"/>
              <a:t> techniques to analyze patterns without ever centralizing raw user data.</a:t>
            </a:r>
          </a:p>
          <a:p>
            <a:r>
              <a:rPr lang="en-US" sz="1400" b="1" dirty="0"/>
              <a:t>Secure Pattern Recognition:</a:t>
            </a:r>
            <a:r>
              <a:rPr lang="en-US" sz="1400" dirty="0"/>
              <a:t> Ensures user privacy is </a:t>
            </a:r>
            <a:r>
              <a:rPr lang="en-US" sz="1400" b="1" dirty="0"/>
              <a:t>absolutely guaranteed</a:t>
            </a:r>
            <a:r>
              <a:rPr lang="en-US" sz="1400" dirty="0"/>
              <a:t> while generating highly accurate models for dynamic re-routing.</a:t>
            </a:r>
          </a:p>
          <a:p>
            <a:pPr marL="0" indent="0">
              <a:buNone/>
            </a:pPr>
            <a:r>
              <a:rPr lang="en-US" sz="1400" b="1" dirty="0"/>
              <a:t> Interoperability &amp; Accessibility</a:t>
            </a:r>
          </a:p>
          <a:p>
            <a:r>
              <a:rPr lang="en-US" sz="1400" b="1" dirty="0"/>
              <a:t>Seamless Integration:</a:t>
            </a:r>
            <a:r>
              <a:rPr lang="en-US" sz="1400" dirty="0"/>
              <a:t> Full API support ensures </a:t>
            </a:r>
            <a:r>
              <a:rPr lang="en-US" sz="1400" b="1" dirty="0"/>
              <a:t>seamless connectivity</a:t>
            </a:r>
            <a:r>
              <a:rPr lang="en-US" sz="1400" dirty="0"/>
              <a:t> with all major navigation and city management systems.</a:t>
            </a:r>
          </a:p>
          <a:p>
            <a:r>
              <a:rPr lang="en-US" sz="1400" b="1" dirty="0"/>
              <a:t>Inclusive User Experience:</a:t>
            </a:r>
            <a:r>
              <a:rPr lang="en-US" sz="1400" dirty="0"/>
              <a:t> Features a </a:t>
            </a:r>
            <a:r>
              <a:rPr lang="en-US" sz="1400" b="1" dirty="0"/>
              <a:t>Vernacular AI Voice Interface</a:t>
            </a:r>
            <a:r>
              <a:rPr lang="en-US" sz="1400" dirty="0"/>
              <a:t> to ensure accessibility and ease of use for diverse users across India.</a:t>
            </a:r>
          </a:p>
        </p:txBody>
      </p:sp>
      <p:sp>
        <p:nvSpPr>
          <p:cNvPr id="6" name="Date Placeholder 5">
            <a:extLst>
              <a:ext uri="{FF2B5EF4-FFF2-40B4-BE49-F238E27FC236}">
                <a16:creationId xmlns:a16="http://schemas.microsoft.com/office/drawing/2014/main" id="{E246CA3D-4579-AE1D-851C-A24722B095E7}"/>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Tree>
    <p:extLst>
      <p:ext uri="{BB962C8B-B14F-4D97-AF65-F5344CB8AC3E}">
        <p14:creationId xmlns:p14="http://schemas.microsoft.com/office/powerpoint/2010/main" val="29166075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715070DE-4353-20E0-48FD-151731AA2196}"/>
              </a:ext>
            </a:extLst>
          </p:cNvPr>
          <p:cNvSpPr/>
          <p:nvPr/>
        </p:nvSpPr>
        <p:spPr>
          <a:xfrm>
            <a:off x="3810000" y="685800"/>
            <a:ext cx="3886200" cy="5867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39" name="Rectangle 38">
            <a:extLst>
              <a:ext uri="{FF2B5EF4-FFF2-40B4-BE49-F238E27FC236}">
                <a16:creationId xmlns:a16="http://schemas.microsoft.com/office/drawing/2014/main" id="{E814EA49-687E-F72A-77F1-DBBB7AF2988A}"/>
              </a:ext>
            </a:extLst>
          </p:cNvPr>
          <p:cNvSpPr/>
          <p:nvPr/>
        </p:nvSpPr>
        <p:spPr>
          <a:xfrm>
            <a:off x="3905446" y="1173482"/>
            <a:ext cx="647700" cy="278891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2" name="Title 1">
            <a:extLst>
              <a:ext uri="{FF2B5EF4-FFF2-40B4-BE49-F238E27FC236}">
                <a16:creationId xmlns:a16="http://schemas.microsoft.com/office/drawing/2014/main" id="{384BBBE2-B2C9-0A8D-AD37-9E6FFB2F7F28}"/>
              </a:ext>
            </a:extLst>
          </p:cNvPr>
          <p:cNvSpPr>
            <a:spLocks noGrp="1"/>
          </p:cNvSpPr>
          <p:nvPr>
            <p:ph type="title"/>
          </p:nvPr>
        </p:nvSpPr>
        <p:spPr>
          <a:xfrm>
            <a:off x="152400" y="76200"/>
            <a:ext cx="10210800" cy="990600"/>
          </a:xfrm>
        </p:spPr>
        <p:txBody>
          <a:bodyPr anchor="t">
            <a:noAutofit/>
          </a:bodyPr>
          <a:lstStyle/>
          <a:p>
            <a:r>
              <a:rPr lang="en-US" sz="3600" dirty="0"/>
              <a:t>High Level Solution Design</a:t>
            </a:r>
          </a:p>
        </p:txBody>
      </p:sp>
      <p:sp>
        <p:nvSpPr>
          <p:cNvPr id="6" name="Date Placeholder 5">
            <a:extLst>
              <a:ext uri="{FF2B5EF4-FFF2-40B4-BE49-F238E27FC236}">
                <a16:creationId xmlns:a16="http://schemas.microsoft.com/office/drawing/2014/main" id="{E246CA3D-4579-AE1D-851C-A24722B095E7}"/>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grpSp>
        <p:nvGrpSpPr>
          <p:cNvPr id="12" name="Group 11">
            <a:extLst>
              <a:ext uri="{FF2B5EF4-FFF2-40B4-BE49-F238E27FC236}">
                <a16:creationId xmlns:a16="http://schemas.microsoft.com/office/drawing/2014/main" id="{E4A69340-EC31-449C-3803-336BD42727A0}"/>
              </a:ext>
            </a:extLst>
          </p:cNvPr>
          <p:cNvGrpSpPr/>
          <p:nvPr/>
        </p:nvGrpSpPr>
        <p:grpSpPr>
          <a:xfrm>
            <a:off x="457200" y="1295400"/>
            <a:ext cx="685800" cy="718108"/>
            <a:chOff x="457200" y="1295400"/>
            <a:chExt cx="685800" cy="718108"/>
          </a:xfrm>
        </p:grpSpPr>
        <p:pic>
          <p:nvPicPr>
            <p:cNvPr id="4" name="Graphic 3" descr="User">
              <a:extLst>
                <a:ext uri="{FF2B5EF4-FFF2-40B4-BE49-F238E27FC236}">
                  <a16:creationId xmlns:a16="http://schemas.microsoft.com/office/drawing/2014/main" id="{73C5A4AF-436E-3108-5F5B-6DB83E51CF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 y="1295400"/>
              <a:ext cx="609600" cy="609600"/>
            </a:xfrm>
            <a:prstGeom prst="rect">
              <a:avLst/>
            </a:prstGeom>
          </p:spPr>
        </p:pic>
        <p:sp>
          <p:nvSpPr>
            <p:cNvPr id="5" name="TextBox 4">
              <a:extLst>
                <a:ext uri="{FF2B5EF4-FFF2-40B4-BE49-F238E27FC236}">
                  <a16:creationId xmlns:a16="http://schemas.microsoft.com/office/drawing/2014/main" id="{6C202746-8646-6115-3066-AB0F4E16D856}"/>
                </a:ext>
              </a:extLst>
            </p:cNvPr>
            <p:cNvSpPr txBox="1"/>
            <p:nvPr/>
          </p:nvSpPr>
          <p:spPr>
            <a:xfrm>
              <a:off x="457200" y="1798064"/>
              <a:ext cx="685800" cy="215444"/>
            </a:xfrm>
            <a:prstGeom prst="rect">
              <a:avLst/>
            </a:prstGeom>
            <a:noFill/>
          </p:spPr>
          <p:txBody>
            <a:bodyPr wrap="square" rtlCol="0">
              <a:spAutoFit/>
            </a:bodyPr>
            <a:lstStyle/>
            <a:p>
              <a:r>
                <a:rPr lang="en-US" sz="800" dirty="0"/>
                <a:t>customer</a:t>
              </a:r>
              <a:endParaRPr lang="en-IN" sz="800" dirty="0"/>
            </a:p>
          </p:txBody>
        </p:sp>
      </p:grpSp>
      <p:pic>
        <p:nvPicPr>
          <p:cNvPr id="8" name="Graphic 7" descr="Smart Phone">
            <a:extLst>
              <a:ext uri="{FF2B5EF4-FFF2-40B4-BE49-F238E27FC236}">
                <a16:creationId xmlns:a16="http://schemas.microsoft.com/office/drawing/2014/main" id="{BA02A6FD-D7BD-93B5-A7D6-BCDEC548FC3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28800" y="1360503"/>
            <a:ext cx="685800" cy="638865"/>
          </a:xfrm>
          <a:prstGeom prst="rect">
            <a:avLst/>
          </a:prstGeom>
        </p:spPr>
      </p:pic>
      <p:cxnSp>
        <p:nvCxnSpPr>
          <p:cNvPr id="10" name="Straight Arrow Connector 9">
            <a:extLst>
              <a:ext uri="{FF2B5EF4-FFF2-40B4-BE49-F238E27FC236}">
                <a16:creationId xmlns:a16="http://schemas.microsoft.com/office/drawing/2014/main" id="{AF44DADB-4D3D-6CA3-8039-54B5F66C7CF0}"/>
              </a:ext>
            </a:extLst>
          </p:cNvPr>
          <p:cNvCxnSpPr>
            <a:stCxn id="4" idx="3"/>
          </p:cNvCxnSpPr>
          <p:nvPr/>
        </p:nvCxnSpPr>
        <p:spPr>
          <a:xfrm>
            <a:off x="1066800" y="1600200"/>
            <a:ext cx="838200"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grpSp>
        <p:nvGrpSpPr>
          <p:cNvPr id="13" name="Group 12">
            <a:extLst>
              <a:ext uri="{FF2B5EF4-FFF2-40B4-BE49-F238E27FC236}">
                <a16:creationId xmlns:a16="http://schemas.microsoft.com/office/drawing/2014/main" id="{83168A88-A94B-CD96-BC99-2A6C5095CC12}"/>
              </a:ext>
            </a:extLst>
          </p:cNvPr>
          <p:cNvGrpSpPr/>
          <p:nvPr/>
        </p:nvGrpSpPr>
        <p:grpSpPr>
          <a:xfrm>
            <a:off x="457200" y="1954242"/>
            <a:ext cx="685800" cy="718108"/>
            <a:chOff x="457200" y="1295400"/>
            <a:chExt cx="685800" cy="718108"/>
          </a:xfrm>
        </p:grpSpPr>
        <p:pic>
          <p:nvPicPr>
            <p:cNvPr id="14" name="Graphic 13" descr="User">
              <a:extLst>
                <a:ext uri="{FF2B5EF4-FFF2-40B4-BE49-F238E27FC236}">
                  <a16:creationId xmlns:a16="http://schemas.microsoft.com/office/drawing/2014/main" id="{54622E8C-1847-12CA-CAF3-67D7772E30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 y="1295400"/>
              <a:ext cx="609600" cy="609600"/>
            </a:xfrm>
            <a:prstGeom prst="rect">
              <a:avLst/>
            </a:prstGeom>
          </p:spPr>
        </p:pic>
        <p:sp>
          <p:nvSpPr>
            <p:cNvPr id="15" name="TextBox 14">
              <a:extLst>
                <a:ext uri="{FF2B5EF4-FFF2-40B4-BE49-F238E27FC236}">
                  <a16:creationId xmlns:a16="http://schemas.microsoft.com/office/drawing/2014/main" id="{699C1CBA-7078-51A8-F56C-C485650C6C8D}"/>
                </a:ext>
              </a:extLst>
            </p:cNvPr>
            <p:cNvSpPr txBox="1"/>
            <p:nvPr/>
          </p:nvSpPr>
          <p:spPr>
            <a:xfrm>
              <a:off x="457200" y="1798064"/>
              <a:ext cx="685800" cy="215444"/>
            </a:xfrm>
            <a:prstGeom prst="rect">
              <a:avLst/>
            </a:prstGeom>
            <a:noFill/>
          </p:spPr>
          <p:txBody>
            <a:bodyPr wrap="square" rtlCol="0">
              <a:spAutoFit/>
            </a:bodyPr>
            <a:lstStyle/>
            <a:p>
              <a:r>
                <a:rPr lang="en-US" sz="800" dirty="0"/>
                <a:t>customer</a:t>
              </a:r>
              <a:endParaRPr lang="en-IN" sz="800" dirty="0"/>
            </a:p>
          </p:txBody>
        </p:sp>
      </p:grpSp>
      <p:pic>
        <p:nvPicPr>
          <p:cNvPr id="16" name="Graphic 15" descr="Smart Phone">
            <a:extLst>
              <a:ext uri="{FF2B5EF4-FFF2-40B4-BE49-F238E27FC236}">
                <a16:creationId xmlns:a16="http://schemas.microsoft.com/office/drawing/2014/main" id="{2707BB3A-DD35-3B10-1EEC-5E6100C39B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28800" y="2088231"/>
            <a:ext cx="685800" cy="638865"/>
          </a:xfrm>
          <a:prstGeom prst="rect">
            <a:avLst/>
          </a:prstGeom>
        </p:spPr>
      </p:pic>
      <p:cxnSp>
        <p:nvCxnSpPr>
          <p:cNvPr id="17" name="Straight Arrow Connector 16">
            <a:extLst>
              <a:ext uri="{FF2B5EF4-FFF2-40B4-BE49-F238E27FC236}">
                <a16:creationId xmlns:a16="http://schemas.microsoft.com/office/drawing/2014/main" id="{A147895E-0BFA-D9A6-6CB6-D91CF1F1135A}"/>
              </a:ext>
            </a:extLst>
          </p:cNvPr>
          <p:cNvCxnSpPr/>
          <p:nvPr/>
        </p:nvCxnSpPr>
        <p:spPr>
          <a:xfrm>
            <a:off x="1066800" y="2327928"/>
            <a:ext cx="838200"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grpSp>
        <p:nvGrpSpPr>
          <p:cNvPr id="18" name="Group 17">
            <a:extLst>
              <a:ext uri="{FF2B5EF4-FFF2-40B4-BE49-F238E27FC236}">
                <a16:creationId xmlns:a16="http://schemas.microsoft.com/office/drawing/2014/main" id="{52796133-D590-07C3-56E5-5B88D4506941}"/>
              </a:ext>
            </a:extLst>
          </p:cNvPr>
          <p:cNvGrpSpPr/>
          <p:nvPr/>
        </p:nvGrpSpPr>
        <p:grpSpPr>
          <a:xfrm>
            <a:off x="457200" y="2703817"/>
            <a:ext cx="685800" cy="718108"/>
            <a:chOff x="457200" y="1295400"/>
            <a:chExt cx="685800" cy="718108"/>
          </a:xfrm>
        </p:grpSpPr>
        <p:pic>
          <p:nvPicPr>
            <p:cNvPr id="19" name="Graphic 18" descr="User">
              <a:extLst>
                <a:ext uri="{FF2B5EF4-FFF2-40B4-BE49-F238E27FC236}">
                  <a16:creationId xmlns:a16="http://schemas.microsoft.com/office/drawing/2014/main" id="{5B79245F-7447-B011-7D8E-F9CCF07522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 y="1295400"/>
              <a:ext cx="609600" cy="609600"/>
            </a:xfrm>
            <a:prstGeom prst="rect">
              <a:avLst/>
            </a:prstGeom>
          </p:spPr>
        </p:pic>
        <p:sp>
          <p:nvSpPr>
            <p:cNvPr id="20" name="TextBox 19">
              <a:extLst>
                <a:ext uri="{FF2B5EF4-FFF2-40B4-BE49-F238E27FC236}">
                  <a16:creationId xmlns:a16="http://schemas.microsoft.com/office/drawing/2014/main" id="{139723E7-8CAC-BD3F-1CC5-BE4DBC89AE76}"/>
                </a:ext>
              </a:extLst>
            </p:cNvPr>
            <p:cNvSpPr txBox="1"/>
            <p:nvPr/>
          </p:nvSpPr>
          <p:spPr>
            <a:xfrm>
              <a:off x="457200" y="1798064"/>
              <a:ext cx="685800" cy="215444"/>
            </a:xfrm>
            <a:prstGeom prst="rect">
              <a:avLst/>
            </a:prstGeom>
            <a:noFill/>
          </p:spPr>
          <p:txBody>
            <a:bodyPr wrap="square" rtlCol="0">
              <a:spAutoFit/>
            </a:bodyPr>
            <a:lstStyle/>
            <a:p>
              <a:r>
                <a:rPr lang="en-US" sz="800" dirty="0"/>
                <a:t>customer</a:t>
              </a:r>
              <a:endParaRPr lang="en-IN" sz="800" dirty="0"/>
            </a:p>
          </p:txBody>
        </p:sp>
      </p:grpSp>
      <p:pic>
        <p:nvPicPr>
          <p:cNvPr id="21" name="Graphic 20" descr="Smart Phone">
            <a:extLst>
              <a:ext uri="{FF2B5EF4-FFF2-40B4-BE49-F238E27FC236}">
                <a16:creationId xmlns:a16="http://schemas.microsoft.com/office/drawing/2014/main" id="{1DB0A74B-1559-5306-FA6D-7376F1A967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28800" y="2837806"/>
            <a:ext cx="685800" cy="638865"/>
          </a:xfrm>
          <a:prstGeom prst="rect">
            <a:avLst/>
          </a:prstGeom>
        </p:spPr>
      </p:pic>
      <p:cxnSp>
        <p:nvCxnSpPr>
          <p:cNvPr id="22" name="Straight Arrow Connector 21">
            <a:extLst>
              <a:ext uri="{FF2B5EF4-FFF2-40B4-BE49-F238E27FC236}">
                <a16:creationId xmlns:a16="http://schemas.microsoft.com/office/drawing/2014/main" id="{08C2AACB-FF29-E9B5-E83F-9061795A5858}"/>
              </a:ext>
            </a:extLst>
          </p:cNvPr>
          <p:cNvCxnSpPr/>
          <p:nvPr/>
        </p:nvCxnSpPr>
        <p:spPr>
          <a:xfrm>
            <a:off x="1066800" y="3077503"/>
            <a:ext cx="838200"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7" name="TextBox 26">
            <a:extLst>
              <a:ext uri="{FF2B5EF4-FFF2-40B4-BE49-F238E27FC236}">
                <a16:creationId xmlns:a16="http://schemas.microsoft.com/office/drawing/2014/main" id="{B520AEA6-FE01-85C9-C9FC-F4564B59D0D4}"/>
              </a:ext>
            </a:extLst>
          </p:cNvPr>
          <p:cNvSpPr txBox="1"/>
          <p:nvPr/>
        </p:nvSpPr>
        <p:spPr>
          <a:xfrm>
            <a:off x="1714500" y="1042666"/>
            <a:ext cx="914400" cy="338554"/>
          </a:xfrm>
          <a:prstGeom prst="rect">
            <a:avLst/>
          </a:prstGeom>
          <a:noFill/>
        </p:spPr>
        <p:txBody>
          <a:bodyPr wrap="square" rtlCol="0">
            <a:spAutoFit/>
          </a:bodyPr>
          <a:lstStyle/>
          <a:p>
            <a:pPr algn="ctr"/>
            <a:r>
              <a:rPr lang="en-US" sz="800" dirty="0"/>
              <a:t>PragatiDhara App</a:t>
            </a:r>
            <a:endParaRPr lang="en-IN" sz="800" dirty="0"/>
          </a:p>
        </p:txBody>
      </p:sp>
      <p:sp>
        <p:nvSpPr>
          <p:cNvPr id="29" name="TextBox 28">
            <a:extLst>
              <a:ext uri="{FF2B5EF4-FFF2-40B4-BE49-F238E27FC236}">
                <a16:creationId xmlns:a16="http://schemas.microsoft.com/office/drawing/2014/main" id="{D3ED2CCC-0806-EF46-8C63-16A16B758E87}"/>
              </a:ext>
            </a:extLst>
          </p:cNvPr>
          <p:cNvSpPr txBox="1"/>
          <p:nvPr/>
        </p:nvSpPr>
        <p:spPr>
          <a:xfrm>
            <a:off x="971746" y="1969573"/>
            <a:ext cx="914400" cy="338554"/>
          </a:xfrm>
          <a:prstGeom prst="rect">
            <a:avLst/>
          </a:prstGeom>
          <a:noFill/>
        </p:spPr>
        <p:txBody>
          <a:bodyPr wrap="square" rtlCol="0">
            <a:spAutoFit/>
          </a:bodyPr>
          <a:lstStyle/>
          <a:p>
            <a:pPr algn="ctr"/>
            <a:r>
              <a:rPr lang="en-US" sz="800" dirty="0"/>
              <a:t>Uses own Mobile device</a:t>
            </a:r>
            <a:endParaRPr lang="en-IN" sz="800" dirty="0"/>
          </a:p>
        </p:txBody>
      </p:sp>
      <p:sp>
        <p:nvSpPr>
          <p:cNvPr id="30" name="TextBox 29">
            <a:extLst>
              <a:ext uri="{FF2B5EF4-FFF2-40B4-BE49-F238E27FC236}">
                <a16:creationId xmlns:a16="http://schemas.microsoft.com/office/drawing/2014/main" id="{02135203-7159-55E8-FC1E-E072B1FB1729}"/>
              </a:ext>
            </a:extLst>
          </p:cNvPr>
          <p:cNvSpPr txBox="1"/>
          <p:nvPr/>
        </p:nvSpPr>
        <p:spPr>
          <a:xfrm>
            <a:off x="972532" y="1274422"/>
            <a:ext cx="914400" cy="338554"/>
          </a:xfrm>
          <a:prstGeom prst="rect">
            <a:avLst/>
          </a:prstGeom>
          <a:noFill/>
        </p:spPr>
        <p:txBody>
          <a:bodyPr wrap="square" rtlCol="0">
            <a:spAutoFit/>
          </a:bodyPr>
          <a:lstStyle/>
          <a:p>
            <a:pPr algn="ctr"/>
            <a:r>
              <a:rPr lang="en-US" sz="800" dirty="0"/>
              <a:t>Uses own Mobile device</a:t>
            </a:r>
            <a:endParaRPr lang="en-IN" sz="800" dirty="0"/>
          </a:p>
        </p:txBody>
      </p:sp>
      <p:sp>
        <p:nvSpPr>
          <p:cNvPr id="31" name="TextBox 30">
            <a:extLst>
              <a:ext uri="{FF2B5EF4-FFF2-40B4-BE49-F238E27FC236}">
                <a16:creationId xmlns:a16="http://schemas.microsoft.com/office/drawing/2014/main" id="{AA039A69-8111-A1C4-134D-EF701B24D4AA}"/>
              </a:ext>
            </a:extLst>
          </p:cNvPr>
          <p:cNvSpPr txBox="1"/>
          <p:nvPr/>
        </p:nvSpPr>
        <p:spPr>
          <a:xfrm>
            <a:off x="971746" y="2727952"/>
            <a:ext cx="914400" cy="338554"/>
          </a:xfrm>
          <a:prstGeom prst="rect">
            <a:avLst/>
          </a:prstGeom>
          <a:noFill/>
        </p:spPr>
        <p:txBody>
          <a:bodyPr wrap="square" rtlCol="0">
            <a:spAutoFit/>
          </a:bodyPr>
          <a:lstStyle/>
          <a:p>
            <a:pPr algn="ctr"/>
            <a:r>
              <a:rPr lang="en-US" sz="800" dirty="0"/>
              <a:t>Uses own Mobile device</a:t>
            </a:r>
            <a:endParaRPr lang="en-IN" sz="800" dirty="0"/>
          </a:p>
        </p:txBody>
      </p:sp>
      <p:sp>
        <p:nvSpPr>
          <p:cNvPr id="33" name="Rectangle 32">
            <a:extLst>
              <a:ext uri="{FF2B5EF4-FFF2-40B4-BE49-F238E27FC236}">
                <a16:creationId xmlns:a16="http://schemas.microsoft.com/office/drawing/2014/main" id="{15B68C70-DAF3-DCAA-AC51-BE44E52F22B4}"/>
              </a:ext>
            </a:extLst>
          </p:cNvPr>
          <p:cNvSpPr/>
          <p:nvPr/>
        </p:nvSpPr>
        <p:spPr>
          <a:xfrm>
            <a:off x="4019746" y="1381220"/>
            <a:ext cx="323654" cy="1145527"/>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400" dirty="0"/>
          </a:p>
        </p:txBody>
      </p:sp>
      <p:sp>
        <p:nvSpPr>
          <p:cNvPr id="34" name="TextBox 33">
            <a:extLst>
              <a:ext uri="{FF2B5EF4-FFF2-40B4-BE49-F238E27FC236}">
                <a16:creationId xmlns:a16="http://schemas.microsoft.com/office/drawing/2014/main" id="{A4125A4B-4DC4-3A69-C4D8-054B83666B72}"/>
              </a:ext>
            </a:extLst>
          </p:cNvPr>
          <p:cNvSpPr txBox="1"/>
          <p:nvPr/>
        </p:nvSpPr>
        <p:spPr>
          <a:xfrm rot="16200000">
            <a:off x="3735777" y="1736715"/>
            <a:ext cx="914400" cy="338554"/>
          </a:xfrm>
          <a:prstGeom prst="rect">
            <a:avLst/>
          </a:prstGeom>
          <a:noFill/>
        </p:spPr>
        <p:txBody>
          <a:bodyPr wrap="square" rtlCol="0">
            <a:spAutoFit/>
          </a:bodyPr>
          <a:lstStyle/>
          <a:p>
            <a:pPr algn="ctr"/>
            <a:r>
              <a:rPr lang="en-US" sz="800" dirty="0">
                <a:solidFill>
                  <a:schemeClr val="bg1"/>
                </a:solidFill>
              </a:rPr>
              <a:t>Application Gateway</a:t>
            </a:r>
            <a:endParaRPr lang="en-IN" sz="800" dirty="0">
              <a:solidFill>
                <a:schemeClr val="bg1"/>
              </a:solidFill>
            </a:endParaRPr>
          </a:p>
        </p:txBody>
      </p:sp>
      <p:sp>
        <p:nvSpPr>
          <p:cNvPr id="35" name="Rectangle 34">
            <a:extLst>
              <a:ext uri="{FF2B5EF4-FFF2-40B4-BE49-F238E27FC236}">
                <a16:creationId xmlns:a16="http://schemas.microsoft.com/office/drawing/2014/main" id="{805B2452-6B4C-D8FD-477A-890B7B6C2F88}"/>
              </a:ext>
            </a:extLst>
          </p:cNvPr>
          <p:cNvSpPr/>
          <p:nvPr/>
        </p:nvSpPr>
        <p:spPr>
          <a:xfrm>
            <a:off x="4019746" y="2604778"/>
            <a:ext cx="323654" cy="1145527"/>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400" dirty="0"/>
          </a:p>
        </p:txBody>
      </p:sp>
      <p:sp>
        <p:nvSpPr>
          <p:cNvPr id="36" name="TextBox 35">
            <a:extLst>
              <a:ext uri="{FF2B5EF4-FFF2-40B4-BE49-F238E27FC236}">
                <a16:creationId xmlns:a16="http://schemas.microsoft.com/office/drawing/2014/main" id="{84B3FD15-37EC-E53D-1BC6-8FBE3EAD39BB}"/>
              </a:ext>
            </a:extLst>
          </p:cNvPr>
          <p:cNvSpPr txBox="1"/>
          <p:nvPr/>
        </p:nvSpPr>
        <p:spPr>
          <a:xfrm rot="16200000">
            <a:off x="3735777" y="2960273"/>
            <a:ext cx="914400" cy="338554"/>
          </a:xfrm>
          <a:prstGeom prst="rect">
            <a:avLst/>
          </a:prstGeom>
          <a:noFill/>
        </p:spPr>
        <p:txBody>
          <a:bodyPr wrap="square" rtlCol="0">
            <a:spAutoFit/>
          </a:bodyPr>
          <a:lstStyle/>
          <a:p>
            <a:pPr algn="ctr"/>
            <a:r>
              <a:rPr lang="en-US" sz="800" dirty="0">
                <a:solidFill>
                  <a:schemeClr val="bg1"/>
                </a:solidFill>
              </a:rPr>
              <a:t>Streaming Layer</a:t>
            </a:r>
            <a:endParaRPr lang="en-IN" sz="800" dirty="0">
              <a:solidFill>
                <a:schemeClr val="bg1"/>
              </a:solidFill>
            </a:endParaRPr>
          </a:p>
        </p:txBody>
      </p:sp>
      <p:cxnSp>
        <p:nvCxnSpPr>
          <p:cNvPr id="38" name="Straight Arrow Connector 37">
            <a:extLst>
              <a:ext uri="{FF2B5EF4-FFF2-40B4-BE49-F238E27FC236}">
                <a16:creationId xmlns:a16="http://schemas.microsoft.com/office/drawing/2014/main" id="{9E35A394-0144-39ED-B61A-F80B451F3BFA}"/>
              </a:ext>
            </a:extLst>
          </p:cNvPr>
          <p:cNvCxnSpPr>
            <a:cxnSpLocks/>
          </p:cNvCxnSpPr>
          <p:nvPr/>
        </p:nvCxnSpPr>
        <p:spPr>
          <a:xfrm>
            <a:off x="2362200" y="1600200"/>
            <a:ext cx="1447800" cy="0"/>
          </a:xfrm>
          <a:prstGeom prst="straightConnector1">
            <a:avLst/>
          </a:prstGeom>
          <a:ln>
            <a:solidFill>
              <a:schemeClr val="tx1"/>
            </a:solidFill>
            <a:headEnd type="arrow" w="med" len="med"/>
            <a:tailEnd type="arrow" w="med" len="med"/>
          </a:ln>
        </p:spPr>
        <p:style>
          <a:lnRef idx="1">
            <a:schemeClr val="accent3"/>
          </a:lnRef>
          <a:fillRef idx="0">
            <a:schemeClr val="accent3"/>
          </a:fillRef>
          <a:effectRef idx="0">
            <a:schemeClr val="accent3"/>
          </a:effectRef>
          <a:fontRef idx="minor">
            <a:schemeClr val="tx1"/>
          </a:fontRef>
        </p:style>
      </p:cxnSp>
      <p:cxnSp>
        <p:nvCxnSpPr>
          <p:cNvPr id="41" name="Straight Arrow Connector 40">
            <a:extLst>
              <a:ext uri="{FF2B5EF4-FFF2-40B4-BE49-F238E27FC236}">
                <a16:creationId xmlns:a16="http://schemas.microsoft.com/office/drawing/2014/main" id="{46395A96-970D-8FBC-2430-C5FDEA05798E}"/>
              </a:ext>
            </a:extLst>
          </p:cNvPr>
          <p:cNvCxnSpPr>
            <a:cxnSpLocks/>
          </p:cNvCxnSpPr>
          <p:nvPr/>
        </p:nvCxnSpPr>
        <p:spPr>
          <a:xfrm>
            <a:off x="2362200" y="2308127"/>
            <a:ext cx="1447800" cy="0"/>
          </a:xfrm>
          <a:prstGeom prst="straightConnector1">
            <a:avLst/>
          </a:prstGeom>
          <a:ln>
            <a:solidFill>
              <a:schemeClr val="tx1"/>
            </a:solidFill>
            <a:headEnd type="arrow" w="med" len="med"/>
            <a:tailEnd type="arrow" w="med" len="med"/>
          </a:ln>
        </p:spPr>
        <p:style>
          <a:lnRef idx="1">
            <a:schemeClr val="accent3"/>
          </a:lnRef>
          <a:fillRef idx="0">
            <a:schemeClr val="accent3"/>
          </a:fillRef>
          <a:effectRef idx="0">
            <a:schemeClr val="accent3"/>
          </a:effectRef>
          <a:fontRef idx="minor">
            <a:schemeClr val="tx1"/>
          </a:fontRef>
        </p:style>
      </p:cxnSp>
      <p:cxnSp>
        <p:nvCxnSpPr>
          <p:cNvPr id="42" name="Straight Arrow Connector 41">
            <a:extLst>
              <a:ext uri="{FF2B5EF4-FFF2-40B4-BE49-F238E27FC236}">
                <a16:creationId xmlns:a16="http://schemas.microsoft.com/office/drawing/2014/main" id="{FD8F7A41-7BED-6139-B27D-664ECF3FDC25}"/>
              </a:ext>
            </a:extLst>
          </p:cNvPr>
          <p:cNvCxnSpPr>
            <a:cxnSpLocks/>
          </p:cNvCxnSpPr>
          <p:nvPr/>
        </p:nvCxnSpPr>
        <p:spPr>
          <a:xfrm>
            <a:off x="2362200" y="3159478"/>
            <a:ext cx="1447800" cy="0"/>
          </a:xfrm>
          <a:prstGeom prst="straightConnector1">
            <a:avLst/>
          </a:prstGeom>
          <a:ln>
            <a:solidFill>
              <a:schemeClr val="tx1"/>
            </a:solidFill>
            <a:headEnd type="arrow" w="med" len="med"/>
            <a:tailEnd type="arrow" w="med" len="med"/>
          </a:ln>
        </p:spPr>
        <p:style>
          <a:lnRef idx="1">
            <a:schemeClr val="accent3"/>
          </a:lnRef>
          <a:fillRef idx="0">
            <a:schemeClr val="accent3"/>
          </a:fillRef>
          <a:effectRef idx="0">
            <a:schemeClr val="accent3"/>
          </a:effectRef>
          <a:fontRef idx="minor">
            <a:schemeClr val="tx1"/>
          </a:fontRef>
        </p:style>
      </p:cxnSp>
      <p:sp>
        <p:nvSpPr>
          <p:cNvPr id="43" name="Rectangle 42">
            <a:extLst>
              <a:ext uri="{FF2B5EF4-FFF2-40B4-BE49-F238E27FC236}">
                <a16:creationId xmlns:a16="http://schemas.microsoft.com/office/drawing/2014/main" id="{CF974E63-5D01-9DD4-0F98-1465499170EA}"/>
              </a:ext>
            </a:extLst>
          </p:cNvPr>
          <p:cNvSpPr/>
          <p:nvPr/>
        </p:nvSpPr>
        <p:spPr>
          <a:xfrm>
            <a:off x="4914900" y="1185048"/>
            <a:ext cx="2552700" cy="369175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100" dirty="0"/>
          </a:p>
        </p:txBody>
      </p:sp>
      <p:sp>
        <p:nvSpPr>
          <p:cNvPr id="45" name="Rectangle 44">
            <a:extLst>
              <a:ext uri="{FF2B5EF4-FFF2-40B4-BE49-F238E27FC236}">
                <a16:creationId xmlns:a16="http://schemas.microsoft.com/office/drawing/2014/main" id="{705B4337-52F2-616E-81A7-75E818FC9FA5}"/>
              </a:ext>
            </a:extLst>
          </p:cNvPr>
          <p:cNvSpPr/>
          <p:nvPr/>
        </p:nvSpPr>
        <p:spPr>
          <a:xfrm rot="5400000">
            <a:off x="6067326" y="999582"/>
            <a:ext cx="323654" cy="14478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46" name="TextBox 45">
            <a:extLst>
              <a:ext uri="{FF2B5EF4-FFF2-40B4-BE49-F238E27FC236}">
                <a16:creationId xmlns:a16="http://schemas.microsoft.com/office/drawing/2014/main" id="{03A3080B-6A7B-EE52-A487-5A0856E09413}"/>
              </a:ext>
            </a:extLst>
          </p:cNvPr>
          <p:cNvSpPr txBox="1"/>
          <p:nvPr/>
        </p:nvSpPr>
        <p:spPr>
          <a:xfrm>
            <a:off x="5591076" y="1612976"/>
            <a:ext cx="1276154" cy="215444"/>
          </a:xfrm>
          <a:prstGeom prst="rect">
            <a:avLst/>
          </a:prstGeom>
          <a:noFill/>
        </p:spPr>
        <p:txBody>
          <a:bodyPr wrap="square" rtlCol="0">
            <a:spAutoFit/>
          </a:bodyPr>
          <a:lstStyle/>
          <a:p>
            <a:pPr algn="ctr"/>
            <a:r>
              <a:rPr lang="en-US" sz="800" dirty="0">
                <a:solidFill>
                  <a:schemeClr val="bg1"/>
                </a:solidFill>
              </a:rPr>
              <a:t>Rewards Mgmt.</a:t>
            </a:r>
            <a:endParaRPr lang="en-IN" sz="800" dirty="0">
              <a:solidFill>
                <a:schemeClr val="bg1"/>
              </a:solidFill>
            </a:endParaRPr>
          </a:p>
        </p:txBody>
      </p:sp>
      <p:sp>
        <p:nvSpPr>
          <p:cNvPr id="47" name="Rectangle 46">
            <a:extLst>
              <a:ext uri="{FF2B5EF4-FFF2-40B4-BE49-F238E27FC236}">
                <a16:creationId xmlns:a16="http://schemas.microsoft.com/office/drawing/2014/main" id="{A6822D99-55A8-CE8A-B2AF-03293000F097}"/>
              </a:ext>
            </a:extLst>
          </p:cNvPr>
          <p:cNvSpPr/>
          <p:nvPr/>
        </p:nvSpPr>
        <p:spPr>
          <a:xfrm rot="5400000">
            <a:off x="6058685" y="1433078"/>
            <a:ext cx="323654" cy="14478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48" name="TextBox 47">
            <a:extLst>
              <a:ext uri="{FF2B5EF4-FFF2-40B4-BE49-F238E27FC236}">
                <a16:creationId xmlns:a16="http://schemas.microsoft.com/office/drawing/2014/main" id="{4564E8D4-8DF9-7797-1C3D-208F33C4459B}"/>
              </a:ext>
            </a:extLst>
          </p:cNvPr>
          <p:cNvSpPr txBox="1"/>
          <p:nvPr/>
        </p:nvSpPr>
        <p:spPr>
          <a:xfrm>
            <a:off x="5582435" y="2046472"/>
            <a:ext cx="1276154" cy="215444"/>
          </a:xfrm>
          <a:prstGeom prst="rect">
            <a:avLst/>
          </a:prstGeom>
          <a:noFill/>
        </p:spPr>
        <p:txBody>
          <a:bodyPr wrap="square" rtlCol="0">
            <a:spAutoFit/>
          </a:bodyPr>
          <a:lstStyle/>
          <a:p>
            <a:pPr algn="ctr"/>
            <a:r>
              <a:rPr lang="en-US" sz="800" dirty="0">
                <a:solidFill>
                  <a:schemeClr val="bg1"/>
                </a:solidFill>
              </a:rPr>
              <a:t>Vehicle Mgmt.</a:t>
            </a:r>
            <a:endParaRPr lang="en-IN" sz="800" dirty="0">
              <a:solidFill>
                <a:schemeClr val="bg1"/>
              </a:solidFill>
            </a:endParaRPr>
          </a:p>
        </p:txBody>
      </p:sp>
      <p:sp>
        <p:nvSpPr>
          <p:cNvPr id="49" name="Rectangle 48">
            <a:extLst>
              <a:ext uri="{FF2B5EF4-FFF2-40B4-BE49-F238E27FC236}">
                <a16:creationId xmlns:a16="http://schemas.microsoft.com/office/drawing/2014/main" id="{E828EF42-D889-3AC0-413C-0D13A2418DE4}"/>
              </a:ext>
            </a:extLst>
          </p:cNvPr>
          <p:cNvSpPr/>
          <p:nvPr/>
        </p:nvSpPr>
        <p:spPr>
          <a:xfrm rot="5400000">
            <a:off x="6058685" y="1890999"/>
            <a:ext cx="323654" cy="14478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50" name="TextBox 49">
            <a:extLst>
              <a:ext uri="{FF2B5EF4-FFF2-40B4-BE49-F238E27FC236}">
                <a16:creationId xmlns:a16="http://schemas.microsoft.com/office/drawing/2014/main" id="{B2391F76-6C35-6208-D4C9-A07E697A1981}"/>
              </a:ext>
            </a:extLst>
          </p:cNvPr>
          <p:cNvSpPr txBox="1"/>
          <p:nvPr/>
        </p:nvSpPr>
        <p:spPr>
          <a:xfrm>
            <a:off x="5601289" y="2447962"/>
            <a:ext cx="1276154" cy="338554"/>
          </a:xfrm>
          <a:prstGeom prst="rect">
            <a:avLst/>
          </a:prstGeom>
          <a:noFill/>
        </p:spPr>
        <p:txBody>
          <a:bodyPr wrap="square" rtlCol="0">
            <a:spAutoFit/>
          </a:bodyPr>
          <a:lstStyle/>
          <a:p>
            <a:pPr algn="ctr"/>
            <a:r>
              <a:rPr lang="en-US" sz="800" dirty="0">
                <a:solidFill>
                  <a:schemeClr val="bg1"/>
                </a:solidFill>
              </a:rPr>
              <a:t>AI Route  prediction &amp; Smart Decision Engine</a:t>
            </a:r>
            <a:endParaRPr lang="en-IN" sz="800" dirty="0">
              <a:solidFill>
                <a:schemeClr val="bg1"/>
              </a:solidFill>
            </a:endParaRPr>
          </a:p>
        </p:txBody>
      </p:sp>
      <p:sp>
        <p:nvSpPr>
          <p:cNvPr id="51" name="Rectangle 50">
            <a:extLst>
              <a:ext uri="{FF2B5EF4-FFF2-40B4-BE49-F238E27FC236}">
                <a16:creationId xmlns:a16="http://schemas.microsoft.com/office/drawing/2014/main" id="{C78F71B3-16DB-60DC-558A-4C4C2B4D41BD}"/>
              </a:ext>
            </a:extLst>
          </p:cNvPr>
          <p:cNvSpPr/>
          <p:nvPr/>
        </p:nvSpPr>
        <p:spPr>
          <a:xfrm rot="5400000">
            <a:off x="6058685" y="2374423"/>
            <a:ext cx="323654" cy="14478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52" name="TextBox 51">
            <a:extLst>
              <a:ext uri="{FF2B5EF4-FFF2-40B4-BE49-F238E27FC236}">
                <a16:creationId xmlns:a16="http://schemas.microsoft.com/office/drawing/2014/main" id="{02F6EE69-2C45-C17B-E533-9E81DD1A041A}"/>
              </a:ext>
            </a:extLst>
          </p:cNvPr>
          <p:cNvSpPr txBox="1"/>
          <p:nvPr/>
        </p:nvSpPr>
        <p:spPr>
          <a:xfrm>
            <a:off x="5582435" y="2931386"/>
            <a:ext cx="1295008" cy="338554"/>
          </a:xfrm>
          <a:prstGeom prst="rect">
            <a:avLst/>
          </a:prstGeom>
          <a:noFill/>
        </p:spPr>
        <p:txBody>
          <a:bodyPr wrap="square" rtlCol="0">
            <a:spAutoFit/>
          </a:bodyPr>
          <a:lstStyle/>
          <a:p>
            <a:pPr algn="ctr"/>
            <a:r>
              <a:rPr lang="en-US" sz="800" dirty="0">
                <a:solidFill>
                  <a:schemeClr val="bg1"/>
                </a:solidFill>
              </a:rPr>
              <a:t>Cust. Real time data Processing</a:t>
            </a:r>
            <a:endParaRPr lang="en-IN" sz="800" dirty="0">
              <a:solidFill>
                <a:schemeClr val="bg1"/>
              </a:solidFill>
            </a:endParaRPr>
          </a:p>
        </p:txBody>
      </p:sp>
      <p:sp>
        <p:nvSpPr>
          <p:cNvPr id="53" name="Rectangle 52">
            <a:extLst>
              <a:ext uri="{FF2B5EF4-FFF2-40B4-BE49-F238E27FC236}">
                <a16:creationId xmlns:a16="http://schemas.microsoft.com/office/drawing/2014/main" id="{6BE56635-9BF3-9FA7-FF28-E9AE1635055B}"/>
              </a:ext>
            </a:extLst>
          </p:cNvPr>
          <p:cNvSpPr/>
          <p:nvPr/>
        </p:nvSpPr>
        <p:spPr>
          <a:xfrm rot="5400000">
            <a:off x="6058685" y="2829364"/>
            <a:ext cx="323654" cy="14478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54" name="TextBox 53">
            <a:extLst>
              <a:ext uri="{FF2B5EF4-FFF2-40B4-BE49-F238E27FC236}">
                <a16:creationId xmlns:a16="http://schemas.microsoft.com/office/drawing/2014/main" id="{7CCFDC26-95AC-21C2-68CC-9925C988CAAA}"/>
              </a:ext>
            </a:extLst>
          </p:cNvPr>
          <p:cNvSpPr txBox="1"/>
          <p:nvPr/>
        </p:nvSpPr>
        <p:spPr>
          <a:xfrm>
            <a:off x="5601289" y="3386327"/>
            <a:ext cx="1276154" cy="338554"/>
          </a:xfrm>
          <a:prstGeom prst="rect">
            <a:avLst/>
          </a:prstGeom>
          <a:noFill/>
        </p:spPr>
        <p:txBody>
          <a:bodyPr wrap="square" rtlCol="0">
            <a:spAutoFit/>
          </a:bodyPr>
          <a:lstStyle/>
          <a:p>
            <a:pPr algn="ctr"/>
            <a:r>
              <a:rPr lang="en-US" sz="800" dirty="0">
                <a:solidFill>
                  <a:schemeClr val="bg1"/>
                </a:solidFill>
              </a:rPr>
              <a:t>Incident / Breakdown Reporting</a:t>
            </a:r>
            <a:endParaRPr lang="en-IN" sz="800" dirty="0">
              <a:solidFill>
                <a:schemeClr val="bg1"/>
              </a:solidFill>
            </a:endParaRPr>
          </a:p>
        </p:txBody>
      </p:sp>
      <p:sp>
        <p:nvSpPr>
          <p:cNvPr id="55" name="Rectangle 54">
            <a:extLst>
              <a:ext uri="{FF2B5EF4-FFF2-40B4-BE49-F238E27FC236}">
                <a16:creationId xmlns:a16="http://schemas.microsoft.com/office/drawing/2014/main" id="{8F771F2A-ADF4-3D9F-3861-E4D6EACD68F8}"/>
              </a:ext>
            </a:extLst>
          </p:cNvPr>
          <p:cNvSpPr/>
          <p:nvPr/>
        </p:nvSpPr>
        <p:spPr>
          <a:xfrm rot="5400000">
            <a:off x="6060256" y="3312788"/>
            <a:ext cx="323654" cy="14478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56" name="TextBox 55">
            <a:extLst>
              <a:ext uri="{FF2B5EF4-FFF2-40B4-BE49-F238E27FC236}">
                <a16:creationId xmlns:a16="http://schemas.microsoft.com/office/drawing/2014/main" id="{33D36EF4-B43F-614C-44C3-D5B29775A49C}"/>
              </a:ext>
            </a:extLst>
          </p:cNvPr>
          <p:cNvSpPr txBox="1"/>
          <p:nvPr/>
        </p:nvSpPr>
        <p:spPr>
          <a:xfrm>
            <a:off x="5602860" y="3869751"/>
            <a:ext cx="1276154" cy="338554"/>
          </a:xfrm>
          <a:prstGeom prst="rect">
            <a:avLst/>
          </a:prstGeom>
          <a:noFill/>
        </p:spPr>
        <p:txBody>
          <a:bodyPr wrap="square" rtlCol="0">
            <a:spAutoFit/>
          </a:bodyPr>
          <a:lstStyle/>
          <a:p>
            <a:pPr algn="ctr"/>
            <a:r>
              <a:rPr lang="en-US" sz="800" dirty="0">
                <a:solidFill>
                  <a:schemeClr val="bg1"/>
                </a:solidFill>
              </a:rPr>
              <a:t>Travel enroute and Congestion  Data </a:t>
            </a:r>
            <a:endParaRPr lang="en-IN" sz="800" dirty="0">
              <a:solidFill>
                <a:schemeClr val="bg1"/>
              </a:solidFill>
            </a:endParaRPr>
          </a:p>
        </p:txBody>
      </p:sp>
      <p:sp>
        <p:nvSpPr>
          <p:cNvPr id="59" name="Rectangle 58">
            <a:extLst>
              <a:ext uri="{FF2B5EF4-FFF2-40B4-BE49-F238E27FC236}">
                <a16:creationId xmlns:a16="http://schemas.microsoft.com/office/drawing/2014/main" id="{72DA4EA0-9FDB-D081-C333-F479D38F65C8}"/>
              </a:ext>
            </a:extLst>
          </p:cNvPr>
          <p:cNvSpPr/>
          <p:nvPr/>
        </p:nvSpPr>
        <p:spPr>
          <a:xfrm>
            <a:off x="5019968" y="1551866"/>
            <a:ext cx="323654" cy="310603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60" name="TextBox 59">
            <a:extLst>
              <a:ext uri="{FF2B5EF4-FFF2-40B4-BE49-F238E27FC236}">
                <a16:creationId xmlns:a16="http://schemas.microsoft.com/office/drawing/2014/main" id="{14E66AB8-8ACF-FA31-A470-C207448A2369}"/>
              </a:ext>
            </a:extLst>
          </p:cNvPr>
          <p:cNvSpPr txBox="1"/>
          <p:nvPr/>
        </p:nvSpPr>
        <p:spPr>
          <a:xfrm rot="16200000">
            <a:off x="4092169" y="2789506"/>
            <a:ext cx="2205173" cy="215444"/>
          </a:xfrm>
          <a:prstGeom prst="rect">
            <a:avLst/>
          </a:prstGeom>
          <a:noFill/>
        </p:spPr>
        <p:txBody>
          <a:bodyPr wrap="square" rtlCol="0">
            <a:spAutoFit/>
          </a:bodyPr>
          <a:lstStyle/>
          <a:p>
            <a:pPr algn="ctr"/>
            <a:r>
              <a:rPr lang="en-US" sz="800" dirty="0">
                <a:solidFill>
                  <a:schemeClr val="bg1"/>
                </a:solidFill>
              </a:rPr>
              <a:t>Security</a:t>
            </a:r>
            <a:endParaRPr lang="en-IN" sz="800" dirty="0">
              <a:solidFill>
                <a:schemeClr val="bg1"/>
              </a:solidFill>
            </a:endParaRPr>
          </a:p>
        </p:txBody>
      </p:sp>
      <p:sp>
        <p:nvSpPr>
          <p:cNvPr id="61" name="Rectangle 60">
            <a:extLst>
              <a:ext uri="{FF2B5EF4-FFF2-40B4-BE49-F238E27FC236}">
                <a16:creationId xmlns:a16="http://schemas.microsoft.com/office/drawing/2014/main" id="{F09EA31D-1E18-5732-4DBC-286B6B3E841C}"/>
              </a:ext>
            </a:extLst>
          </p:cNvPr>
          <p:cNvSpPr/>
          <p:nvPr/>
        </p:nvSpPr>
        <p:spPr>
          <a:xfrm>
            <a:off x="7048499" y="1561655"/>
            <a:ext cx="323654" cy="310603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62" name="TextBox 61">
            <a:extLst>
              <a:ext uri="{FF2B5EF4-FFF2-40B4-BE49-F238E27FC236}">
                <a16:creationId xmlns:a16="http://schemas.microsoft.com/office/drawing/2014/main" id="{D6E4D0F9-027A-AC11-9CA2-571E60DFFDE8}"/>
              </a:ext>
            </a:extLst>
          </p:cNvPr>
          <p:cNvSpPr txBox="1"/>
          <p:nvPr/>
        </p:nvSpPr>
        <p:spPr>
          <a:xfrm rot="16200000">
            <a:off x="6120700" y="2799296"/>
            <a:ext cx="2205173" cy="215444"/>
          </a:xfrm>
          <a:prstGeom prst="rect">
            <a:avLst/>
          </a:prstGeom>
          <a:noFill/>
        </p:spPr>
        <p:txBody>
          <a:bodyPr wrap="square" rtlCol="0">
            <a:spAutoFit/>
          </a:bodyPr>
          <a:lstStyle/>
          <a:p>
            <a:pPr algn="ctr"/>
            <a:r>
              <a:rPr lang="en-US" sz="800" dirty="0">
                <a:solidFill>
                  <a:schemeClr val="bg1"/>
                </a:solidFill>
              </a:rPr>
              <a:t>Authorization</a:t>
            </a:r>
            <a:endParaRPr lang="en-IN" sz="800" dirty="0">
              <a:solidFill>
                <a:schemeClr val="bg1"/>
              </a:solidFill>
            </a:endParaRPr>
          </a:p>
        </p:txBody>
      </p:sp>
      <p:sp>
        <p:nvSpPr>
          <p:cNvPr id="63" name="Rectangle 62">
            <a:extLst>
              <a:ext uri="{FF2B5EF4-FFF2-40B4-BE49-F238E27FC236}">
                <a16:creationId xmlns:a16="http://schemas.microsoft.com/office/drawing/2014/main" id="{8AFC51F6-2862-FC73-D3D5-A32414586ACC}"/>
              </a:ext>
            </a:extLst>
          </p:cNvPr>
          <p:cNvSpPr/>
          <p:nvPr/>
        </p:nvSpPr>
        <p:spPr>
          <a:xfrm rot="5400000">
            <a:off x="6043268" y="3777639"/>
            <a:ext cx="323654" cy="145644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64" name="TextBox 63">
            <a:extLst>
              <a:ext uri="{FF2B5EF4-FFF2-40B4-BE49-F238E27FC236}">
                <a16:creationId xmlns:a16="http://schemas.microsoft.com/office/drawing/2014/main" id="{D8F2A432-49BB-AE0D-4A6E-981E2E375267}"/>
              </a:ext>
            </a:extLst>
          </p:cNvPr>
          <p:cNvSpPr txBox="1"/>
          <p:nvPr/>
        </p:nvSpPr>
        <p:spPr>
          <a:xfrm>
            <a:off x="5524107" y="4339592"/>
            <a:ext cx="1353336" cy="338554"/>
          </a:xfrm>
          <a:prstGeom prst="rect">
            <a:avLst/>
          </a:prstGeom>
          <a:noFill/>
        </p:spPr>
        <p:txBody>
          <a:bodyPr wrap="square" rtlCol="0">
            <a:spAutoFit/>
          </a:bodyPr>
          <a:lstStyle/>
          <a:p>
            <a:pPr algn="ctr"/>
            <a:r>
              <a:rPr lang="en-US" sz="800" dirty="0">
                <a:solidFill>
                  <a:schemeClr val="bg1"/>
                </a:solidFill>
              </a:rPr>
              <a:t>Common Utilities &amp; Data Access Layer</a:t>
            </a:r>
            <a:endParaRPr lang="en-IN" sz="800" dirty="0">
              <a:solidFill>
                <a:schemeClr val="bg1"/>
              </a:solidFill>
            </a:endParaRPr>
          </a:p>
        </p:txBody>
      </p:sp>
      <p:sp>
        <p:nvSpPr>
          <p:cNvPr id="65" name="Rectangle 64">
            <a:extLst>
              <a:ext uri="{FF2B5EF4-FFF2-40B4-BE49-F238E27FC236}">
                <a16:creationId xmlns:a16="http://schemas.microsoft.com/office/drawing/2014/main" id="{394DA3B4-1172-7DAE-B064-3F2792CB2434}"/>
              </a:ext>
            </a:extLst>
          </p:cNvPr>
          <p:cNvSpPr/>
          <p:nvPr/>
        </p:nvSpPr>
        <p:spPr>
          <a:xfrm>
            <a:off x="4897519" y="5194240"/>
            <a:ext cx="2552700" cy="1156577"/>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IN" sz="1100" dirty="0"/>
          </a:p>
        </p:txBody>
      </p:sp>
      <p:sp>
        <p:nvSpPr>
          <p:cNvPr id="67" name="Rectangle 66">
            <a:extLst>
              <a:ext uri="{FF2B5EF4-FFF2-40B4-BE49-F238E27FC236}">
                <a16:creationId xmlns:a16="http://schemas.microsoft.com/office/drawing/2014/main" id="{6BD978BB-17AD-5491-1D49-2731614F39BA}"/>
              </a:ext>
            </a:extLst>
          </p:cNvPr>
          <p:cNvSpPr/>
          <p:nvPr/>
        </p:nvSpPr>
        <p:spPr>
          <a:xfrm rot="5400000">
            <a:off x="5205719" y="5258735"/>
            <a:ext cx="323654" cy="80965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68" name="TextBox 67">
            <a:extLst>
              <a:ext uri="{FF2B5EF4-FFF2-40B4-BE49-F238E27FC236}">
                <a16:creationId xmlns:a16="http://schemas.microsoft.com/office/drawing/2014/main" id="{580E5F60-AFCB-1C02-DD28-F9BDC2B5EDAB}"/>
              </a:ext>
            </a:extLst>
          </p:cNvPr>
          <p:cNvSpPr txBox="1"/>
          <p:nvPr/>
        </p:nvSpPr>
        <p:spPr>
          <a:xfrm>
            <a:off x="4938560" y="5503675"/>
            <a:ext cx="833815" cy="338554"/>
          </a:xfrm>
          <a:prstGeom prst="rect">
            <a:avLst/>
          </a:prstGeom>
          <a:noFill/>
        </p:spPr>
        <p:txBody>
          <a:bodyPr wrap="square" rtlCol="0">
            <a:spAutoFit/>
          </a:bodyPr>
          <a:lstStyle/>
          <a:p>
            <a:pPr algn="ctr"/>
            <a:r>
              <a:rPr lang="en-US" sz="800" dirty="0">
                <a:solidFill>
                  <a:schemeClr val="bg1"/>
                </a:solidFill>
              </a:rPr>
              <a:t>Customer</a:t>
            </a:r>
          </a:p>
          <a:p>
            <a:pPr algn="ctr"/>
            <a:r>
              <a:rPr lang="en-US" sz="800" dirty="0">
                <a:solidFill>
                  <a:schemeClr val="bg1"/>
                </a:solidFill>
              </a:rPr>
              <a:t>Data </a:t>
            </a:r>
            <a:endParaRPr lang="en-IN" sz="800" dirty="0">
              <a:solidFill>
                <a:schemeClr val="bg1"/>
              </a:solidFill>
            </a:endParaRPr>
          </a:p>
        </p:txBody>
      </p:sp>
      <p:sp>
        <p:nvSpPr>
          <p:cNvPr id="69" name="Rectangle 68">
            <a:extLst>
              <a:ext uri="{FF2B5EF4-FFF2-40B4-BE49-F238E27FC236}">
                <a16:creationId xmlns:a16="http://schemas.microsoft.com/office/drawing/2014/main" id="{F6AF45B6-6D59-717E-6142-4D9F1EAE7070}"/>
              </a:ext>
            </a:extLst>
          </p:cNvPr>
          <p:cNvSpPr/>
          <p:nvPr/>
        </p:nvSpPr>
        <p:spPr>
          <a:xfrm rot="5400000">
            <a:off x="6114996" y="5230716"/>
            <a:ext cx="323654" cy="86569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71" name="Rectangle 70">
            <a:extLst>
              <a:ext uri="{FF2B5EF4-FFF2-40B4-BE49-F238E27FC236}">
                <a16:creationId xmlns:a16="http://schemas.microsoft.com/office/drawing/2014/main" id="{817845C8-16FC-5924-9022-1DE9DD842F87}"/>
              </a:ext>
            </a:extLst>
          </p:cNvPr>
          <p:cNvSpPr/>
          <p:nvPr/>
        </p:nvSpPr>
        <p:spPr>
          <a:xfrm rot="5400000">
            <a:off x="5199243" y="5654954"/>
            <a:ext cx="323654" cy="80966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72" name="TextBox 71">
            <a:extLst>
              <a:ext uri="{FF2B5EF4-FFF2-40B4-BE49-F238E27FC236}">
                <a16:creationId xmlns:a16="http://schemas.microsoft.com/office/drawing/2014/main" id="{F75F4ED6-08BA-8247-6A16-7D413388E519}"/>
              </a:ext>
            </a:extLst>
          </p:cNvPr>
          <p:cNvSpPr txBox="1"/>
          <p:nvPr/>
        </p:nvSpPr>
        <p:spPr>
          <a:xfrm>
            <a:off x="4932084" y="5899895"/>
            <a:ext cx="833816" cy="338554"/>
          </a:xfrm>
          <a:prstGeom prst="rect">
            <a:avLst/>
          </a:prstGeom>
          <a:noFill/>
        </p:spPr>
        <p:txBody>
          <a:bodyPr wrap="square" rtlCol="0">
            <a:spAutoFit/>
          </a:bodyPr>
          <a:lstStyle/>
          <a:p>
            <a:pPr algn="ctr"/>
            <a:r>
              <a:rPr lang="en-US" sz="800" dirty="0">
                <a:solidFill>
                  <a:schemeClr val="bg1"/>
                </a:solidFill>
              </a:rPr>
              <a:t>Vehicle </a:t>
            </a:r>
          </a:p>
          <a:p>
            <a:pPr algn="ctr"/>
            <a:r>
              <a:rPr lang="en-US" sz="800" dirty="0">
                <a:solidFill>
                  <a:schemeClr val="bg1"/>
                </a:solidFill>
              </a:rPr>
              <a:t>Data </a:t>
            </a:r>
            <a:endParaRPr lang="en-IN" sz="800" dirty="0">
              <a:solidFill>
                <a:schemeClr val="bg1"/>
              </a:solidFill>
            </a:endParaRPr>
          </a:p>
        </p:txBody>
      </p:sp>
      <p:sp>
        <p:nvSpPr>
          <p:cNvPr id="73" name="Rectangle 72">
            <a:extLst>
              <a:ext uri="{FF2B5EF4-FFF2-40B4-BE49-F238E27FC236}">
                <a16:creationId xmlns:a16="http://schemas.microsoft.com/office/drawing/2014/main" id="{D9A854B3-D3A7-A4E2-6B76-7DDA90BDAB5C}"/>
              </a:ext>
            </a:extLst>
          </p:cNvPr>
          <p:cNvSpPr/>
          <p:nvPr/>
        </p:nvSpPr>
        <p:spPr>
          <a:xfrm rot="5400000">
            <a:off x="6107199" y="5636324"/>
            <a:ext cx="323654" cy="86569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76" name="Rectangle 75">
            <a:extLst>
              <a:ext uri="{FF2B5EF4-FFF2-40B4-BE49-F238E27FC236}">
                <a16:creationId xmlns:a16="http://schemas.microsoft.com/office/drawing/2014/main" id="{1B3261D4-0A7D-09CF-E5C5-DC0091FD7B85}"/>
              </a:ext>
            </a:extLst>
          </p:cNvPr>
          <p:cNvSpPr/>
          <p:nvPr/>
        </p:nvSpPr>
        <p:spPr>
          <a:xfrm rot="5400000">
            <a:off x="6699085" y="5582595"/>
            <a:ext cx="741119" cy="57940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sz="1400" dirty="0"/>
          </a:p>
        </p:txBody>
      </p:sp>
      <p:sp>
        <p:nvSpPr>
          <p:cNvPr id="77" name="TextBox 76">
            <a:extLst>
              <a:ext uri="{FF2B5EF4-FFF2-40B4-BE49-F238E27FC236}">
                <a16:creationId xmlns:a16="http://schemas.microsoft.com/office/drawing/2014/main" id="{D394F117-0BAF-C9B1-FD2A-4008785D8678}"/>
              </a:ext>
            </a:extLst>
          </p:cNvPr>
          <p:cNvSpPr txBox="1"/>
          <p:nvPr/>
        </p:nvSpPr>
        <p:spPr>
          <a:xfrm>
            <a:off x="6709672" y="5684616"/>
            <a:ext cx="754043" cy="461665"/>
          </a:xfrm>
          <a:prstGeom prst="rect">
            <a:avLst/>
          </a:prstGeom>
          <a:noFill/>
        </p:spPr>
        <p:txBody>
          <a:bodyPr wrap="square" rtlCol="0">
            <a:spAutoFit/>
          </a:bodyPr>
          <a:lstStyle/>
          <a:p>
            <a:pPr algn="ctr"/>
            <a:r>
              <a:rPr lang="en-US" sz="800" dirty="0">
                <a:solidFill>
                  <a:schemeClr val="bg1"/>
                </a:solidFill>
              </a:rPr>
              <a:t>Additional Model Input Data</a:t>
            </a:r>
          </a:p>
        </p:txBody>
      </p:sp>
      <p:cxnSp>
        <p:nvCxnSpPr>
          <p:cNvPr id="78" name="Straight Arrow Connector 77">
            <a:extLst>
              <a:ext uri="{FF2B5EF4-FFF2-40B4-BE49-F238E27FC236}">
                <a16:creationId xmlns:a16="http://schemas.microsoft.com/office/drawing/2014/main" id="{9E598CCA-4142-71AF-E91E-C7C4C154C7F5}"/>
              </a:ext>
            </a:extLst>
          </p:cNvPr>
          <p:cNvCxnSpPr>
            <a:cxnSpLocks/>
          </p:cNvCxnSpPr>
          <p:nvPr/>
        </p:nvCxnSpPr>
        <p:spPr>
          <a:xfrm>
            <a:off x="4602538" y="1953983"/>
            <a:ext cx="312362" cy="0"/>
          </a:xfrm>
          <a:prstGeom prst="straightConnector1">
            <a:avLst/>
          </a:prstGeom>
          <a:ln>
            <a:solidFill>
              <a:srgbClr val="C00000"/>
            </a:solidFill>
            <a:headEnd type="triangle"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80" name="Straight Arrow Connector 79">
            <a:extLst>
              <a:ext uri="{FF2B5EF4-FFF2-40B4-BE49-F238E27FC236}">
                <a16:creationId xmlns:a16="http://schemas.microsoft.com/office/drawing/2014/main" id="{204E731E-4225-6657-3362-118D05FE8607}"/>
              </a:ext>
            </a:extLst>
          </p:cNvPr>
          <p:cNvCxnSpPr>
            <a:cxnSpLocks/>
          </p:cNvCxnSpPr>
          <p:nvPr/>
        </p:nvCxnSpPr>
        <p:spPr>
          <a:xfrm>
            <a:off x="4553146" y="3191833"/>
            <a:ext cx="361754" cy="0"/>
          </a:xfrm>
          <a:prstGeom prst="straightConnector1">
            <a:avLst/>
          </a:prstGeom>
          <a:ln>
            <a:solidFill>
              <a:srgbClr val="C00000"/>
            </a:solidFill>
            <a:headEnd type="triangle"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82" name="Straight Arrow Connector 81">
            <a:extLst>
              <a:ext uri="{FF2B5EF4-FFF2-40B4-BE49-F238E27FC236}">
                <a16:creationId xmlns:a16="http://schemas.microsoft.com/office/drawing/2014/main" id="{61F86DF1-D931-FAB3-BB20-F4EBB9672C8E}"/>
              </a:ext>
            </a:extLst>
          </p:cNvPr>
          <p:cNvCxnSpPr>
            <a:cxnSpLocks/>
          </p:cNvCxnSpPr>
          <p:nvPr/>
        </p:nvCxnSpPr>
        <p:spPr>
          <a:xfrm flipH="1">
            <a:off x="5257408" y="4862363"/>
            <a:ext cx="392" cy="321934"/>
          </a:xfrm>
          <a:prstGeom prst="straightConnector1">
            <a:avLst/>
          </a:prstGeom>
          <a:ln>
            <a:solidFill>
              <a:srgbClr val="C00000"/>
            </a:solidFill>
            <a:headEnd type="triangle" w="med" len="med"/>
            <a:tailEnd type="triangle" w="med" len="med"/>
          </a:ln>
        </p:spPr>
        <p:style>
          <a:lnRef idx="1">
            <a:schemeClr val="accent3"/>
          </a:lnRef>
          <a:fillRef idx="0">
            <a:schemeClr val="accent3"/>
          </a:fillRef>
          <a:effectRef idx="0">
            <a:schemeClr val="accent3"/>
          </a:effectRef>
          <a:fontRef idx="minor">
            <a:schemeClr val="tx1"/>
          </a:fontRef>
        </p:style>
      </p:cxnSp>
      <p:sp>
        <p:nvSpPr>
          <p:cNvPr id="85" name="TextBox 84">
            <a:extLst>
              <a:ext uri="{FF2B5EF4-FFF2-40B4-BE49-F238E27FC236}">
                <a16:creationId xmlns:a16="http://schemas.microsoft.com/office/drawing/2014/main" id="{790A588A-2850-378E-4BE7-59A17152B721}"/>
              </a:ext>
            </a:extLst>
          </p:cNvPr>
          <p:cNvSpPr txBox="1"/>
          <p:nvPr/>
        </p:nvSpPr>
        <p:spPr>
          <a:xfrm>
            <a:off x="5880943" y="5503675"/>
            <a:ext cx="889853" cy="338554"/>
          </a:xfrm>
          <a:prstGeom prst="rect">
            <a:avLst/>
          </a:prstGeom>
          <a:noFill/>
        </p:spPr>
        <p:txBody>
          <a:bodyPr wrap="square" rtlCol="0">
            <a:spAutoFit/>
          </a:bodyPr>
          <a:lstStyle/>
          <a:p>
            <a:pPr algn="ctr"/>
            <a:r>
              <a:rPr lang="en-US" sz="800" dirty="0">
                <a:solidFill>
                  <a:schemeClr val="bg1"/>
                </a:solidFill>
              </a:rPr>
              <a:t>Rewards</a:t>
            </a:r>
          </a:p>
          <a:p>
            <a:pPr algn="ctr"/>
            <a:r>
              <a:rPr lang="en-US" sz="800" dirty="0">
                <a:solidFill>
                  <a:schemeClr val="bg1"/>
                </a:solidFill>
              </a:rPr>
              <a:t>Data </a:t>
            </a:r>
            <a:endParaRPr lang="en-IN" sz="800" dirty="0">
              <a:solidFill>
                <a:schemeClr val="bg1"/>
              </a:solidFill>
            </a:endParaRPr>
          </a:p>
        </p:txBody>
      </p:sp>
      <p:sp>
        <p:nvSpPr>
          <p:cNvPr id="87" name="TextBox 86">
            <a:extLst>
              <a:ext uri="{FF2B5EF4-FFF2-40B4-BE49-F238E27FC236}">
                <a16:creationId xmlns:a16="http://schemas.microsoft.com/office/drawing/2014/main" id="{676B3AAB-ECD5-618C-4530-66C874A7DB61}"/>
              </a:ext>
            </a:extLst>
          </p:cNvPr>
          <p:cNvSpPr txBox="1"/>
          <p:nvPr/>
        </p:nvSpPr>
        <p:spPr>
          <a:xfrm>
            <a:off x="5810527" y="5871623"/>
            <a:ext cx="969416" cy="338554"/>
          </a:xfrm>
          <a:prstGeom prst="rect">
            <a:avLst/>
          </a:prstGeom>
          <a:noFill/>
        </p:spPr>
        <p:txBody>
          <a:bodyPr wrap="square" rtlCol="0">
            <a:spAutoFit/>
          </a:bodyPr>
          <a:lstStyle/>
          <a:p>
            <a:pPr algn="ctr"/>
            <a:r>
              <a:rPr lang="en-US" sz="800" dirty="0">
                <a:solidFill>
                  <a:schemeClr val="bg1"/>
                </a:solidFill>
              </a:rPr>
              <a:t>Incident Reporting data</a:t>
            </a:r>
          </a:p>
        </p:txBody>
      </p:sp>
      <p:cxnSp>
        <p:nvCxnSpPr>
          <p:cNvPr id="88" name="Straight Arrow Connector 87">
            <a:extLst>
              <a:ext uri="{FF2B5EF4-FFF2-40B4-BE49-F238E27FC236}">
                <a16:creationId xmlns:a16="http://schemas.microsoft.com/office/drawing/2014/main" id="{22C4BCD1-ABB5-182B-763E-7DC82AEAEDBB}"/>
              </a:ext>
            </a:extLst>
          </p:cNvPr>
          <p:cNvCxnSpPr>
            <a:cxnSpLocks/>
          </p:cNvCxnSpPr>
          <p:nvPr/>
        </p:nvCxnSpPr>
        <p:spPr>
          <a:xfrm flipH="1">
            <a:off x="6256845" y="4856285"/>
            <a:ext cx="392" cy="321934"/>
          </a:xfrm>
          <a:prstGeom prst="straightConnector1">
            <a:avLst/>
          </a:prstGeom>
          <a:ln>
            <a:solidFill>
              <a:srgbClr val="C00000"/>
            </a:solidFill>
            <a:headEnd type="triangle" w="med" len="med"/>
            <a:tailEnd type="triangle" w="med" len="med"/>
          </a:ln>
        </p:spPr>
        <p:style>
          <a:lnRef idx="1">
            <a:schemeClr val="accent3"/>
          </a:lnRef>
          <a:fillRef idx="0">
            <a:schemeClr val="accent3"/>
          </a:fillRef>
          <a:effectRef idx="0">
            <a:schemeClr val="accent3"/>
          </a:effectRef>
          <a:fontRef idx="minor">
            <a:schemeClr val="tx1"/>
          </a:fontRef>
        </p:style>
      </p:cxnSp>
      <p:cxnSp>
        <p:nvCxnSpPr>
          <p:cNvPr id="89" name="Straight Arrow Connector 88">
            <a:extLst>
              <a:ext uri="{FF2B5EF4-FFF2-40B4-BE49-F238E27FC236}">
                <a16:creationId xmlns:a16="http://schemas.microsoft.com/office/drawing/2014/main" id="{8B292443-77CF-0439-787C-2E0F83AF3B41}"/>
              </a:ext>
            </a:extLst>
          </p:cNvPr>
          <p:cNvCxnSpPr>
            <a:cxnSpLocks/>
          </p:cNvCxnSpPr>
          <p:nvPr/>
        </p:nvCxnSpPr>
        <p:spPr>
          <a:xfrm flipH="1">
            <a:off x="7185187" y="4836128"/>
            <a:ext cx="392" cy="321934"/>
          </a:xfrm>
          <a:prstGeom prst="straightConnector1">
            <a:avLst/>
          </a:prstGeom>
          <a:ln>
            <a:solidFill>
              <a:srgbClr val="C00000"/>
            </a:solidFill>
            <a:headEnd type="triangle" w="med" len="med"/>
            <a:tailEnd type="triangle" w="med" len="med"/>
          </a:ln>
        </p:spPr>
        <p:style>
          <a:lnRef idx="1">
            <a:schemeClr val="accent3"/>
          </a:lnRef>
          <a:fillRef idx="0">
            <a:schemeClr val="accent3"/>
          </a:fillRef>
          <a:effectRef idx="0">
            <a:schemeClr val="accent3"/>
          </a:effectRef>
          <a:fontRef idx="minor">
            <a:schemeClr val="tx1"/>
          </a:fontRef>
        </p:style>
      </p:cxnSp>
      <p:sp>
        <p:nvSpPr>
          <p:cNvPr id="90" name="TextBox 89">
            <a:extLst>
              <a:ext uri="{FF2B5EF4-FFF2-40B4-BE49-F238E27FC236}">
                <a16:creationId xmlns:a16="http://schemas.microsoft.com/office/drawing/2014/main" id="{94BDDB82-37AA-EEFD-FA0D-4007B986D552}"/>
              </a:ext>
            </a:extLst>
          </p:cNvPr>
          <p:cNvSpPr txBox="1"/>
          <p:nvPr/>
        </p:nvSpPr>
        <p:spPr>
          <a:xfrm>
            <a:off x="4535127" y="785109"/>
            <a:ext cx="2094616" cy="215444"/>
          </a:xfrm>
          <a:prstGeom prst="rect">
            <a:avLst/>
          </a:prstGeom>
          <a:noFill/>
        </p:spPr>
        <p:txBody>
          <a:bodyPr wrap="square" rtlCol="0">
            <a:spAutoFit/>
          </a:bodyPr>
          <a:lstStyle/>
          <a:p>
            <a:pPr algn="ctr"/>
            <a:r>
              <a:rPr lang="en-US" sz="800" dirty="0">
                <a:solidFill>
                  <a:schemeClr val="bg1"/>
                </a:solidFill>
              </a:rPr>
              <a:t>PragatiDhara Middleware</a:t>
            </a:r>
            <a:endParaRPr lang="en-IN" sz="800" dirty="0">
              <a:solidFill>
                <a:schemeClr val="bg1"/>
              </a:solidFill>
            </a:endParaRPr>
          </a:p>
        </p:txBody>
      </p:sp>
      <p:sp>
        <p:nvSpPr>
          <p:cNvPr id="91" name="TextBox 90">
            <a:extLst>
              <a:ext uri="{FF2B5EF4-FFF2-40B4-BE49-F238E27FC236}">
                <a16:creationId xmlns:a16="http://schemas.microsoft.com/office/drawing/2014/main" id="{857A8790-65D0-7B6B-A978-110C42A9868F}"/>
              </a:ext>
            </a:extLst>
          </p:cNvPr>
          <p:cNvSpPr txBox="1"/>
          <p:nvPr/>
        </p:nvSpPr>
        <p:spPr>
          <a:xfrm>
            <a:off x="5048692" y="5225903"/>
            <a:ext cx="2094616" cy="215444"/>
          </a:xfrm>
          <a:prstGeom prst="rect">
            <a:avLst/>
          </a:prstGeom>
          <a:noFill/>
        </p:spPr>
        <p:txBody>
          <a:bodyPr wrap="square" rtlCol="0">
            <a:spAutoFit/>
          </a:bodyPr>
          <a:lstStyle/>
          <a:p>
            <a:pPr algn="ctr"/>
            <a:r>
              <a:rPr lang="en-US" sz="800" dirty="0">
                <a:solidFill>
                  <a:schemeClr val="bg1"/>
                </a:solidFill>
              </a:rPr>
              <a:t>PragatiDhara Persistent Layer</a:t>
            </a:r>
            <a:endParaRPr lang="en-IN" sz="800" dirty="0">
              <a:solidFill>
                <a:schemeClr val="bg1"/>
              </a:solidFill>
            </a:endParaRPr>
          </a:p>
        </p:txBody>
      </p:sp>
      <p:sp>
        <p:nvSpPr>
          <p:cNvPr id="92" name="Rectangle 91">
            <a:extLst>
              <a:ext uri="{FF2B5EF4-FFF2-40B4-BE49-F238E27FC236}">
                <a16:creationId xmlns:a16="http://schemas.microsoft.com/office/drawing/2014/main" id="{7F9CA0A5-76FE-71EA-7390-76F09DBE778C}"/>
              </a:ext>
            </a:extLst>
          </p:cNvPr>
          <p:cNvSpPr/>
          <p:nvPr/>
        </p:nvSpPr>
        <p:spPr>
          <a:xfrm>
            <a:off x="8153351" y="685800"/>
            <a:ext cx="3314749" cy="331401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3" name="Rectangle 92">
            <a:extLst>
              <a:ext uri="{FF2B5EF4-FFF2-40B4-BE49-F238E27FC236}">
                <a16:creationId xmlns:a16="http://schemas.microsoft.com/office/drawing/2014/main" id="{0AD6CEAE-34DA-6DAE-69F7-151B333CD227}"/>
              </a:ext>
            </a:extLst>
          </p:cNvPr>
          <p:cNvSpPr/>
          <p:nvPr/>
        </p:nvSpPr>
        <p:spPr>
          <a:xfrm rot="5400000">
            <a:off x="9605263" y="465856"/>
            <a:ext cx="449072" cy="242877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sz="1400" dirty="0"/>
          </a:p>
        </p:txBody>
      </p:sp>
      <p:sp>
        <p:nvSpPr>
          <p:cNvPr id="94" name="TextBox 93">
            <a:extLst>
              <a:ext uri="{FF2B5EF4-FFF2-40B4-BE49-F238E27FC236}">
                <a16:creationId xmlns:a16="http://schemas.microsoft.com/office/drawing/2014/main" id="{D7C4EE54-E5B5-0686-F0D3-52BED48DB87D}"/>
              </a:ext>
            </a:extLst>
          </p:cNvPr>
          <p:cNvSpPr txBox="1"/>
          <p:nvPr/>
        </p:nvSpPr>
        <p:spPr>
          <a:xfrm>
            <a:off x="8701037" y="1491471"/>
            <a:ext cx="2257523" cy="338554"/>
          </a:xfrm>
          <a:prstGeom prst="rect">
            <a:avLst/>
          </a:prstGeom>
          <a:noFill/>
        </p:spPr>
        <p:txBody>
          <a:bodyPr wrap="square" rtlCol="0">
            <a:spAutoFit/>
          </a:bodyPr>
          <a:lstStyle/>
          <a:p>
            <a:pPr algn="ctr"/>
            <a:r>
              <a:rPr lang="en-US" sz="800" dirty="0">
                <a:solidFill>
                  <a:schemeClr val="bg1"/>
                </a:solidFill>
              </a:rPr>
              <a:t>Partners Integration for Reward Encashment</a:t>
            </a:r>
            <a:endParaRPr lang="en-IN" sz="800" dirty="0">
              <a:solidFill>
                <a:schemeClr val="bg1"/>
              </a:solidFill>
            </a:endParaRPr>
          </a:p>
        </p:txBody>
      </p:sp>
      <p:sp>
        <p:nvSpPr>
          <p:cNvPr id="95" name="Rectangle 94">
            <a:extLst>
              <a:ext uri="{FF2B5EF4-FFF2-40B4-BE49-F238E27FC236}">
                <a16:creationId xmlns:a16="http://schemas.microsoft.com/office/drawing/2014/main" id="{DF456E4A-E6C2-BFC0-22AC-4846B3C6AB5C}"/>
              </a:ext>
            </a:extLst>
          </p:cNvPr>
          <p:cNvSpPr/>
          <p:nvPr/>
        </p:nvSpPr>
        <p:spPr>
          <a:xfrm rot="5400000">
            <a:off x="9605262" y="1030726"/>
            <a:ext cx="449072" cy="242877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sz="1400" dirty="0"/>
          </a:p>
        </p:txBody>
      </p:sp>
      <p:sp>
        <p:nvSpPr>
          <p:cNvPr id="96" name="TextBox 95">
            <a:extLst>
              <a:ext uri="{FF2B5EF4-FFF2-40B4-BE49-F238E27FC236}">
                <a16:creationId xmlns:a16="http://schemas.microsoft.com/office/drawing/2014/main" id="{590C2DEB-8289-386F-E1F8-6B86E651046D}"/>
              </a:ext>
            </a:extLst>
          </p:cNvPr>
          <p:cNvSpPr txBox="1"/>
          <p:nvPr/>
        </p:nvSpPr>
        <p:spPr>
          <a:xfrm>
            <a:off x="8701036" y="2056341"/>
            <a:ext cx="2257523" cy="338554"/>
          </a:xfrm>
          <a:prstGeom prst="rect">
            <a:avLst/>
          </a:prstGeom>
          <a:noFill/>
        </p:spPr>
        <p:txBody>
          <a:bodyPr wrap="square" rtlCol="0">
            <a:spAutoFit/>
          </a:bodyPr>
          <a:lstStyle/>
          <a:p>
            <a:pPr algn="ctr"/>
            <a:r>
              <a:rPr lang="en-US" sz="800" dirty="0">
                <a:solidFill>
                  <a:schemeClr val="bg1"/>
                </a:solidFill>
              </a:rPr>
              <a:t>External Routes APIs &amp; Traffic Congestion APIs</a:t>
            </a:r>
            <a:endParaRPr lang="en-IN" sz="800" dirty="0">
              <a:solidFill>
                <a:schemeClr val="bg1"/>
              </a:solidFill>
            </a:endParaRPr>
          </a:p>
        </p:txBody>
      </p:sp>
      <p:sp>
        <p:nvSpPr>
          <p:cNvPr id="97" name="Rectangle 96">
            <a:extLst>
              <a:ext uri="{FF2B5EF4-FFF2-40B4-BE49-F238E27FC236}">
                <a16:creationId xmlns:a16="http://schemas.microsoft.com/office/drawing/2014/main" id="{CD267336-1D46-6C66-2386-7B3D8F01D4E3}"/>
              </a:ext>
            </a:extLst>
          </p:cNvPr>
          <p:cNvSpPr/>
          <p:nvPr/>
        </p:nvSpPr>
        <p:spPr>
          <a:xfrm rot="5400000">
            <a:off x="9625197" y="1602365"/>
            <a:ext cx="449072" cy="242877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sz="1400" dirty="0"/>
          </a:p>
        </p:txBody>
      </p:sp>
      <p:sp>
        <p:nvSpPr>
          <p:cNvPr id="98" name="TextBox 97">
            <a:extLst>
              <a:ext uri="{FF2B5EF4-FFF2-40B4-BE49-F238E27FC236}">
                <a16:creationId xmlns:a16="http://schemas.microsoft.com/office/drawing/2014/main" id="{A3A0D1FF-1B0E-8DD5-7AB5-770851834BF5}"/>
              </a:ext>
            </a:extLst>
          </p:cNvPr>
          <p:cNvSpPr txBox="1"/>
          <p:nvPr/>
        </p:nvSpPr>
        <p:spPr>
          <a:xfrm>
            <a:off x="8720971" y="2627980"/>
            <a:ext cx="2257523" cy="338554"/>
          </a:xfrm>
          <a:prstGeom prst="rect">
            <a:avLst/>
          </a:prstGeom>
          <a:noFill/>
        </p:spPr>
        <p:txBody>
          <a:bodyPr wrap="square" rtlCol="0">
            <a:spAutoFit/>
          </a:bodyPr>
          <a:lstStyle/>
          <a:p>
            <a:pPr algn="ctr"/>
            <a:r>
              <a:rPr lang="en-US" sz="800" dirty="0">
                <a:solidFill>
                  <a:schemeClr val="bg1"/>
                </a:solidFill>
              </a:rPr>
              <a:t>External Rates APIs </a:t>
            </a:r>
          </a:p>
          <a:p>
            <a:pPr algn="ctr"/>
            <a:r>
              <a:rPr lang="en-US" sz="800" dirty="0">
                <a:solidFill>
                  <a:schemeClr val="bg1"/>
                </a:solidFill>
              </a:rPr>
              <a:t>(Fairs. Petrol, Charging etc.)</a:t>
            </a:r>
            <a:endParaRPr lang="en-IN" sz="800" dirty="0">
              <a:solidFill>
                <a:schemeClr val="bg1"/>
              </a:solidFill>
            </a:endParaRPr>
          </a:p>
        </p:txBody>
      </p:sp>
      <p:sp>
        <p:nvSpPr>
          <p:cNvPr id="99" name="Rectangle 98">
            <a:extLst>
              <a:ext uri="{FF2B5EF4-FFF2-40B4-BE49-F238E27FC236}">
                <a16:creationId xmlns:a16="http://schemas.microsoft.com/office/drawing/2014/main" id="{8B80BD01-DBDF-F0E8-BBB6-B54F62AC9562}"/>
              </a:ext>
            </a:extLst>
          </p:cNvPr>
          <p:cNvSpPr/>
          <p:nvPr/>
        </p:nvSpPr>
        <p:spPr>
          <a:xfrm rot="5400000">
            <a:off x="9607523" y="2217211"/>
            <a:ext cx="449072" cy="242877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sz="1400" dirty="0"/>
          </a:p>
        </p:txBody>
      </p:sp>
      <p:sp>
        <p:nvSpPr>
          <p:cNvPr id="100" name="TextBox 99">
            <a:extLst>
              <a:ext uri="{FF2B5EF4-FFF2-40B4-BE49-F238E27FC236}">
                <a16:creationId xmlns:a16="http://schemas.microsoft.com/office/drawing/2014/main" id="{E76F3641-2EDB-564C-7E28-D55B9284AC48}"/>
              </a:ext>
            </a:extLst>
          </p:cNvPr>
          <p:cNvSpPr txBox="1"/>
          <p:nvPr/>
        </p:nvSpPr>
        <p:spPr>
          <a:xfrm>
            <a:off x="8703297" y="3242826"/>
            <a:ext cx="2257523" cy="338554"/>
          </a:xfrm>
          <a:prstGeom prst="rect">
            <a:avLst/>
          </a:prstGeom>
          <a:noFill/>
        </p:spPr>
        <p:txBody>
          <a:bodyPr wrap="square" rtlCol="0">
            <a:spAutoFit/>
          </a:bodyPr>
          <a:lstStyle/>
          <a:p>
            <a:pPr algn="ctr"/>
            <a:r>
              <a:rPr lang="en-US" sz="800" dirty="0">
                <a:solidFill>
                  <a:schemeClr val="bg1"/>
                </a:solidFill>
              </a:rPr>
              <a:t>Vahan APIs</a:t>
            </a:r>
          </a:p>
          <a:p>
            <a:pPr algn="ctr"/>
            <a:r>
              <a:rPr lang="en-US" sz="800" dirty="0">
                <a:solidFill>
                  <a:schemeClr val="bg1"/>
                </a:solidFill>
              </a:rPr>
              <a:t>(Vehicle Info / PUC  Data.)</a:t>
            </a:r>
            <a:endParaRPr lang="en-IN" sz="800" dirty="0">
              <a:solidFill>
                <a:schemeClr val="bg1"/>
              </a:solidFill>
            </a:endParaRPr>
          </a:p>
        </p:txBody>
      </p:sp>
      <p:sp>
        <p:nvSpPr>
          <p:cNvPr id="101" name="TextBox 100">
            <a:extLst>
              <a:ext uri="{FF2B5EF4-FFF2-40B4-BE49-F238E27FC236}">
                <a16:creationId xmlns:a16="http://schemas.microsoft.com/office/drawing/2014/main" id="{DCB69418-1EB0-7749-1FCD-400943D6A324}"/>
              </a:ext>
            </a:extLst>
          </p:cNvPr>
          <p:cNvSpPr txBox="1"/>
          <p:nvPr/>
        </p:nvSpPr>
        <p:spPr>
          <a:xfrm>
            <a:off x="8636130" y="805733"/>
            <a:ext cx="2094616" cy="215444"/>
          </a:xfrm>
          <a:prstGeom prst="rect">
            <a:avLst/>
          </a:prstGeom>
          <a:noFill/>
        </p:spPr>
        <p:txBody>
          <a:bodyPr wrap="square" rtlCol="0">
            <a:spAutoFit/>
          </a:bodyPr>
          <a:lstStyle/>
          <a:p>
            <a:pPr algn="ctr"/>
            <a:r>
              <a:rPr lang="en-US" sz="800" dirty="0">
                <a:solidFill>
                  <a:schemeClr val="bg1"/>
                </a:solidFill>
              </a:rPr>
              <a:t>External Systems</a:t>
            </a:r>
            <a:endParaRPr lang="en-IN" sz="800" dirty="0">
              <a:solidFill>
                <a:schemeClr val="bg1"/>
              </a:solidFill>
            </a:endParaRPr>
          </a:p>
        </p:txBody>
      </p:sp>
      <p:cxnSp>
        <p:nvCxnSpPr>
          <p:cNvPr id="102" name="Straight Arrow Connector 101">
            <a:extLst>
              <a:ext uri="{FF2B5EF4-FFF2-40B4-BE49-F238E27FC236}">
                <a16:creationId xmlns:a16="http://schemas.microsoft.com/office/drawing/2014/main" id="{91CCA84D-D5FF-2D94-1ED9-D4CBDDCD4752}"/>
              </a:ext>
            </a:extLst>
          </p:cNvPr>
          <p:cNvCxnSpPr>
            <a:cxnSpLocks/>
          </p:cNvCxnSpPr>
          <p:nvPr/>
        </p:nvCxnSpPr>
        <p:spPr>
          <a:xfrm>
            <a:off x="7696200" y="2088231"/>
            <a:ext cx="457151" cy="0"/>
          </a:xfrm>
          <a:prstGeom prst="straightConnector1">
            <a:avLst/>
          </a:prstGeom>
          <a:ln>
            <a:solidFill>
              <a:schemeClr val="tx1"/>
            </a:solidFill>
            <a:headEnd type="arrow" w="med" len="med"/>
            <a:tailEnd type="arrow" w="med" len="med"/>
          </a:ln>
        </p:spPr>
        <p:style>
          <a:lnRef idx="1">
            <a:schemeClr val="accent3"/>
          </a:lnRef>
          <a:fillRef idx="0">
            <a:schemeClr val="accent3"/>
          </a:fillRef>
          <a:effectRef idx="0">
            <a:schemeClr val="accent3"/>
          </a:effectRef>
          <a:fontRef idx="minor">
            <a:schemeClr val="tx1"/>
          </a:fontRef>
        </p:style>
      </p:cxnSp>
      <p:cxnSp>
        <p:nvCxnSpPr>
          <p:cNvPr id="104" name="Straight Arrow Connector 103">
            <a:extLst>
              <a:ext uri="{FF2B5EF4-FFF2-40B4-BE49-F238E27FC236}">
                <a16:creationId xmlns:a16="http://schemas.microsoft.com/office/drawing/2014/main" id="{3FDCA264-AA35-2773-E8B3-BF505E64BC61}"/>
              </a:ext>
            </a:extLst>
          </p:cNvPr>
          <p:cNvCxnSpPr>
            <a:cxnSpLocks/>
          </p:cNvCxnSpPr>
          <p:nvPr/>
        </p:nvCxnSpPr>
        <p:spPr>
          <a:xfrm>
            <a:off x="7696200" y="2944732"/>
            <a:ext cx="457151" cy="0"/>
          </a:xfrm>
          <a:prstGeom prst="straightConnector1">
            <a:avLst/>
          </a:prstGeom>
          <a:ln>
            <a:solidFill>
              <a:schemeClr val="tx1"/>
            </a:solidFill>
            <a:headEnd type="arrow" w="med" len="med"/>
            <a:tailEnd type="arrow" w="med" len="med"/>
          </a:ln>
        </p:spPr>
        <p:style>
          <a:lnRef idx="1">
            <a:schemeClr val="accent3"/>
          </a:lnRef>
          <a:fillRef idx="0">
            <a:schemeClr val="accent3"/>
          </a:fillRef>
          <a:effectRef idx="0">
            <a:schemeClr val="accent3"/>
          </a:effectRef>
          <a:fontRef idx="minor">
            <a:schemeClr val="tx1"/>
          </a:fontRef>
        </p:style>
      </p:cxnSp>
      <p:cxnSp>
        <p:nvCxnSpPr>
          <p:cNvPr id="105" name="Straight Arrow Connector 104">
            <a:extLst>
              <a:ext uri="{FF2B5EF4-FFF2-40B4-BE49-F238E27FC236}">
                <a16:creationId xmlns:a16="http://schemas.microsoft.com/office/drawing/2014/main" id="{5E340E67-14BC-F8B8-1212-BEBDBCCFEC68}"/>
              </a:ext>
            </a:extLst>
          </p:cNvPr>
          <p:cNvCxnSpPr>
            <a:cxnSpLocks/>
          </p:cNvCxnSpPr>
          <p:nvPr/>
        </p:nvCxnSpPr>
        <p:spPr>
          <a:xfrm>
            <a:off x="7696200" y="3581380"/>
            <a:ext cx="457151" cy="0"/>
          </a:xfrm>
          <a:prstGeom prst="straightConnector1">
            <a:avLst/>
          </a:prstGeom>
          <a:ln>
            <a:solidFill>
              <a:schemeClr val="tx1"/>
            </a:solidFill>
            <a:headEnd type="arrow" w="med" len="med"/>
            <a:tailEnd type="arrow" w="med" len="med"/>
          </a:ln>
        </p:spPr>
        <p:style>
          <a:lnRef idx="1">
            <a:schemeClr val="accent3"/>
          </a:lnRef>
          <a:fillRef idx="0">
            <a:schemeClr val="accent3"/>
          </a:fillRef>
          <a:effectRef idx="0">
            <a:schemeClr val="accent3"/>
          </a:effectRef>
          <a:fontRef idx="minor">
            <a:schemeClr val="tx1"/>
          </a:fontRef>
        </p:style>
      </p:cxnSp>
      <p:sp>
        <p:nvSpPr>
          <p:cNvPr id="106" name="TextBox 105">
            <a:extLst>
              <a:ext uri="{FF2B5EF4-FFF2-40B4-BE49-F238E27FC236}">
                <a16:creationId xmlns:a16="http://schemas.microsoft.com/office/drawing/2014/main" id="{1A8970C2-E8AF-F2D4-52CD-8B687584730A}"/>
              </a:ext>
            </a:extLst>
          </p:cNvPr>
          <p:cNvSpPr txBox="1"/>
          <p:nvPr/>
        </p:nvSpPr>
        <p:spPr>
          <a:xfrm>
            <a:off x="8229600" y="4339592"/>
            <a:ext cx="3238500" cy="2062103"/>
          </a:xfrm>
          <a:prstGeom prst="rect">
            <a:avLst/>
          </a:prstGeom>
          <a:noFill/>
        </p:spPr>
        <p:txBody>
          <a:bodyPr wrap="square" rtlCol="0">
            <a:spAutoFit/>
          </a:bodyPr>
          <a:lstStyle/>
          <a:p>
            <a:pPr marL="285750" indent="-285750">
              <a:buFont typeface="Arial" panose="020B0604020202020204" pitchFamily="34" charset="0"/>
              <a:buChar char="•"/>
            </a:pPr>
            <a:r>
              <a:rPr lang="en-US" sz="1100" dirty="0"/>
              <a:t>Middleware Deployment in less Co2 Emission Region or Data Centre</a:t>
            </a:r>
          </a:p>
          <a:p>
            <a:pPr marL="285750" indent="-285750">
              <a:buFont typeface="Arial" panose="020B0604020202020204" pitchFamily="34" charset="0"/>
              <a:buChar char="•"/>
            </a:pPr>
            <a:endParaRPr lang="en-US" sz="1100" dirty="0"/>
          </a:p>
          <a:p>
            <a:pPr marL="285750" indent="-285750">
              <a:buFont typeface="Arial" panose="020B0604020202020204" pitchFamily="34" charset="0"/>
              <a:buChar char="•"/>
            </a:pPr>
            <a:r>
              <a:rPr lang="en-US" sz="1100" dirty="0"/>
              <a:t>Programming Languages – </a:t>
            </a:r>
            <a:r>
              <a:rPr lang="en-US" sz="1100" dirty="0" err="1"/>
              <a:t>GoLang</a:t>
            </a:r>
            <a:r>
              <a:rPr lang="en-US" sz="1100" dirty="0"/>
              <a:t> for API Services Layer</a:t>
            </a:r>
          </a:p>
          <a:p>
            <a:pPr marL="285750" indent="-285750">
              <a:buFont typeface="Arial" panose="020B0604020202020204" pitchFamily="34" charset="0"/>
              <a:buChar char="•"/>
            </a:pPr>
            <a:endParaRPr lang="en-US" sz="1100" dirty="0"/>
          </a:p>
          <a:p>
            <a:pPr marL="285750" indent="-285750">
              <a:buFont typeface="Arial" panose="020B0604020202020204" pitchFamily="34" charset="0"/>
              <a:buChar char="•"/>
            </a:pPr>
            <a:r>
              <a:rPr lang="en-US" sz="1100" dirty="0"/>
              <a:t>AI Model – TensorFlow Lite or Equivalent Sustainable model for Predication </a:t>
            </a:r>
          </a:p>
          <a:p>
            <a:pPr marL="285750" indent="-285750">
              <a:buFont typeface="Arial" panose="020B0604020202020204" pitchFamily="34" charset="0"/>
              <a:buChar char="•"/>
            </a:pPr>
            <a:endParaRPr lang="en-US" sz="1100" dirty="0"/>
          </a:p>
          <a:p>
            <a:pPr marL="285750" indent="-285750">
              <a:buFont typeface="Arial" panose="020B0604020202020204" pitchFamily="34" charset="0"/>
              <a:buChar char="•"/>
            </a:pPr>
            <a:r>
              <a:rPr lang="en-US" sz="1100" dirty="0"/>
              <a:t>Streaming – Apache Kafka or Equivalent</a:t>
            </a:r>
          </a:p>
          <a:p>
            <a:pPr marL="285750" indent="-285750">
              <a:buFont typeface="Arial" panose="020B0604020202020204" pitchFamily="34" charset="0"/>
              <a:buChar char="•"/>
            </a:pPr>
            <a:endParaRPr lang="en-IN" dirty="0"/>
          </a:p>
        </p:txBody>
      </p:sp>
      <p:grpSp>
        <p:nvGrpSpPr>
          <p:cNvPr id="3" name="Group 2">
            <a:extLst>
              <a:ext uri="{FF2B5EF4-FFF2-40B4-BE49-F238E27FC236}">
                <a16:creationId xmlns:a16="http://schemas.microsoft.com/office/drawing/2014/main" id="{5F3B1490-B290-2F69-C048-EE34F5CE804E}"/>
              </a:ext>
            </a:extLst>
          </p:cNvPr>
          <p:cNvGrpSpPr/>
          <p:nvPr/>
        </p:nvGrpSpPr>
        <p:grpSpPr>
          <a:xfrm>
            <a:off x="469900" y="4299144"/>
            <a:ext cx="685800" cy="718108"/>
            <a:chOff x="457200" y="1295400"/>
            <a:chExt cx="685800" cy="718108"/>
          </a:xfrm>
        </p:grpSpPr>
        <p:pic>
          <p:nvPicPr>
            <p:cNvPr id="7" name="Graphic 6" descr="User">
              <a:extLst>
                <a:ext uri="{FF2B5EF4-FFF2-40B4-BE49-F238E27FC236}">
                  <a16:creationId xmlns:a16="http://schemas.microsoft.com/office/drawing/2014/main" id="{990434BE-65A6-31FE-002D-7C20CF55C9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 y="1295400"/>
              <a:ext cx="609600" cy="609600"/>
            </a:xfrm>
            <a:prstGeom prst="rect">
              <a:avLst/>
            </a:prstGeom>
          </p:spPr>
        </p:pic>
        <p:sp>
          <p:nvSpPr>
            <p:cNvPr id="9" name="TextBox 8">
              <a:extLst>
                <a:ext uri="{FF2B5EF4-FFF2-40B4-BE49-F238E27FC236}">
                  <a16:creationId xmlns:a16="http://schemas.microsoft.com/office/drawing/2014/main" id="{2B9ED308-69C8-2F74-0229-1F181DC64125}"/>
                </a:ext>
              </a:extLst>
            </p:cNvPr>
            <p:cNvSpPr txBox="1"/>
            <p:nvPr/>
          </p:nvSpPr>
          <p:spPr>
            <a:xfrm>
              <a:off x="457200" y="1798064"/>
              <a:ext cx="685800" cy="215444"/>
            </a:xfrm>
            <a:prstGeom prst="rect">
              <a:avLst/>
            </a:prstGeom>
            <a:noFill/>
          </p:spPr>
          <p:txBody>
            <a:bodyPr wrap="square" rtlCol="0">
              <a:spAutoFit/>
            </a:bodyPr>
            <a:lstStyle/>
            <a:p>
              <a:r>
                <a:rPr lang="en-US" sz="800" dirty="0"/>
                <a:t>customer</a:t>
              </a:r>
              <a:endParaRPr lang="en-IN" sz="800" dirty="0"/>
            </a:p>
          </p:txBody>
        </p:sp>
      </p:grpSp>
      <p:cxnSp>
        <p:nvCxnSpPr>
          <p:cNvPr id="11" name="Straight Arrow Connector 10">
            <a:extLst>
              <a:ext uri="{FF2B5EF4-FFF2-40B4-BE49-F238E27FC236}">
                <a16:creationId xmlns:a16="http://schemas.microsoft.com/office/drawing/2014/main" id="{926B8F97-E8B1-6C01-5344-31369FDD7F09}"/>
              </a:ext>
            </a:extLst>
          </p:cNvPr>
          <p:cNvCxnSpPr>
            <a:cxnSpLocks/>
          </p:cNvCxnSpPr>
          <p:nvPr/>
        </p:nvCxnSpPr>
        <p:spPr>
          <a:xfrm>
            <a:off x="2362200" y="4678146"/>
            <a:ext cx="1447800" cy="0"/>
          </a:xfrm>
          <a:prstGeom prst="straightConnector1">
            <a:avLst/>
          </a:prstGeom>
          <a:ln>
            <a:solidFill>
              <a:schemeClr val="tx1"/>
            </a:solidFill>
            <a:headEnd type="arrow" w="med" len="med"/>
            <a:tailEnd type="arrow" w="med" len="med"/>
          </a:ln>
        </p:spPr>
        <p:style>
          <a:lnRef idx="1">
            <a:schemeClr val="accent3"/>
          </a:lnRef>
          <a:fillRef idx="0">
            <a:schemeClr val="accent3"/>
          </a:fillRef>
          <a:effectRef idx="0">
            <a:schemeClr val="accent3"/>
          </a:effectRef>
          <a:fontRef idx="minor">
            <a:schemeClr val="tx1"/>
          </a:fontRef>
        </p:style>
      </p:cxnSp>
      <p:pic>
        <p:nvPicPr>
          <p:cNvPr id="24" name="Graphic 23" descr="Internet with solid fill">
            <a:extLst>
              <a:ext uri="{FF2B5EF4-FFF2-40B4-BE49-F238E27FC236}">
                <a16:creationId xmlns:a16="http://schemas.microsoft.com/office/drawing/2014/main" id="{AA6B743B-F6AD-5E89-9B36-44610C559E7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24000" y="4346109"/>
            <a:ext cx="914400" cy="987891"/>
          </a:xfrm>
          <a:prstGeom prst="rect">
            <a:avLst/>
          </a:prstGeom>
        </p:spPr>
      </p:pic>
      <p:sp>
        <p:nvSpPr>
          <p:cNvPr id="25" name="TextBox 24">
            <a:extLst>
              <a:ext uri="{FF2B5EF4-FFF2-40B4-BE49-F238E27FC236}">
                <a16:creationId xmlns:a16="http://schemas.microsoft.com/office/drawing/2014/main" id="{D98CB7CE-108C-B5CE-2641-51CF09B33283}"/>
              </a:ext>
            </a:extLst>
          </p:cNvPr>
          <p:cNvSpPr txBox="1"/>
          <p:nvPr/>
        </p:nvSpPr>
        <p:spPr>
          <a:xfrm>
            <a:off x="834419" y="4319342"/>
            <a:ext cx="914400" cy="215444"/>
          </a:xfrm>
          <a:prstGeom prst="rect">
            <a:avLst/>
          </a:prstGeom>
          <a:noFill/>
        </p:spPr>
        <p:txBody>
          <a:bodyPr wrap="square" rtlCol="0">
            <a:spAutoFit/>
          </a:bodyPr>
          <a:lstStyle/>
          <a:p>
            <a:pPr algn="ctr"/>
            <a:r>
              <a:rPr lang="en-US" sz="800" dirty="0"/>
              <a:t>Web Access</a:t>
            </a:r>
            <a:endParaRPr lang="en-IN" sz="800" dirty="0"/>
          </a:p>
        </p:txBody>
      </p:sp>
      <p:cxnSp>
        <p:nvCxnSpPr>
          <p:cNvPr id="26" name="Straight Arrow Connector 25">
            <a:extLst>
              <a:ext uri="{FF2B5EF4-FFF2-40B4-BE49-F238E27FC236}">
                <a16:creationId xmlns:a16="http://schemas.microsoft.com/office/drawing/2014/main" id="{05D7A183-D8FB-3C9F-002B-4220429306F1}"/>
              </a:ext>
            </a:extLst>
          </p:cNvPr>
          <p:cNvCxnSpPr>
            <a:cxnSpLocks/>
          </p:cNvCxnSpPr>
          <p:nvPr/>
        </p:nvCxnSpPr>
        <p:spPr>
          <a:xfrm>
            <a:off x="989716" y="4657896"/>
            <a:ext cx="645003"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0544620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491CD-B180-7B89-C57D-0F89B0454349}"/>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A0A0BD63-8D33-7CF3-F810-0C99AEF980FE}"/>
              </a:ext>
            </a:extLst>
          </p:cNvPr>
          <p:cNvSpPr>
            <a:spLocks noGrp="1"/>
          </p:cNvSpPr>
          <p:nvPr>
            <p:ph type="title"/>
          </p:nvPr>
        </p:nvSpPr>
        <p:spPr>
          <a:xfrm>
            <a:off x="457200" y="139732"/>
            <a:ext cx="11582401" cy="1225485"/>
          </a:xfrm>
        </p:spPr>
        <p:txBody>
          <a:bodyPr/>
          <a:lstStyle/>
          <a:p>
            <a:r>
              <a:rPr lang="en-US" sz="3600" dirty="0"/>
              <a:t>AI Prediction and Smart Decision Engine flow</a:t>
            </a:r>
          </a:p>
        </p:txBody>
      </p:sp>
      <p:pic>
        <p:nvPicPr>
          <p:cNvPr id="26" name="Picture 25" descr="A diagram of a process&#10;&#10;AI-generated content may be incorrect.">
            <a:extLst>
              <a:ext uri="{FF2B5EF4-FFF2-40B4-BE49-F238E27FC236}">
                <a16:creationId xmlns:a16="http://schemas.microsoft.com/office/drawing/2014/main" id="{AB48F34C-A9BB-6AC1-6036-4A5D210909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862" y="1143000"/>
            <a:ext cx="10582275" cy="4962525"/>
          </a:xfrm>
          <a:prstGeom prst="rect">
            <a:avLst/>
          </a:prstGeom>
        </p:spPr>
      </p:pic>
    </p:spTree>
    <p:extLst>
      <p:ext uri="{BB962C8B-B14F-4D97-AF65-F5344CB8AC3E}">
        <p14:creationId xmlns:p14="http://schemas.microsoft.com/office/powerpoint/2010/main" val="8144089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4E17C-572F-5EBB-DFE5-721402A49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3B0A3-CF8F-041A-9E00-5045B4E13350}"/>
              </a:ext>
            </a:extLst>
          </p:cNvPr>
          <p:cNvSpPr>
            <a:spLocks noGrp="1"/>
          </p:cNvSpPr>
          <p:nvPr>
            <p:ph type="title"/>
          </p:nvPr>
        </p:nvSpPr>
        <p:spPr>
          <a:xfrm>
            <a:off x="152400" y="76200"/>
            <a:ext cx="10210800" cy="990600"/>
          </a:xfrm>
        </p:spPr>
        <p:txBody>
          <a:bodyPr anchor="t">
            <a:noAutofit/>
          </a:bodyPr>
          <a:lstStyle/>
          <a:p>
            <a:r>
              <a:rPr lang="en-US" sz="3600" dirty="0"/>
              <a:t>Detailed Solution Sketch</a:t>
            </a:r>
          </a:p>
        </p:txBody>
      </p:sp>
      <p:sp>
        <p:nvSpPr>
          <p:cNvPr id="6" name="Date Placeholder 5">
            <a:extLst>
              <a:ext uri="{FF2B5EF4-FFF2-40B4-BE49-F238E27FC236}">
                <a16:creationId xmlns:a16="http://schemas.microsoft.com/office/drawing/2014/main" id="{541CB793-875F-0134-8A27-A330F5DCCCEB}"/>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pic>
        <p:nvPicPr>
          <p:cNvPr id="4" name="Picture 3" descr="A diagram of a company&#10;&#10;AI-generated content may be incorrect.">
            <a:extLst>
              <a:ext uri="{FF2B5EF4-FFF2-40B4-BE49-F238E27FC236}">
                <a16:creationId xmlns:a16="http://schemas.microsoft.com/office/drawing/2014/main" id="{54C094CC-1AD8-6A11-6550-A60DC48F8B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3997" y="685800"/>
            <a:ext cx="9484006" cy="6172200"/>
          </a:xfrm>
          <a:prstGeom prst="rect">
            <a:avLst/>
          </a:prstGeom>
        </p:spPr>
      </p:pic>
    </p:spTree>
    <p:extLst>
      <p:ext uri="{BB962C8B-B14F-4D97-AF65-F5344CB8AC3E}">
        <p14:creationId xmlns:p14="http://schemas.microsoft.com/office/powerpoint/2010/main" val="168033722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A4213-2E5E-BAE2-B7A5-1973321E1961}"/>
              </a:ext>
            </a:extLst>
          </p:cNvPr>
          <p:cNvSpPr>
            <a:spLocks noGrp="1"/>
          </p:cNvSpPr>
          <p:nvPr>
            <p:ph type="title"/>
          </p:nvPr>
        </p:nvSpPr>
        <p:spPr/>
        <p:txBody>
          <a:bodyPr anchor="b">
            <a:normAutofit/>
          </a:bodyPr>
          <a:lstStyle/>
          <a:p>
            <a:r>
              <a:rPr lang="en-US"/>
              <a:t>Sustainable AI Implementation</a:t>
            </a:r>
          </a:p>
        </p:txBody>
      </p:sp>
      <p:sp>
        <p:nvSpPr>
          <p:cNvPr id="5" name="Date Placeholder 4">
            <a:extLst>
              <a:ext uri="{FF2B5EF4-FFF2-40B4-BE49-F238E27FC236}">
                <a16:creationId xmlns:a16="http://schemas.microsoft.com/office/drawing/2014/main" id="{103AA985-8D62-9330-131C-BC303268E02A}"/>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21406509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B8927-F713-C18D-6A7E-E1FD1238E73E}"/>
              </a:ext>
            </a:extLst>
          </p:cNvPr>
          <p:cNvSpPr>
            <a:spLocks noGrp="1"/>
          </p:cNvSpPr>
          <p:nvPr>
            <p:ph type="title"/>
          </p:nvPr>
        </p:nvSpPr>
        <p:spPr>
          <a:xfrm>
            <a:off x="152400" y="377072"/>
            <a:ext cx="5943599" cy="1225485"/>
          </a:xfrm>
        </p:spPr>
        <p:txBody>
          <a:bodyPr anchor="t">
            <a:normAutofit fontScale="90000"/>
          </a:bodyPr>
          <a:lstStyle/>
          <a:p>
            <a:r>
              <a:rPr lang="en-US" dirty="0"/>
              <a:t>Eco-Friendly Routing and Emission Reduction</a:t>
            </a:r>
          </a:p>
        </p:txBody>
      </p:sp>
      <p:pic>
        <p:nvPicPr>
          <p:cNvPr id="8" name="Content Placeholder 7" descr="Smart Phone Showing Credit Score On A Screen">
            <a:extLst>
              <a:ext uri="{FF2B5EF4-FFF2-40B4-BE49-F238E27FC236}">
                <a16:creationId xmlns:a16="http://schemas.microsoft.com/office/drawing/2014/main" id="{62724C83-26B0-4904-ACC7-53D8A9073E2F}"/>
              </a:ext>
            </a:extLst>
          </p:cNvPr>
          <p:cNvPicPr>
            <a:picLocks noGrp="1" noChangeAspect="1"/>
          </p:cNvPicPr>
          <p:nvPr>
            <p:ph type="pic" sz="quarter" idx="13"/>
          </p:nvPr>
        </p:nvPicPr>
        <p:blipFill>
          <a:blip r:embed="rId3"/>
          <a:srcRect l="7797" r="7797"/>
          <a:stretch>
            <a:fillRect/>
          </a:stretch>
        </p:blipFill>
        <p:spPr>
          <a:prstGeom prst="rect">
            <a:avLst/>
          </a:prstGeom>
          <a:noFill/>
        </p:spPr>
      </p:pic>
      <p:sp>
        <p:nvSpPr>
          <p:cNvPr id="4" name="Content Placeholder 3">
            <a:extLst>
              <a:ext uri="{FF2B5EF4-FFF2-40B4-BE49-F238E27FC236}">
                <a16:creationId xmlns:a16="http://schemas.microsoft.com/office/drawing/2014/main" id="{8B86CCCA-0737-75BB-BFA4-2BB13D5B39A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buNone/>
            </a:pPr>
            <a:r>
              <a:rPr lang="en-US" sz="1400" b="1" dirty="0"/>
              <a:t> Privacy-First Sustainable AI</a:t>
            </a:r>
          </a:p>
          <a:p>
            <a:r>
              <a:rPr lang="en-US" sz="1400" b="1" dirty="0"/>
              <a:t>Decentralized Intelligence:</a:t>
            </a:r>
            <a:r>
              <a:rPr lang="en-US" sz="1400" dirty="0"/>
              <a:t> Leverages </a:t>
            </a:r>
            <a:r>
              <a:rPr lang="en-US" sz="1400" b="1" dirty="0"/>
              <a:t>Federated Learning</a:t>
            </a:r>
            <a:r>
              <a:rPr lang="en-US" sz="1400" dirty="0"/>
              <a:t> to process data locally, dramatically reducing cloud usage and the associated carbon footprint.</a:t>
            </a:r>
          </a:p>
          <a:p>
            <a:r>
              <a:rPr lang="en-US" sz="1400" b="1" dirty="0"/>
              <a:t>Guaranteed Privacy:</a:t>
            </a:r>
            <a:r>
              <a:rPr lang="en-US" sz="1400" dirty="0"/>
              <a:t> Analyzes traffic patterns without ever accessing or storing raw, personal user location data.</a:t>
            </a:r>
          </a:p>
          <a:p>
            <a:pPr marL="0" indent="0">
              <a:buNone/>
            </a:pPr>
            <a:r>
              <a:rPr lang="en-US" sz="1400" b="1" dirty="0"/>
              <a:t> Actionable Environmental Impact</a:t>
            </a:r>
          </a:p>
          <a:p>
            <a:r>
              <a:rPr lang="en-US" sz="1400" b="1" dirty="0"/>
              <a:t>Instant CO₂ Visualization:</a:t>
            </a:r>
            <a:r>
              <a:rPr lang="en-US" sz="1400" dirty="0"/>
              <a:t> Calculates and displays </a:t>
            </a:r>
            <a:r>
              <a:rPr lang="en-US" sz="1400" b="1" dirty="0"/>
              <a:t>real-time CO₂ savings per route</a:t>
            </a:r>
            <a:r>
              <a:rPr lang="en-US" sz="1400" dirty="0"/>
              <a:t>, making the environmental benefit tangible and personal for the user.</a:t>
            </a:r>
          </a:p>
          <a:p>
            <a:r>
              <a:rPr lang="en-US" sz="1400" b="1" dirty="0"/>
              <a:t>Fuel &amp; Time Savings:</a:t>
            </a:r>
            <a:r>
              <a:rPr lang="en-US" sz="1400" dirty="0"/>
              <a:t> Utilizes powerful </a:t>
            </a:r>
            <a:r>
              <a:rPr lang="en-US" sz="1400" b="1" dirty="0"/>
              <a:t>Predictive Traffic Analysis</a:t>
            </a:r>
            <a:r>
              <a:rPr lang="en-US" sz="1400" dirty="0"/>
              <a:t> to anticipate and re-route around congestion, immediately lowering fuel consumption and emissions.</a:t>
            </a:r>
          </a:p>
          <a:p>
            <a:pPr marL="0" indent="0">
              <a:buNone/>
            </a:pPr>
            <a:r>
              <a:rPr lang="en-US" sz="1400" b="1" dirty="0"/>
              <a:t>The </a:t>
            </a:r>
            <a:r>
              <a:rPr lang="en-US" sz="1400" b="1" dirty="0" err="1"/>
              <a:t>GreenPoints</a:t>
            </a:r>
            <a:r>
              <a:rPr lang="en-US" sz="1400" b="1" dirty="0"/>
              <a:t> Incentive Engine</a:t>
            </a:r>
          </a:p>
          <a:p>
            <a:r>
              <a:rPr lang="en-US" sz="1400" b="1" dirty="0"/>
              <a:t>Driving Behavior Change:</a:t>
            </a:r>
            <a:r>
              <a:rPr lang="en-US" sz="1400" dirty="0"/>
              <a:t> Users earn </a:t>
            </a:r>
            <a:r>
              <a:rPr lang="en-US" sz="1400" b="1" dirty="0" err="1"/>
              <a:t>GreenPoints</a:t>
            </a:r>
            <a:r>
              <a:rPr lang="en-US" sz="1400" dirty="0"/>
              <a:t> for every sustainable choice (eco-routing, ride-sharing, etc.).</a:t>
            </a:r>
          </a:p>
          <a:p>
            <a:r>
              <a:rPr lang="en-US" sz="1400" b="1" dirty="0"/>
              <a:t>High-Value Rewards:</a:t>
            </a:r>
            <a:r>
              <a:rPr lang="en-US" sz="1400" dirty="0"/>
              <a:t> Points are redeemable for direct financial benefits, including </a:t>
            </a:r>
            <a:r>
              <a:rPr lang="en-US" sz="1400" b="1" dirty="0"/>
              <a:t>fuel discounts, EV charging credits,</a:t>
            </a:r>
            <a:r>
              <a:rPr lang="en-US" sz="1400" dirty="0"/>
              <a:t> and retail coupons.</a:t>
            </a:r>
          </a:p>
        </p:txBody>
      </p:sp>
      <p:sp>
        <p:nvSpPr>
          <p:cNvPr id="6" name="Date Placeholder 5">
            <a:extLst>
              <a:ext uri="{FF2B5EF4-FFF2-40B4-BE49-F238E27FC236}">
                <a16:creationId xmlns:a16="http://schemas.microsoft.com/office/drawing/2014/main" id="{FB196675-9723-B9D4-B20E-5F982E60FBE7}"/>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Tree>
    <p:extLst>
      <p:ext uri="{BB962C8B-B14F-4D97-AF65-F5344CB8AC3E}">
        <p14:creationId xmlns:p14="http://schemas.microsoft.com/office/powerpoint/2010/main" val="13492359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10BB-4522-8D14-DDF4-1053DFE10C40}"/>
              </a:ext>
            </a:extLst>
          </p:cNvPr>
          <p:cNvSpPr>
            <a:spLocks noGrp="1"/>
          </p:cNvSpPr>
          <p:nvPr>
            <p:ph type="title"/>
          </p:nvPr>
        </p:nvSpPr>
        <p:spPr/>
        <p:txBody>
          <a:bodyPr anchor="b">
            <a:normAutofit/>
          </a:bodyPr>
          <a:lstStyle/>
          <a:p>
            <a:r>
              <a:rPr lang="en-US"/>
              <a:t>Innovation and Differentiation</a:t>
            </a:r>
          </a:p>
        </p:txBody>
      </p:sp>
      <p:sp>
        <p:nvSpPr>
          <p:cNvPr id="5" name="Date Placeholder 4">
            <a:extLst>
              <a:ext uri="{FF2B5EF4-FFF2-40B4-BE49-F238E27FC236}">
                <a16:creationId xmlns:a16="http://schemas.microsoft.com/office/drawing/2014/main" id="{F2FB8808-ED92-447F-0184-9603D181BDF6}"/>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24777639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C2661-55E5-4F00-0CF1-068141930AA8}"/>
              </a:ext>
            </a:extLst>
          </p:cNvPr>
          <p:cNvSpPr>
            <a:spLocks noGrp="1"/>
          </p:cNvSpPr>
          <p:nvPr>
            <p:ph type="title"/>
          </p:nvPr>
        </p:nvSpPr>
        <p:spPr>
          <a:xfrm>
            <a:off x="0" y="377072"/>
            <a:ext cx="7315200" cy="1225485"/>
          </a:xfrm>
        </p:spPr>
        <p:txBody>
          <a:bodyPr anchor="t">
            <a:normAutofit fontScale="90000"/>
          </a:bodyPr>
          <a:lstStyle/>
          <a:p>
            <a:r>
              <a:rPr lang="en-US" dirty="0"/>
              <a:t>Gamified Engagement &amp; Hyperlocal Intelligence</a:t>
            </a:r>
          </a:p>
        </p:txBody>
      </p:sp>
      <p:pic>
        <p:nvPicPr>
          <p:cNvPr id="8" name="Content Placeholder 7" descr="Man uses his phone to get directions to his destination">
            <a:extLst>
              <a:ext uri="{FF2B5EF4-FFF2-40B4-BE49-F238E27FC236}">
                <a16:creationId xmlns:a16="http://schemas.microsoft.com/office/drawing/2014/main" id="{6BC5D0EF-8635-4855-836C-3CB459C01F59}"/>
              </a:ext>
            </a:extLst>
          </p:cNvPr>
          <p:cNvPicPr>
            <a:picLocks noGrp="1" noChangeAspect="1"/>
          </p:cNvPicPr>
          <p:nvPr>
            <p:ph type="pic" sz="quarter" idx="13"/>
          </p:nvPr>
        </p:nvPicPr>
        <p:blipFill>
          <a:blip r:embed="rId3"/>
          <a:srcRect l="7735" r="7735"/>
          <a:stretch>
            <a:fillRect/>
          </a:stretch>
        </p:blipFill>
        <p:spPr>
          <a:prstGeom prst="rect">
            <a:avLst/>
          </a:prstGeom>
          <a:noFill/>
        </p:spPr>
      </p:pic>
      <p:sp>
        <p:nvSpPr>
          <p:cNvPr id="4" name="Content Placeholder 3">
            <a:extLst>
              <a:ext uri="{FF2B5EF4-FFF2-40B4-BE49-F238E27FC236}">
                <a16:creationId xmlns:a16="http://schemas.microsoft.com/office/drawing/2014/main" id="{6C9DAF4B-CD52-B898-131A-4871B69EBBD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8657" y="830328"/>
            <a:ext cx="5558655" cy="5797484"/>
          </a:xfrm>
        </p:spPr>
        <p:txBody>
          <a:bodyPr>
            <a:normAutofit fontScale="92500" lnSpcReduction="10000"/>
          </a:bodyPr>
          <a:lstStyle/>
          <a:p>
            <a:pPr marL="0" indent="0">
              <a:buNone/>
            </a:pPr>
            <a:r>
              <a:rPr lang="en-US" sz="1400" b="1" dirty="0"/>
              <a:t> AI-Powered </a:t>
            </a:r>
            <a:r>
              <a:rPr lang="en-US" sz="1400" b="1" dirty="0" err="1"/>
              <a:t>Hyperlocal</a:t>
            </a:r>
            <a:r>
              <a:rPr lang="en-US" sz="1400" b="1" dirty="0"/>
              <a:t> Intelligence</a:t>
            </a:r>
          </a:p>
          <a:p>
            <a:r>
              <a:rPr lang="en-US" sz="1400" dirty="0"/>
              <a:t>We go beyond typical traffic data using unique, real-time insights:</a:t>
            </a:r>
          </a:p>
          <a:p>
            <a:r>
              <a:rPr lang="en-US" sz="1400" b="1" dirty="0" err="1"/>
              <a:t>Hyperlocal</a:t>
            </a:r>
            <a:r>
              <a:rPr lang="en-US" sz="1400" b="1" dirty="0"/>
              <a:t> Hazard Reporting:</a:t>
            </a:r>
            <a:r>
              <a:rPr lang="en-US" sz="1400" dirty="0"/>
              <a:t> Users submit real-time data on unique Indian traffic hazards like potholes, illegal parking, and stray cattle, drastically improving map accuracy and safety.</a:t>
            </a:r>
          </a:p>
          <a:p>
            <a:r>
              <a:rPr lang="en-US" sz="1400" b="1" dirty="0"/>
              <a:t>Green Route Priority:</a:t>
            </a:r>
            <a:r>
              <a:rPr lang="en-US" sz="1400" dirty="0"/>
              <a:t> Our algorithms prioritize </a:t>
            </a:r>
            <a:r>
              <a:rPr lang="en-US" sz="1400" b="1" dirty="0"/>
              <a:t>green route options</a:t>
            </a:r>
            <a:r>
              <a:rPr lang="en-US" sz="1400" dirty="0"/>
              <a:t> using </a:t>
            </a:r>
            <a:r>
              <a:rPr lang="en-US" sz="1400" dirty="0" err="1"/>
              <a:t>crowdsourced</a:t>
            </a:r>
            <a:r>
              <a:rPr lang="en-US" sz="1400" dirty="0"/>
              <a:t> data, not just the fastest, ensuring navigation actively reduces congestion and emissions.</a:t>
            </a:r>
          </a:p>
          <a:p>
            <a:pPr marL="0" indent="0">
              <a:buNone/>
            </a:pPr>
            <a:r>
              <a:rPr lang="en-US" sz="1400" b="1" dirty="0"/>
              <a:t> Ecosystem &amp; Accessibility</a:t>
            </a:r>
          </a:p>
          <a:p>
            <a:r>
              <a:rPr lang="en-US" sz="1400" dirty="0"/>
              <a:t>We integrate seamlessly and are built for all of India:</a:t>
            </a:r>
          </a:p>
          <a:p>
            <a:r>
              <a:rPr lang="en-US" sz="1400" b="1" dirty="0"/>
              <a:t>Seamless Integration:</a:t>
            </a:r>
            <a:r>
              <a:rPr lang="en-US" sz="1400" dirty="0"/>
              <a:t> Full API support for partners including </a:t>
            </a:r>
            <a:r>
              <a:rPr lang="en-US" sz="1400" b="1" dirty="0"/>
              <a:t>Google Maps, Smart City Systems, and ride-hailing apps</a:t>
            </a:r>
            <a:r>
              <a:rPr lang="en-US" sz="1400" dirty="0"/>
              <a:t>, enabling instant reporting for ESG dashboards.</a:t>
            </a:r>
          </a:p>
          <a:p>
            <a:r>
              <a:rPr lang="en-US" sz="1400" b="1" dirty="0"/>
              <a:t>Vernacular AI Support:</a:t>
            </a:r>
            <a:r>
              <a:rPr lang="en-US" sz="1400" dirty="0"/>
              <a:t> Features native language support via </a:t>
            </a:r>
            <a:r>
              <a:rPr lang="en-US" sz="1400" b="1" dirty="0"/>
              <a:t>Vernacular AI</a:t>
            </a:r>
            <a:r>
              <a:rPr lang="en-US" sz="1400" dirty="0"/>
              <a:t>, making the entire system accessible and usable across India's diverse communities.</a:t>
            </a:r>
          </a:p>
          <a:p>
            <a:pPr marL="0" indent="0">
              <a:buNone/>
            </a:pPr>
            <a:r>
              <a:rPr lang="en-US" sz="1400" b="1" dirty="0"/>
              <a:t> </a:t>
            </a:r>
            <a:r>
              <a:rPr lang="en-US" sz="1400" b="1" dirty="0" err="1"/>
              <a:t>Gamified</a:t>
            </a:r>
            <a:r>
              <a:rPr lang="en-US" sz="1400" b="1" dirty="0"/>
              <a:t> Behavior Change</a:t>
            </a:r>
          </a:p>
          <a:p>
            <a:r>
              <a:rPr lang="en-US" sz="1400" dirty="0"/>
              <a:t>We transform the user experience from passive driving to active participation.</a:t>
            </a:r>
          </a:p>
          <a:p>
            <a:r>
              <a:rPr lang="en-US" sz="1400" b="1" dirty="0" err="1"/>
              <a:t>Gamified</a:t>
            </a:r>
            <a:r>
              <a:rPr lang="en-US" sz="1400" b="1" dirty="0"/>
              <a:t> Eco Rewards:</a:t>
            </a:r>
            <a:r>
              <a:rPr lang="en-US" sz="1400" dirty="0"/>
              <a:t> Our </a:t>
            </a:r>
            <a:r>
              <a:rPr lang="en-US" sz="1400" b="1" dirty="0" err="1"/>
              <a:t>GreenPoints</a:t>
            </a:r>
            <a:r>
              <a:rPr lang="en-US" sz="1400" dirty="0"/>
              <a:t> ecosystem rewards users for sustainable actions, creating a high-retention loop that directly encourages eco-friendly behavior and civic engagement.</a:t>
            </a:r>
          </a:p>
          <a:p>
            <a:pPr marL="0" lvl="1" indent="0">
              <a:buFont typeface="Arial" panose="020B0604020202020204" pitchFamily="34" charset="0"/>
              <a:buNone/>
            </a:pPr>
            <a:endParaRPr lang="en-US" sz="1400" dirty="0"/>
          </a:p>
        </p:txBody>
      </p:sp>
      <p:sp>
        <p:nvSpPr>
          <p:cNvPr id="6" name="Date Placeholder 5">
            <a:extLst>
              <a:ext uri="{FF2B5EF4-FFF2-40B4-BE49-F238E27FC236}">
                <a16:creationId xmlns:a16="http://schemas.microsoft.com/office/drawing/2014/main" id="{C840EDEE-07E7-A8C6-88B4-FA4326CBC084}"/>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
        <p:nvSpPr>
          <p:cNvPr id="7" name="Slide Number Placeholder 6">
            <a:extLst>
              <a:ext uri="{FF2B5EF4-FFF2-40B4-BE49-F238E27FC236}">
                <a16:creationId xmlns:a16="http://schemas.microsoft.com/office/drawing/2014/main" id="{70084073-058D-E15B-D5EA-512731583521}"/>
              </a:ext>
            </a:extLst>
          </p:cNvPr>
          <p:cNvSpPr>
            <a:spLocks noGrp="1"/>
          </p:cNvSpPr>
          <p:nvPr>
            <p:ph type="sldNum" sz="quarter" idx="4294967295"/>
          </p:nvPr>
        </p:nvSpPr>
        <p:spPr>
          <a:xfrm>
            <a:off x="11734800" y="6445250"/>
            <a:ext cx="457200" cy="365125"/>
          </a:xfrm>
        </p:spPr>
        <p:txBody>
          <a:bodyPr anchor="ctr">
            <a:normAutofit fontScale="62500" lnSpcReduction="20000"/>
          </a:bodyPr>
          <a:lstStyle/>
          <a:p>
            <a:pPr>
              <a:spcAft>
                <a:spcPts val="600"/>
              </a:spcAft>
            </a:pPr>
            <a:fld id="{DDF60B60-82CA-4BB9-BA6E-A62FADF2374B}" type="slidenum">
              <a:rPr lang="en-US" smtClean="0"/>
              <a:pPr>
                <a:spcAft>
                  <a:spcPts val="600"/>
                </a:spcAft>
              </a:pPr>
              <a:t>12</a:t>
            </a:fld>
            <a:endParaRPr lang="en-US"/>
          </a:p>
        </p:txBody>
      </p:sp>
    </p:spTree>
    <p:extLst>
      <p:ext uri="{BB962C8B-B14F-4D97-AF65-F5344CB8AC3E}">
        <p14:creationId xmlns:p14="http://schemas.microsoft.com/office/powerpoint/2010/main" val="12850685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523F9-BD58-8603-DB42-C523BBAD554E}"/>
              </a:ext>
            </a:extLst>
          </p:cNvPr>
          <p:cNvSpPr>
            <a:spLocks noGrp="1"/>
          </p:cNvSpPr>
          <p:nvPr>
            <p:ph type="title"/>
          </p:nvPr>
        </p:nvSpPr>
        <p:spPr/>
        <p:txBody>
          <a:bodyPr anchor="b">
            <a:normAutofit/>
          </a:bodyPr>
          <a:lstStyle/>
          <a:p>
            <a:r>
              <a:rPr lang="en-US"/>
              <a:t>Implementation and Roadmap</a:t>
            </a:r>
          </a:p>
        </p:txBody>
      </p:sp>
      <p:sp>
        <p:nvSpPr>
          <p:cNvPr id="5" name="Date Placeholder 4">
            <a:extLst>
              <a:ext uri="{FF2B5EF4-FFF2-40B4-BE49-F238E27FC236}">
                <a16:creationId xmlns:a16="http://schemas.microsoft.com/office/drawing/2014/main" id="{02E4FE47-DAA5-356A-1084-3967EF9DBE80}"/>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33755873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BC802-C235-5288-3470-1DA42B762CB3}"/>
              </a:ext>
            </a:extLst>
          </p:cNvPr>
          <p:cNvSpPr>
            <a:spLocks noGrp="1"/>
          </p:cNvSpPr>
          <p:nvPr>
            <p:ph type="title"/>
          </p:nvPr>
        </p:nvSpPr>
        <p:spPr/>
        <p:txBody>
          <a:bodyPr anchor="t">
            <a:normAutofit fontScale="90000"/>
          </a:bodyPr>
          <a:lstStyle/>
          <a:p>
            <a:r>
              <a:rPr lang="en-US"/>
              <a:t>Phased Rollout Strategy</a:t>
            </a:r>
          </a:p>
        </p:txBody>
      </p:sp>
      <p:pic>
        <p:nvPicPr>
          <p:cNvPr id="8" name="Content Placeholder 7" descr="Driverless self drive autopilot vehicle">
            <a:extLst>
              <a:ext uri="{FF2B5EF4-FFF2-40B4-BE49-F238E27FC236}">
                <a16:creationId xmlns:a16="http://schemas.microsoft.com/office/drawing/2014/main" id="{08F51971-CC52-4F7C-B9A6-397448A2B124}"/>
              </a:ext>
            </a:extLst>
          </p:cNvPr>
          <p:cNvPicPr>
            <a:picLocks noGrp="1" noChangeAspect="1"/>
          </p:cNvPicPr>
          <p:nvPr>
            <p:ph type="pic" sz="quarter" idx="13"/>
          </p:nvPr>
        </p:nvPicPr>
        <p:blipFill>
          <a:blip r:embed="rId3"/>
          <a:srcRect l="14413" r="14413"/>
          <a:stretch>
            <a:fillRect/>
          </a:stretch>
        </p:blipFill>
        <p:spPr>
          <a:prstGeom prst="rect">
            <a:avLst/>
          </a:prstGeom>
          <a:noFill/>
        </p:spPr>
      </p:pic>
      <p:sp>
        <p:nvSpPr>
          <p:cNvPr id="4" name="Content Placeholder 3">
            <a:extLst>
              <a:ext uri="{FF2B5EF4-FFF2-40B4-BE49-F238E27FC236}">
                <a16:creationId xmlns:a16="http://schemas.microsoft.com/office/drawing/2014/main" id="{B11AC041-CE5C-522F-8084-C4C58BF470F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5" y="1132788"/>
            <a:ext cx="5558655" cy="5797484"/>
          </a:xfrm>
        </p:spPr>
        <p:txBody>
          <a:bodyPr>
            <a:normAutofit/>
          </a:bodyPr>
          <a:lstStyle/>
          <a:p>
            <a:pPr marL="0" indent="0">
              <a:spcBef>
                <a:spcPts val="2500"/>
              </a:spcBef>
              <a:buFont typeface="Arial" panose="020B0604020202020204" pitchFamily="34" charset="0"/>
              <a:buNone/>
            </a:pPr>
            <a:r>
              <a:rPr lang="en-US" sz="1400" b="1" dirty="0"/>
              <a:t>Phase 1: Prototype and Pilot</a:t>
            </a:r>
          </a:p>
          <a:p>
            <a:pPr marL="0" lvl="1" indent="0">
              <a:buFont typeface="Arial" panose="020B0604020202020204" pitchFamily="34" charset="0"/>
              <a:buNone/>
            </a:pPr>
            <a:r>
              <a:rPr lang="en-US" sz="1400" dirty="0"/>
              <a:t>Launch prototype and pilot in Pune and Hyderabad with 50,000 users and key partnerships.</a:t>
            </a:r>
          </a:p>
          <a:p>
            <a:pPr marL="0" indent="0">
              <a:spcBef>
                <a:spcPts val="2500"/>
              </a:spcBef>
              <a:buFont typeface="Arial" panose="020B0604020202020204" pitchFamily="34" charset="0"/>
              <a:buNone/>
            </a:pPr>
            <a:r>
              <a:rPr lang="en-US" sz="1400" b="1" dirty="0"/>
              <a:t>Phase 2: Metro Expansion and Rewards</a:t>
            </a:r>
          </a:p>
          <a:p>
            <a:pPr marL="0" lvl="1" indent="0">
              <a:buFont typeface="Arial" panose="020B0604020202020204" pitchFamily="34" charset="0"/>
              <a:buNone/>
            </a:pPr>
            <a:r>
              <a:rPr lang="en-US" sz="1400" dirty="0"/>
              <a:t>Expand app to five major metros and introduce </a:t>
            </a:r>
            <a:r>
              <a:rPr lang="en-US" sz="1400" dirty="0" err="1"/>
              <a:t>GreenPoints</a:t>
            </a:r>
            <a:r>
              <a:rPr lang="en-US" sz="1400" dirty="0"/>
              <a:t> rewards marketplace for users.</a:t>
            </a:r>
          </a:p>
          <a:p>
            <a:pPr marL="0" indent="0">
              <a:spcBef>
                <a:spcPts val="2500"/>
              </a:spcBef>
              <a:buFont typeface="Arial" panose="020B0604020202020204" pitchFamily="34" charset="0"/>
              <a:buNone/>
            </a:pPr>
            <a:r>
              <a:rPr lang="en-US" sz="1400" b="1" dirty="0"/>
              <a:t>Phase 3: Scale and Integration</a:t>
            </a:r>
          </a:p>
          <a:p>
            <a:pPr marL="0" lvl="1" indent="0">
              <a:buFont typeface="Arial" panose="020B0604020202020204" pitchFamily="34" charset="0"/>
              <a:buNone/>
            </a:pPr>
            <a:r>
              <a:rPr lang="en-US" sz="1400" dirty="0"/>
              <a:t>Scale platform to ten cities integrating Smart City ATCS and enhancing ESG analytics.</a:t>
            </a:r>
          </a:p>
          <a:p>
            <a:pPr marL="0" indent="0">
              <a:spcBef>
                <a:spcPts val="2500"/>
              </a:spcBef>
              <a:buFont typeface="Arial" panose="020B0604020202020204" pitchFamily="34" charset="0"/>
              <a:buNone/>
            </a:pPr>
            <a:r>
              <a:rPr lang="en-US" sz="1400" b="1" dirty="0"/>
              <a:t>Strategic Roadmap Benefits</a:t>
            </a:r>
          </a:p>
          <a:p>
            <a:pPr marL="0" lvl="1" indent="0">
              <a:buFont typeface="Arial" panose="020B0604020202020204" pitchFamily="34" charset="0"/>
              <a:buNone/>
            </a:pPr>
            <a:r>
              <a:rPr lang="en-US" sz="1400" dirty="0"/>
              <a:t>Phased rollout ensures measurable impact, validates solutions, and builds a strong ecosystem.</a:t>
            </a:r>
          </a:p>
        </p:txBody>
      </p:sp>
      <p:sp>
        <p:nvSpPr>
          <p:cNvPr id="6" name="Date Placeholder 5">
            <a:extLst>
              <a:ext uri="{FF2B5EF4-FFF2-40B4-BE49-F238E27FC236}">
                <a16:creationId xmlns:a16="http://schemas.microsoft.com/office/drawing/2014/main" id="{6035F827-ACA0-B290-E627-9C4F9A9F18EC}"/>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Tree>
    <p:extLst>
      <p:ext uri="{BB962C8B-B14F-4D97-AF65-F5344CB8AC3E}">
        <p14:creationId xmlns:p14="http://schemas.microsoft.com/office/powerpoint/2010/main" val="2047490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023A8-F7CF-1553-5B1A-83A4CB6AC206}"/>
              </a:ext>
            </a:extLst>
          </p:cNvPr>
          <p:cNvSpPr>
            <a:spLocks noGrp="1"/>
          </p:cNvSpPr>
          <p:nvPr>
            <p:ph type="title"/>
          </p:nvPr>
        </p:nvSpPr>
        <p:spPr/>
        <p:txBody>
          <a:bodyPr anchor="b">
            <a:normAutofit/>
          </a:bodyPr>
          <a:lstStyle/>
          <a:p>
            <a:r>
              <a:rPr lang="en-US"/>
              <a:t>Market Validation and Impact Potential</a:t>
            </a:r>
          </a:p>
        </p:txBody>
      </p:sp>
      <p:sp>
        <p:nvSpPr>
          <p:cNvPr id="5" name="Date Placeholder 4">
            <a:extLst>
              <a:ext uri="{FF2B5EF4-FFF2-40B4-BE49-F238E27FC236}">
                <a16:creationId xmlns:a16="http://schemas.microsoft.com/office/drawing/2014/main" id="{3F2EA587-460C-0351-6ED4-FA22050B682C}"/>
              </a:ext>
            </a:extLst>
          </p:cNvPr>
          <p:cNvSpPr>
            <a:spLocks noGrp="1"/>
          </p:cNvSpPr>
          <p:nvPr>
            <p:ph type="dt" sz="half" idx="10"/>
          </p:nvPr>
        </p:nvSpPr>
        <p:spPr/>
        <p:txBody>
          <a:bodyPr anchor="ctr">
            <a:normAutofit/>
          </a:bodyPr>
          <a:lstStyle/>
          <a:p>
            <a:pPr>
              <a:spcAft>
                <a:spcPts val="600"/>
              </a:spcAft>
            </a:pPr>
            <a:fld id="{8A278C13-F8B8-4237-9811-6A882F130BDA}" type="datetime1">
              <a:rPr lang="en-US" smtClean="0"/>
              <a:pPr>
                <a:spcAft>
                  <a:spcPts val="600"/>
                </a:spcAft>
              </a:pPr>
              <a:t>11/6/2025</a:t>
            </a:fld>
            <a:endParaRPr lang="en-US"/>
          </a:p>
        </p:txBody>
      </p:sp>
    </p:spTree>
    <p:extLst>
      <p:ext uri="{BB962C8B-B14F-4D97-AF65-F5344CB8AC3E}">
        <p14:creationId xmlns:p14="http://schemas.microsoft.com/office/powerpoint/2010/main" val="9696980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C0102-B675-ECB3-EEB5-5FDB34E3D6A6}"/>
              </a:ext>
            </a:extLst>
          </p:cNvPr>
          <p:cNvSpPr>
            <a:spLocks noGrp="1"/>
          </p:cNvSpPr>
          <p:nvPr>
            <p:ph type="title"/>
          </p:nvPr>
        </p:nvSpPr>
        <p:spPr>
          <a:xfrm>
            <a:off x="457200" y="152400"/>
            <a:ext cx="4958078" cy="1225485"/>
          </a:xfrm>
        </p:spPr>
        <p:txBody>
          <a:bodyPr anchor="t">
            <a:normAutofit fontScale="90000"/>
          </a:bodyPr>
          <a:lstStyle/>
          <a:p>
            <a:r>
              <a:rPr lang="en-US" dirty="0"/>
              <a:t>Addressable Market and Growth Forecast</a:t>
            </a:r>
          </a:p>
        </p:txBody>
      </p:sp>
      <p:pic>
        <p:nvPicPr>
          <p:cNvPr id="8" name="Content Placeholder 7" descr="Man using phone while waiting for transportation at roadside during rush hour">
            <a:extLst>
              <a:ext uri="{FF2B5EF4-FFF2-40B4-BE49-F238E27FC236}">
                <a16:creationId xmlns:a16="http://schemas.microsoft.com/office/drawing/2014/main" id="{E8269DBC-ED31-4FAD-8190-381FAA0F1573}"/>
              </a:ext>
            </a:extLst>
          </p:cNvPr>
          <p:cNvPicPr>
            <a:picLocks noGrp="1" noChangeAspect="1"/>
          </p:cNvPicPr>
          <p:nvPr>
            <p:ph type="pic" sz="quarter" idx="13"/>
          </p:nvPr>
        </p:nvPicPr>
        <p:blipFill>
          <a:blip r:embed="rId3"/>
          <a:srcRect l="6653" r="6653"/>
          <a:stretch>
            <a:fillRect/>
          </a:stretch>
        </p:blipFill>
        <p:spPr>
          <a:xfrm>
            <a:off x="0" y="1979861"/>
            <a:ext cx="5758172" cy="4546457"/>
          </a:xfrm>
          <a:prstGeom prst="rect">
            <a:avLst/>
          </a:prstGeom>
          <a:noFill/>
        </p:spPr>
      </p:pic>
      <p:graphicFrame>
        <p:nvGraphicFramePr>
          <p:cNvPr id="3" name="Content Placeholder 2"/>
          <p:cNvGraphicFramePr>
            <a:graphicFrameLocks noGrp="1"/>
          </p:cNvGraphicFramePr>
          <p:nvPr>
            <p:ph idx="1"/>
            <p:extLst>
              <p:ext uri="{D42A27DB-BD31-4B8C-83A1-F6EECF244321}">
                <p14:modId xmlns:p14="http://schemas.microsoft.com/office/powerpoint/2010/main" val="1869011175"/>
              </p:ext>
            </p:extLst>
          </p:nvPr>
        </p:nvGraphicFramePr>
        <p:xfrm>
          <a:off x="6172200" y="2514600"/>
          <a:ext cx="5559426" cy="3418799"/>
        </p:xfrm>
        <a:graphic>
          <a:graphicData uri="http://schemas.openxmlformats.org/drawingml/2006/table">
            <a:tbl>
              <a:tblPr>
                <a:tableStyleId>{35758FB7-9AC5-4552-8A53-C91805E547FA}</a:tableStyleId>
              </a:tblPr>
              <a:tblGrid>
                <a:gridCol w="1853142">
                  <a:extLst>
                    <a:ext uri="{9D8B030D-6E8A-4147-A177-3AD203B41FA5}">
                      <a16:colId xmlns:a16="http://schemas.microsoft.com/office/drawing/2014/main" val="20000"/>
                    </a:ext>
                  </a:extLst>
                </a:gridCol>
                <a:gridCol w="1853142">
                  <a:extLst>
                    <a:ext uri="{9D8B030D-6E8A-4147-A177-3AD203B41FA5}">
                      <a16:colId xmlns:a16="http://schemas.microsoft.com/office/drawing/2014/main" val="20001"/>
                    </a:ext>
                  </a:extLst>
                </a:gridCol>
                <a:gridCol w="1853142">
                  <a:extLst>
                    <a:ext uri="{9D8B030D-6E8A-4147-A177-3AD203B41FA5}">
                      <a16:colId xmlns:a16="http://schemas.microsoft.com/office/drawing/2014/main" val="20002"/>
                    </a:ext>
                  </a:extLst>
                </a:gridCol>
              </a:tblGrid>
              <a:tr h="246209">
                <a:tc>
                  <a:txBody>
                    <a:bodyPr/>
                    <a:lstStyle/>
                    <a:p>
                      <a:pPr rtl="0"/>
                      <a:r>
                        <a:rPr lang="en-IN" sz="1100">
                          <a:effectLst/>
                        </a:rPr>
                        <a:t>Metric</a:t>
                      </a:r>
                      <a:endParaRPr lang="en-IN" sz="1100">
                        <a:solidFill>
                          <a:srgbClr val="1B1C1D"/>
                        </a:solidFill>
                        <a:effectLst/>
                        <a:latin typeface="Google Sans Text"/>
                      </a:endParaRPr>
                    </a:p>
                  </a:txBody>
                  <a:tcPr marL="56817" marR="56817" marT="37878" marB="37878" anchor="ctr"/>
                </a:tc>
                <a:tc>
                  <a:txBody>
                    <a:bodyPr/>
                    <a:lstStyle/>
                    <a:p>
                      <a:pPr rtl="0"/>
                      <a:r>
                        <a:rPr lang="en-IN" sz="1100">
                          <a:effectLst/>
                        </a:rPr>
                        <a:t>Investment Thesis</a:t>
                      </a:r>
                      <a:endParaRPr lang="en-IN" sz="1100">
                        <a:solidFill>
                          <a:srgbClr val="1B1C1D"/>
                        </a:solidFill>
                        <a:effectLst/>
                        <a:latin typeface="Google Sans Text"/>
                      </a:endParaRPr>
                    </a:p>
                  </a:txBody>
                  <a:tcPr marL="56817" marR="56817" marT="37878" marB="37878" anchor="ctr"/>
                </a:tc>
                <a:tc>
                  <a:txBody>
                    <a:bodyPr/>
                    <a:lstStyle/>
                    <a:p>
                      <a:pPr rtl="0"/>
                      <a:r>
                        <a:rPr lang="en-IN" sz="1100">
                          <a:effectLst/>
                        </a:rPr>
                        <a:t>Data Point</a:t>
                      </a:r>
                      <a:endParaRPr lang="en-IN" sz="1100">
                        <a:solidFill>
                          <a:srgbClr val="1B1C1D"/>
                        </a:solidFill>
                        <a:effectLst/>
                        <a:latin typeface="Google Sans Text"/>
                      </a:endParaRPr>
                    </a:p>
                  </a:txBody>
                  <a:tcPr marL="56817" marR="56817" marT="37878" marB="37878" anchor="ctr"/>
                </a:tc>
                <a:extLst>
                  <a:ext uri="{0D108BD9-81ED-4DB2-BD59-A6C34878D82A}">
                    <a16:rowId xmlns:a16="http://schemas.microsoft.com/office/drawing/2014/main" val="10000"/>
                  </a:ext>
                </a:extLst>
              </a:tr>
              <a:tr h="757565">
                <a:tc>
                  <a:txBody>
                    <a:bodyPr/>
                    <a:lstStyle/>
                    <a:p>
                      <a:pPr rtl="0"/>
                      <a:r>
                        <a:rPr lang="en-IN" sz="1100">
                          <a:effectLst/>
                        </a:rPr>
                        <a:t>National Economic Drag</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Congestion is costing India billions in wasted fuel and productivity loss annually.</a:t>
                      </a:r>
                      <a:endParaRPr lang="en-US" sz="1100">
                        <a:solidFill>
                          <a:srgbClr val="1B1C1D"/>
                        </a:solidFill>
                        <a:effectLst/>
                        <a:latin typeface="Google Sans Text"/>
                      </a:endParaRPr>
                    </a:p>
                  </a:txBody>
                  <a:tcPr marL="56817" marR="56817" marT="37878" marB="37878" anchor="ctr"/>
                </a:tc>
                <a:tc>
                  <a:txBody>
                    <a:bodyPr/>
                    <a:lstStyle/>
                    <a:p>
                      <a:pPr rtl="0"/>
                      <a:r>
                        <a:rPr lang="en-US" sz="1100">
                          <a:effectLst/>
                        </a:rPr>
                        <a:t>₹1.5 Lakh Crore (or $18 Billion) annual economic loss from congestion in four major cities alone.</a:t>
                      </a:r>
                      <a:endParaRPr lang="en-US" sz="1100">
                        <a:solidFill>
                          <a:srgbClr val="1B1C1D"/>
                        </a:solidFill>
                        <a:effectLst/>
                        <a:latin typeface="Google Sans Text"/>
                      </a:endParaRPr>
                    </a:p>
                  </a:txBody>
                  <a:tcPr marL="56817" marR="56817" marT="37878" marB="37878" anchor="ctr"/>
                </a:tc>
                <a:extLst>
                  <a:ext uri="{0D108BD9-81ED-4DB2-BD59-A6C34878D82A}">
                    <a16:rowId xmlns:a16="http://schemas.microsoft.com/office/drawing/2014/main" val="10001"/>
                  </a:ext>
                </a:extLst>
              </a:tr>
              <a:tr h="928018">
                <a:tc>
                  <a:txBody>
                    <a:bodyPr/>
                    <a:lstStyle/>
                    <a:p>
                      <a:pPr rtl="0"/>
                      <a:r>
                        <a:rPr lang="en-IN" sz="1100">
                          <a:effectLst/>
                        </a:rPr>
                        <a:t>Total Addressable Market (TAM)</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The total Indian Mobility market, which we disrupt and support.</a:t>
                      </a:r>
                      <a:endParaRPr lang="en-US" sz="1100">
                        <a:solidFill>
                          <a:srgbClr val="1B1C1D"/>
                        </a:solidFill>
                        <a:effectLst/>
                        <a:latin typeface="Google Sans Text"/>
                      </a:endParaRPr>
                    </a:p>
                  </a:txBody>
                  <a:tcPr marL="56817" marR="56817" marT="37878" marB="37878" anchor="ctr"/>
                </a:tc>
                <a:tc>
                  <a:txBody>
                    <a:bodyPr/>
                    <a:lstStyle/>
                    <a:p>
                      <a:pPr rtl="0"/>
                      <a:r>
                        <a:rPr lang="en-US" sz="1100">
                          <a:effectLst/>
                        </a:rPr>
                        <a:t>₹55,000 Cr (~$6.6B) – Urban Mobility (Your original figure, conservative and focused on the immediate segment).</a:t>
                      </a:r>
                      <a:endParaRPr lang="en-US" sz="1100">
                        <a:solidFill>
                          <a:srgbClr val="1B1C1D"/>
                        </a:solidFill>
                        <a:effectLst/>
                        <a:latin typeface="Google Sans Text"/>
                      </a:endParaRPr>
                    </a:p>
                  </a:txBody>
                  <a:tcPr marL="56817" marR="56817" marT="37878" marB="37878" anchor="ctr"/>
                </a:tc>
                <a:extLst>
                  <a:ext uri="{0D108BD9-81ED-4DB2-BD59-A6C34878D82A}">
                    <a16:rowId xmlns:a16="http://schemas.microsoft.com/office/drawing/2014/main" val="10002"/>
                  </a:ext>
                </a:extLst>
              </a:tr>
              <a:tr h="587113">
                <a:tc>
                  <a:txBody>
                    <a:bodyPr/>
                    <a:lstStyle/>
                    <a:p>
                      <a:pPr rtl="0"/>
                      <a:r>
                        <a:rPr lang="en-IN" sz="1100">
                          <a:effectLst/>
                        </a:rPr>
                        <a:t>Serviceable Market (SAM)</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Smartphone users in target cities ready for app adoption and incentives.</a:t>
                      </a:r>
                      <a:endParaRPr lang="en-US" sz="1100">
                        <a:solidFill>
                          <a:srgbClr val="1B1C1D"/>
                        </a:solidFill>
                        <a:effectLst/>
                        <a:latin typeface="Google Sans Text"/>
                      </a:endParaRPr>
                    </a:p>
                  </a:txBody>
                  <a:tcPr marL="56817" marR="56817" marT="37878" marB="37878" anchor="ctr"/>
                </a:tc>
                <a:tc>
                  <a:txBody>
                    <a:bodyPr/>
                    <a:lstStyle/>
                    <a:p>
                      <a:pPr rtl="0"/>
                      <a:r>
                        <a:rPr lang="en-US" sz="1100">
                          <a:effectLst/>
                        </a:rPr>
                        <a:t>₹15,000 Cr (~$1.8B) – Smartphone users in Tier-1 &amp; Tier-2 cities.</a:t>
                      </a:r>
                      <a:endParaRPr lang="en-US" sz="1100">
                        <a:solidFill>
                          <a:srgbClr val="1B1C1D"/>
                        </a:solidFill>
                        <a:effectLst/>
                        <a:latin typeface="Google Sans Text"/>
                      </a:endParaRPr>
                    </a:p>
                  </a:txBody>
                  <a:tcPr marL="56817" marR="56817" marT="37878" marB="37878" anchor="ctr"/>
                </a:tc>
                <a:extLst>
                  <a:ext uri="{0D108BD9-81ED-4DB2-BD59-A6C34878D82A}">
                    <a16:rowId xmlns:a16="http://schemas.microsoft.com/office/drawing/2014/main" val="10003"/>
                  </a:ext>
                </a:extLst>
              </a:tr>
              <a:tr h="587113">
                <a:tc>
                  <a:txBody>
                    <a:bodyPr/>
                    <a:lstStyle/>
                    <a:p>
                      <a:pPr rtl="0"/>
                      <a:r>
                        <a:rPr lang="en-IN" sz="1100">
                          <a:effectLst/>
                        </a:rPr>
                        <a:t>Obtainable Market (SOM)</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Our conservative 3-year revenue target.</a:t>
                      </a:r>
                      <a:endParaRPr lang="en-US" sz="1100">
                        <a:solidFill>
                          <a:srgbClr val="1B1C1D"/>
                        </a:solidFill>
                        <a:effectLst/>
                        <a:latin typeface="Google Sans Text"/>
                      </a:endParaRPr>
                    </a:p>
                  </a:txBody>
                  <a:tcPr marL="56817" marR="56817" marT="37878" marB="37878" anchor="ctr"/>
                </a:tc>
                <a:tc>
                  <a:txBody>
                    <a:bodyPr/>
                    <a:lstStyle/>
                    <a:p>
                      <a:pPr rtl="0"/>
                      <a:r>
                        <a:rPr lang="en-US" sz="1100" dirty="0">
                          <a:effectLst/>
                        </a:rPr>
                        <a:t>₹500 Cr (~$60M) – Projected from 2M active, monetized users.</a:t>
                      </a:r>
                      <a:endParaRPr lang="en-US" sz="1100" dirty="0">
                        <a:solidFill>
                          <a:srgbClr val="1B1C1D"/>
                        </a:solidFill>
                        <a:effectLst/>
                        <a:latin typeface="Google Sans Text"/>
                      </a:endParaRPr>
                    </a:p>
                  </a:txBody>
                  <a:tcPr marL="56817" marR="56817" marT="37878" marB="37878" anchor="ctr"/>
                </a:tc>
                <a:extLst>
                  <a:ext uri="{0D108BD9-81ED-4DB2-BD59-A6C34878D82A}">
                    <a16:rowId xmlns:a16="http://schemas.microsoft.com/office/drawing/2014/main" val="10004"/>
                  </a:ext>
                </a:extLst>
              </a:tr>
            </a:tbl>
          </a:graphicData>
        </a:graphic>
      </p:graphicFrame>
      <p:sp>
        <p:nvSpPr>
          <p:cNvPr id="6" name="Date Placeholder 5">
            <a:extLst>
              <a:ext uri="{FF2B5EF4-FFF2-40B4-BE49-F238E27FC236}">
                <a16:creationId xmlns:a16="http://schemas.microsoft.com/office/drawing/2014/main" id="{BE3ED46B-DA65-11F6-722F-1C7DCA9029BD}"/>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sp>
        <p:nvSpPr>
          <p:cNvPr id="9" name="TextBox 8"/>
          <p:cNvSpPr txBox="1"/>
          <p:nvPr/>
        </p:nvSpPr>
        <p:spPr>
          <a:xfrm>
            <a:off x="6400800" y="1383268"/>
            <a:ext cx="5029200" cy="369332"/>
          </a:xfrm>
          <a:prstGeom prst="rect">
            <a:avLst/>
          </a:prstGeom>
          <a:noFill/>
        </p:spPr>
        <p:txBody>
          <a:bodyPr wrap="square" rtlCol="0">
            <a:spAutoFit/>
          </a:bodyPr>
          <a:lstStyle/>
          <a:p>
            <a:r>
              <a:rPr lang="en-IN" dirty="0"/>
              <a:t>Massive Opportunity, Measurable ROI</a:t>
            </a:r>
          </a:p>
        </p:txBody>
      </p:sp>
      <p:sp>
        <p:nvSpPr>
          <p:cNvPr id="10" name="Rectangle 9"/>
          <p:cNvSpPr/>
          <p:nvPr/>
        </p:nvSpPr>
        <p:spPr>
          <a:xfrm>
            <a:off x="6400800" y="1943285"/>
            <a:ext cx="5181600" cy="584775"/>
          </a:xfrm>
          <a:prstGeom prst="rect">
            <a:avLst/>
          </a:prstGeom>
        </p:spPr>
        <p:txBody>
          <a:bodyPr wrap="square">
            <a:spAutoFit/>
          </a:bodyPr>
          <a:lstStyle/>
          <a:p>
            <a:r>
              <a:rPr lang="en-US" sz="1600" dirty="0">
                <a:solidFill>
                  <a:srgbClr val="92D050"/>
                </a:solidFill>
              </a:rPr>
              <a:t>The challenge is enormous, making the market potential even larger.</a:t>
            </a:r>
            <a:endParaRPr lang="en-IN" sz="1600" dirty="0">
              <a:solidFill>
                <a:srgbClr val="92D050"/>
              </a:solidFill>
            </a:endParaRPr>
          </a:p>
        </p:txBody>
      </p:sp>
    </p:spTree>
    <p:extLst>
      <p:ext uri="{BB962C8B-B14F-4D97-AF65-F5344CB8AC3E}">
        <p14:creationId xmlns:p14="http://schemas.microsoft.com/office/powerpoint/2010/main" val="98148939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C0102-B675-ECB3-EEB5-5FDB34E3D6A6}"/>
              </a:ext>
            </a:extLst>
          </p:cNvPr>
          <p:cNvSpPr>
            <a:spLocks noGrp="1"/>
          </p:cNvSpPr>
          <p:nvPr>
            <p:ph type="title"/>
          </p:nvPr>
        </p:nvSpPr>
        <p:spPr>
          <a:xfrm>
            <a:off x="457200" y="152400"/>
            <a:ext cx="4958078" cy="1225485"/>
          </a:xfrm>
        </p:spPr>
        <p:txBody>
          <a:bodyPr anchor="t">
            <a:normAutofit fontScale="90000"/>
          </a:bodyPr>
          <a:lstStyle/>
          <a:p>
            <a:r>
              <a:rPr lang="en-US" dirty="0"/>
              <a:t>Addressable Market and Growth Forecast</a:t>
            </a:r>
          </a:p>
        </p:txBody>
      </p:sp>
      <p:pic>
        <p:nvPicPr>
          <p:cNvPr id="8" name="Content Placeholder 7" descr="Man using phone while waiting for transportation at roadside during rush hour">
            <a:extLst>
              <a:ext uri="{FF2B5EF4-FFF2-40B4-BE49-F238E27FC236}">
                <a16:creationId xmlns:a16="http://schemas.microsoft.com/office/drawing/2014/main" id="{E8269DBC-ED31-4FAD-8190-381FAA0F1573}"/>
              </a:ext>
            </a:extLst>
          </p:cNvPr>
          <p:cNvPicPr>
            <a:picLocks noGrp="1" noChangeAspect="1"/>
          </p:cNvPicPr>
          <p:nvPr>
            <p:ph type="pic" sz="quarter" idx="13"/>
          </p:nvPr>
        </p:nvPicPr>
        <p:blipFill>
          <a:blip r:embed="rId3"/>
          <a:srcRect l="6653" r="6653"/>
          <a:stretch>
            <a:fillRect/>
          </a:stretch>
        </p:blipFill>
        <p:spPr>
          <a:prstGeom prst="rect">
            <a:avLst/>
          </a:prstGeom>
          <a:noFill/>
        </p:spPr>
      </p:pic>
      <p:sp>
        <p:nvSpPr>
          <p:cNvPr id="6" name="Date Placeholder 5">
            <a:extLst>
              <a:ext uri="{FF2B5EF4-FFF2-40B4-BE49-F238E27FC236}">
                <a16:creationId xmlns:a16="http://schemas.microsoft.com/office/drawing/2014/main" id="{BE3ED46B-DA65-11F6-722F-1C7DCA9029BD}"/>
              </a:ext>
            </a:extLst>
          </p:cNvPr>
          <p:cNvSpPr>
            <a:spLocks noGrp="1"/>
          </p:cNvSpPr>
          <p:nvPr>
            <p:ph type="dt" sz="half" idx="4294967295"/>
          </p:nvPr>
        </p:nvSpPr>
        <p:spPr>
          <a:xfrm>
            <a:off x="10350500" y="6445250"/>
            <a:ext cx="1841500" cy="365125"/>
          </a:xfrm>
        </p:spPr>
        <p:txBody>
          <a:bodyPr anchor="ctr">
            <a:normAutofit/>
          </a:bodyPr>
          <a:lstStyle/>
          <a:p>
            <a:pPr>
              <a:spcAft>
                <a:spcPts val="600"/>
              </a:spcAft>
            </a:pPr>
            <a:fld id="{B20F022F-161E-41B9-A1BC-CC85E43B1AF4}" type="datetime1">
              <a:rPr lang="en-US" smtClean="0"/>
              <a:pPr>
                <a:spcAft>
                  <a:spcPts val="600"/>
                </a:spcAft>
              </a:pPr>
              <a:t>11/6/2025</a:t>
            </a:fld>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202137355"/>
              </p:ext>
            </p:extLst>
          </p:nvPr>
        </p:nvGraphicFramePr>
        <p:xfrm>
          <a:off x="6269862" y="2743200"/>
          <a:ext cx="5559426" cy="3446922"/>
        </p:xfrm>
        <a:graphic>
          <a:graphicData uri="http://schemas.openxmlformats.org/drawingml/2006/table">
            <a:tbl>
              <a:tblPr>
                <a:tableStyleId>{69C7853C-536D-4A76-A0AE-DD22124D55A5}</a:tableStyleId>
              </a:tblPr>
              <a:tblGrid>
                <a:gridCol w="1853142">
                  <a:extLst>
                    <a:ext uri="{9D8B030D-6E8A-4147-A177-3AD203B41FA5}">
                      <a16:colId xmlns:a16="http://schemas.microsoft.com/office/drawing/2014/main" val="20000"/>
                    </a:ext>
                  </a:extLst>
                </a:gridCol>
                <a:gridCol w="1853142">
                  <a:extLst>
                    <a:ext uri="{9D8B030D-6E8A-4147-A177-3AD203B41FA5}">
                      <a16:colId xmlns:a16="http://schemas.microsoft.com/office/drawing/2014/main" val="20001"/>
                    </a:ext>
                  </a:extLst>
                </a:gridCol>
                <a:gridCol w="1853142">
                  <a:extLst>
                    <a:ext uri="{9D8B030D-6E8A-4147-A177-3AD203B41FA5}">
                      <a16:colId xmlns:a16="http://schemas.microsoft.com/office/drawing/2014/main" val="20002"/>
                    </a:ext>
                  </a:extLst>
                </a:gridCol>
              </a:tblGrid>
              <a:tr h="587113">
                <a:tc>
                  <a:txBody>
                    <a:bodyPr/>
                    <a:lstStyle/>
                    <a:p>
                      <a:pPr rtl="0"/>
                      <a:r>
                        <a:rPr lang="en-IN" sz="1100" dirty="0">
                          <a:effectLst/>
                        </a:rPr>
                        <a:t>Impact Area</a:t>
                      </a:r>
                      <a:endParaRPr lang="en-IN" sz="1100" dirty="0">
                        <a:solidFill>
                          <a:srgbClr val="1B1C1D"/>
                        </a:solidFill>
                        <a:effectLst/>
                        <a:latin typeface="Google Sans Text"/>
                      </a:endParaRPr>
                    </a:p>
                  </a:txBody>
                  <a:tcPr marL="56817" marR="56817" marT="37878" marB="37878" anchor="ctr"/>
                </a:tc>
                <a:tc>
                  <a:txBody>
                    <a:bodyPr/>
                    <a:lstStyle/>
                    <a:p>
                      <a:pPr rtl="0"/>
                      <a:r>
                        <a:rPr lang="en-IN" sz="1100" dirty="0">
                          <a:effectLst/>
                        </a:rPr>
                        <a:t>Target Metric</a:t>
                      </a:r>
                      <a:endParaRPr lang="en-IN" sz="1100" dirty="0">
                        <a:solidFill>
                          <a:srgbClr val="1B1C1D"/>
                        </a:solidFill>
                        <a:effectLst/>
                        <a:latin typeface="Google Sans Text"/>
                      </a:endParaRPr>
                    </a:p>
                  </a:txBody>
                  <a:tcPr marL="56817" marR="56817" marT="37878" marB="37878" anchor="ctr"/>
                </a:tc>
                <a:tc>
                  <a:txBody>
                    <a:bodyPr/>
                    <a:lstStyle/>
                    <a:p>
                      <a:pPr rtl="0"/>
                      <a:r>
                        <a:rPr lang="en-IN" sz="1100">
                          <a:effectLst/>
                        </a:rPr>
                        <a:t>The Financial/Environmental Outcome</a:t>
                      </a:r>
                      <a:endParaRPr lang="en-IN" sz="1100">
                        <a:solidFill>
                          <a:srgbClr val="1B1C1D"/>
                        </a:solidFill>
                        <a:effectLst/>
                        <a:latin typeface="Google Sans Text"/>
                      </a:endParaRPr>
                    </a:p>
                  </a:txBody>
                  <a:tcPr marL="56817" marR="56817" marT="37878" marB="37878" anchor="ctr"/>
                </a:tc>
                <a:extLst>
                  <a:ext uri="{0D108BD9-81ED-4DB2-BD59-A6C34878D82A}">
                    <a16:rowId xmlns:a16="http://schemas.microsoft.com/office/drawing/2014/main" val="10000"/>
                  </a:ext>
                </a:extLst>
              </a:tr>
              <a:tr h="587113">
                <a:tc>
                  <a:txBody>
                    <a:bodyPr/>
                    <a:lstStyle/>
                    <a:p>
                      <a:pPr rtl="0"/>
                      <a:r>
                        <a:rPr lang="en-IN" sz="1100">
                          <a:effectLst/>
                        </a:rPr>
                        <a:t>Efficiency</a:t>
                      </a:r>
                      <a:endParaRPr lang="en-IN" sz="1100">
                        <a:solidFill>
                          <a:srgbClr val="1B1C1D"/>
                        </a:solidFill>
                        <a:effectLst/>
                        <a:latin typeface="Google Sans Text"/>
                      </a:endParaRPr>
                    </a:p>
                  </a:txBody>
                  <a:tcPr marL="56817" marR="56817" marT="37878" marB="37878" anchor="ctr"/>
                </a:tc>
                <a:tc>
                  <a:txBody>
                    <a:bodyPr/>
                    <a:lstStyle/>
                    <a:p>
                      <a:pPr rtl="0"/>
                      <a:r>
                        <a:rPr lang="en-IN" sz="1100">
                          <a:effectLst/>
                        </a:rPr>
                        <a:t>40% faster commute times</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Recovering up to 70 hours of productive time per commuter annually.</a:t>
                      </a:r>
                      <a:endParaRPr lang="en-US" sz="1100">
                        <a:solidFill>
                          <a:srgbClr val="1B1C1D"/>
                        </a:solidFill>
                        <a:effectLst/>
                        <a:latin typeface="Google Sans Text"/>
                      </a:endParaRPr>
                    </a:p>
                  </a:txBody>
                  <a:tcPr marL="56817" marR="56817" marT="37878" marB="37878" anchor="ctr"/>
                </a:tc>
                <a:extLst>
                  <a:ext uri="{0D108BD9-81ED-4DB2-BD59-A6C34878D82A}">
                    <a16:rowId xmlns:a16="http://schemas.microsoft.com/office/drawing/2014/main" val="10001"/>
                  </a:ext>
                </a:extLst>
              </a:tr>
              <a:tr h="757565">
                <a:tc>
                  <a:txBody>
                    <a:bodyPr/>
                    <a:lstStyle/>
                    <a:p>
                      <a:pPr rtl="0"/>
                      <a:r>
                        <a:rPr lang="en-IN" sz="1100" dirty="0">
                          <a:effectLst/>
                        </a:rPr>
                        <a:t>Sustainability</a:t>
                      </a:r>
                      <a:endParaRPr lang="en-IN" sz="1100" dirty="0">
                        <a:solidFill>
                          <a:srgbClr val="1B1C1D"/>
                        </a:solidFill>
                        <a:effectLst/>
                        <a:latin typeface="Google Sans Text"/>
                      </a:endParaRPr>
                    </a:p>
                  </a:txBody>
                  <a:tcPr marL="56817" marR="56817" marT="37878" marB="37878" anchor="ctr"/>
                </a:tc>
                <a:tc>
                  <a:txBody>
                    <a:bodyPr/>
                    <a:lstStyle/>
                    <a:p>
                      <a:pPr rtl="0"/>
                      <a:r>
                        <a:rPr lang="en-US" sz="1100">
                          <a:effectLst/>
                        </a:rPr>
                        <a:t>25% CO₂ reduction per user annually</a:t>
                      </a:r>
                      <a:endParaRPr lang="en-US" sz="1100">
                        <a:solidFill>
                          <a:srgbClr val="1B1C1D"/>
                        </a:solidFill>
                        <a:effectLst/>
                        <a:latin typeface="Google Sans Text"/>
                      </a:endParaRPr>
                    </a:p>
                  </a:txBody>
                  <a:tcPr marL="56817" marR="56817" marT="37878" marB="37878" anchor="ctr"/>
                </a:tc>
                <a:tc>
                  <a:txBody>
                    <a:bodyPr/>
                    <a:lstStyle/>
                    <a:p>
                      <a:pPr rtl="0"/>
                      <a:r>
                        <a:rPr lang="en-US" sz="1100">
                          <a:effectLst/>
                        </a:rPr>
                        <a:t>Smart traffic solutions can globally cut up to 923 MMT of CO₂ by 2030—we lead this charge in India.</a:t>
                      </a:r>
                      <a:endParaRPr lang="en-US" sz="1100">
                        <a:solidFill>
                          <a:srgbClr val="1B1C1D"/>
                        </a:solidFill>
                        <a:effectLst/>
                        <a:latin typeface="Google Sans Text"/>
                      </a:endParaRPr>
                    </a:p>
                  </a:txBody>
                  <a:tcPr marL="56817" marR="56817" marT="37878" marB="37878" anchor="ctr"/>
                </a:tc>
                <a:extLst>
                  <a:ext uri="{0D108BD9-81ED-4DB2-BD59-A6C34878D82A}">
                    <a16:rowId xmlns:a16="http://schemas.microsoft.com/office/drawing/2014/main" val="10002"/>
                  </a:ext>
                </a:extLst>
              </a:tr>
              <a:tr h="928018">
                <a:tc>
                  <a:txBody>
                    <a:bodyPr/>
                    <a:lstStyle/>
                    <a:p>
                      <a:pPr rtl="0"/>
                      <a:r>
                        <a:rPr lang="en-IN" sz="1100">
                          <a:effectLst/>
                        </a:rPr>
                        <a:t>Profitability (B2B)</a:t>
                      </a:r>
                      <a:endParaRPr lang="en-IN" sz="1100">
                        <a:solidFill>
                          <a:srgbClr val="1B1C1D"/>
                        </a:solidFill>
                        <a:effectLst/>
                        <a:latin typeface="Google Sans Text"/>
                      </a:endParaRPr>
                    </a:p>
                  </a:txBody>
                  <a:tcPr marL="56817" marR="56817" marT="37878" marB="37878" anchor="ctr"/>
                </a:tc>
                <a:tc>
                  <a:txBody>
                    <a:bodyPr/>
                    <a:lstStyle/>
                    <a:p>
                      <a:pPr rtl="0"/>
                      <a:r>
                        <a:rPr lang="en-IN" sz="1100">
                          <a:effectLst/>
                        </a:rPr>
                        <a:t>₹100K+ savings for fleet partners</a:t>
                      </a:r>
                      <a:endParaRPr lang="en-IN" sz="1100">
                        <a:solidFill>
                          <a:srgbClr val="1B1C1D"/>
                        </a:solidFill>
                        <a:effectLst/>
                        <a:latin typeface="Google Sans Text"/>
                      </a:endParaRPr>
                    </a:p>
                  </a:txBody>
                  <a:tcPr marL="56817" marR="56817" marT="37878" marB="37878" anchor="ctr"/>
                </a:tc>
                <a:tc>
                  <a:txBody>
                    <a:bodyPr/>
                    <a:lstStyle/>
                    <a:p>
                      <a:pPr rtl="0"/>
                      <a:r>
                        <a:rPr lang="en-US" sz="1100">
                          <a:effectLst/>
                        </a:rPr>
                        <a:t>Direct cost reduction via optimized routes, lower fuel consumption, and minimized vehicle wear-and-tear.</a:t>
                      </a:r>
                      <a:endParaRPr lang="en-US" sz="1100">
                        <a:solidFill>
                          <a:srgbClr val="1B1C1D"/>
                        </a:solidFill>
                        <a:effectLst/>
                        <a:latin typeface="Google Sans Text"/>
                      </a:endParaRPr>
                    </a:p>
                  </a:txBody>
                  <a:tcPr marL="56817" marR="56817" marT="37878" marB="37878" anchor="ctr"/>
                </a:tc>
                <a:extLst>
                  <a:ext uri="{0D108BD9-81ED-4DB2-BD59-A6C34878D82A}">
                    <a16:rowId xmlns:a16="http://schemas.microsoft.com/office/drawing/2014/main" val="10003"/>
                  </a:ext>
                </a:extLst>
              </a:tr>
              <a:tr h="587113">
                <a:tc>
                  <a:txBody>
                    <a:bodyPr/>
                    <a:lstStyle/>
                    <a:p>
                      <a:pPr rtl="0"/>
                      <a:r>
                        <a:rPr lang="en-IN" sz="1100">
                          <a:effectLst/>
                        </a:rPr>
                        <a:t>Adoption</a:t>
                      </a:r>
                      <a:endParaRPr lang="en-IN" sz="1100">
                        <a:solidFill>
                          <a:srgbClr val="1B1C1D"/>
                        </a:solidFill>
                        <a:effectLst/>
                        <a:latin typeface="Google Sans Text"/>
                      </a:endParaRPr>
                    </a:p>
                  </a:txBody>
                  <a:tcPr marL="56817" marR="56817" marT="37878" marB="37878" anchor="ctr"/>
                </a:tc>
                <a:tc>
                  <a:txBody>
                    <a:bodyPr/>
                    <a:lstStyle/>
                    <a:p>
                      <a:pPr rtl="0"/>
                      <a:r>
                        <a:rPr lang="en-IN" sz="1100">
                          <a:effectLst/>
                        </a:rPr>
                        <a:t>2M+ Active Users</a:t>
                      </a:r>
                      <a:endParaRPr lang="en-IN" sz="1100">
                        <a:solidFill>
                          <a:srgbClr val="1B1C1D"/>
                        </a:solidFill>
                        <a:effectLst/>
                        <a:latin typeface="Google Sans Text"/>
                      </a:endParaRPr>
                    </a:p>
                  </a:txBody>
                  <a:tcPr marL="56817" marR="56817" marT="37878" marB="37878" anchor="ctr"/>
                </a:tc>
                <a:tc>
                  <a:txBody>
                    <a:bodyPr/>
                    <a:lstStyle/>
                    <a:p>
                      <a:pPr rtl="0"/>
                      <a:r>
                        <a:rPr lang="en-US" sz="1100" dirty="0">
                          <a:effectLst/>
                        </a:rPr>
                        <a:t>Creating the largest incentivized civic-data network in India.</a:t>
                      </a:r>
                      <a:endParaRPr lang="en-US" sz="1100" dirty="0">
                        <a:solidFill>
                          <a:srgbClr val="1B1C1D"/>
                        </a:solidFill>
                        <a:effectLst/>
                        <a:latin typeface="Google Sans Text"/>
                      </a:endParaRPr>
                    </a:p>
                  </a:txBody>
                  <a:tcPr marL="56817" marR="56817" marT="37878" marB="37878" anchor="ctr"/>
                </a:tc>
                <a:extLst>
                  <a:ext uri="{0D108BD9-81ED-4DB2-BD59-A6C34878D82A}">
                    <a16:rowId xmlns:a16="http://schemas.microsoft.com/office/drawing/2014/main" val="10004"/>
                  </a:ext>
                </a:extLst>
              </a:tr>
            </a:tbl>
          </a:graphicData>
        </a:graphic>
      </p:graphicFrame>
      <p:sp>
        <p:nvSpPr>
          <p:cNvPr id="14" name="TextBox 13"/>
          <p:cNvSpPr txBox="1"/>
          <p:nvPr/>
        </p:nvSpPr>
        <p:spPr>
          <a:xfrm>
            <a:off x="6172200" y="1267890"/>
            <a:ext cx="5638800" cy="646331"/>
          </a:xfrm>
          <a:prstGeom prst="rect">
            <a:avLst/>
          </a:prstGeom>
          <a:noFill/>
        </p:spPr>
        <p:txBody>
          <a:bodyPr wrap="square" rtlCol="0">
            <a:spAutoFit/>
          </a:bodyPr>
          <a:lstStyle/>
          <a:p>
            <a:r>
              <a:rPr lang="en-US" dirty="0"/>
              <a:t>PragatiDhara's Quantifiable Impact (Projected in 3 Years)</a:t>
            </a:r>
            <a:endParaRPr lang="en-IN" dirty="0"/>
          </a:p>
        </p:txBody>
      </p:sp>
      <p:sp>
        <p:nvSpPr>
          <p:cNvPr id="15" name="TextBox 14"/>
          <p:cNvSpPr txBox="1"/>
          <p:nvPr/>
        </p:nvSpPr>
        <p:spPr>
          <a:xfrm>
            <a:off x="6156960" y="1981200"/>
            <a:ext cx="5410200" cy="523220"/>
          </a:xfrm>
          <a:prstGeom prst="rect">
            <a:avLst/>
          </a:prstGeom>
          <a:noFill/>
        </p:spPr>
        <p:txBody>
          <a:bodyPr wrap="square" rtlCol="0">
            <a:spAutoFit/>
          </a:bodyPr>
          <a:lstStyle/>
          <a:p>
            <a:r>
              <a:rPr lang="en-US" sz="1400" dirty="0">
                <a:solidFill>
                  <a:srgbClr val="92D050"/>
                </a:solidFill>
              </a:rPr>
              <a:t>We don't just reduce traffic; we deliver measurable results that align with national environmental goals.</a:t>
            </a:r>
            <a:endParaRPr lang="en-IN" sz="1400" dirty="0">
              <a:solidFill>
                <a:srgbClr val="92D050"/>
              </a:solidFill>
            </a:endParaRPr>
          </a:p>
        </p:txBody>
      </p:sp>
    </p:spTree>
    <p:extLst>
      <p:ext uri="{BB962C8B-B14F-4D97-AF65-F5344CB8AC3E}">
        <p14:creationId xmlns:p14="http://schemas.microsoft.com/office/powerpoint/2010/main" val="2275176210"/>
      </p:ext>
    </p:extLst>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DDCC98D-8A5B-4177-9C60-D4A9C8723F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9D41049-A82A-4B5B-8ABC-9F045EF9F078}">
  <ds:schemaRefs>
    <ds:schemaRef ds:uri="http://schemas.microsoft.com/sharepoint/v3/contenttype/forms"/>
  </ds:schemaRefs>
</ds:datastoreItem>
</file>

<file path=customXml/itemProps3.xml><?xml version="1.0" encoding="utf-8"?>
<ds:datastoreItem xmlns:ds="http://schemas.openxmlformats.org/officeDocument/2006/customXml" ds:itemID="{0070BEB4-FB24-4E84-B3BB-971EAA4E97D2}">
  <ds:schemaRefs>
    <ds:schemaRef ds:uri="http://schemas.microsoft.com/office/2006/metadata/properties"/>
    <ds:schemaRef ds:uri="230e9df3-be65-4c73-a93b-d1236ebd677e"/>
    <ds:schemaRef ds:uri="http://schemas.microsoft.com/office/infopath/2007/PartnerControls"/>
    <ds:schemaRef ds:uri="http://schemas.microsoft.com/office/2006/documentManagement/types"/>
    <ds:schemaRef ds:uri="http://purl.org/dc/terms/"/>
    <ds:schemaRef ds:uri="http://purl.org/dc/elements/1.1/"/>
    <ds:schemaRef ds:uri="16c05727-aa75-4e4a-9b5f-8a80a1165891"/>
    <ds:schemaRef ds:uri="71af3243-3dd4-4a8d-8c0d-dd76da1f02a5"/>
    <ds:schemaRef ds:uri="http://schemas.microsoft.com/sharepoint/v3"/>
    <ds:schemaRef ds:uri="http://schemas.openxmlformats.org/package/2006/metadata/core-properties"/>
    <ds:schemaRef ds:uri="http://www.w3.org/XML/1998/namespace"/>
    <ds:schemaRef ds:uri="http://purl.org/dc/dcmitype/"/>
  </ds:schemaRefs>
</ds:datastoreItem>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emplate>Ion</Template>
  <TotalTime>229</TotalTime>
  <Words>3512</Words>
  <Application>Microsoft Office PowerPoint</Application>
  <PresentationFormat>Widescreen</PresentationFormat>
  <Paragraphs>196</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Century Gothic</vt:lpstr>
      <vt:lpstr>Google Sans Text</vt:lpstr>
      <vt:lpstr>Wingdings 3</vt:lpstr>
      <vt:lpstr>Ion</vt:lpstr>
      <vt:lpstr>PragatiDhara App Pitch Deck</vt:lpstr>
      <vt:lpstr>Vision &amp; Mission</vt:lpstr>
      <vt:lpstr>Transforming Urban Mobility in India</vt:lpstr>
      <vt:lpstr>Solution Architecture and Design</vt:lpstr>
      <vt:lpstr>CrowdSourced Intelligence Meets Scalable AI</vt:lpstr>
      <vt:lpstr>High Level Solution Design</vt:lpstr>
      <vt:lpstr>AI Prediction and Smart Decision Engine flow</vt:lpstr>
      <vt:lpstr>Detailed Solution Sketch</vt:lpstr>
      <vt:lpstr>Sustainable AI Implementation</vt:lpstr>
      <vt:lpstr>Eco-Friendly Routing and Emission Reduction</vt:lpstr>
      <vt:lpstr>Innovation and Differentiation</vt:lpstr>
      <vt:lpstr>Gamified Engagement &amp; Hyperlocal Intelligence</vt:lpstr>
      <vt:lpstr>Implementation and Roadmap</vt:lpstr>
      <vt:lpstr>Phased Rollout Strategy</vt:lpstr>
      <vt:lpstr>Market Validation and Impact Potential</vt:lpstr>
      <vt:lpstr>Addressable Market and Growth Forecast</vt:lpstr>
      <vt:lpstr>Addressable Market and Growth Forecast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PragatiDhara App Pitch Deck</dc:title>
  <cp:lastModifiedBy>Ritika Mathur</cp:lastModifiedBy>
  <cp:revision>19</cp:revision>
  <dcterms:created xsi:type="dcterms:W3CDTF">2025-08-04T19:19:33Z</dcterms:created>
  <dcterms:modified xsi:type="dcterms:W3CDTF">2025-11-06T08:38:03Z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